
<file path=[Content_Types].xml><?xml version="1.0" encoding="utf-8"?>
<Types xmlns="http://schemas.openxmlformats.org/package/2006/content-types">
  <Default ContentType="application/x-fontdata" Extension="fntdata"/>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x="18288000" cy="10287000"/>
  <p:notesSz cx="6858000" cy="9144000"/>
  <p:embeddedFontLst>
    <p:embeddedFont>
      <p:font typeface="Archivo Black" charset="1" panose="020B0A03020202020B04"/>
      <p:regular r:id="rId21"/>
    </p:embeddedFont>
    <p:embeddedFont>
      <p:font typeface="HK Grotesk Bold" charset="1" panose="00000800000000000000"/>
      <p:regular r:id="rId22"/>
    </p:embeddedFont>
    <p:embeddedFont>
      <p:font typeface="HK Grotesk" charset="1" panose="00000500000000000000"/>
      <p:regular r:id="rId23"/>
    </p:embeddedFont>
    <p:embeddedFont>
      <p:font typeface="Nunito" charset="1" panose="00000000000000000000"/>
      <p:regular r:id="rId24"/>
    </p:embeddedFont>
    <p:embeddedFont>
      <p:font typeface="Nunito Bold" charset="1" panose="00000000000000000000"/>
      <p:regular r:id="rId25"/>
    </p:embeddedFont>
    <p:embeddedFont>
      <p:font typeface="Open Sans" charset="1" panose="020B0606030504020204"/>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25" Target="fonts/font25.fntdata" Type="http://schemas.openxmlformats.org/officeDocument/2006/relationships/font"/><Relationship Id="rId26" Target="fonts/font26.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pn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jpeg" Type="http://schemas.openxmlformats.org/officeDocument/2006/relationships/image"/><Relationship Id="rId3" Target="../media/VAG2Yvfi2XQ.mp4" Type="http://schemas.openxmlformats.org/officeDocument/2006/relationships/video"/><Relationship Id="rId4" Target="../media/VAG2Yvfi2XQ.mp4" Type="http://schemas.microsoft.com/office/2007/relationships/media"/></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png" Type="http://schemas.openxmlformats.org/officeDocument/2006/relationships/image"/><Relationship Id="rId4" Target="../media/image1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2.png" Type="http://schemas.openxmlformats.org/officeDocument/2006/relationships/image"/><Relationship Id="rId3" Target="../media/image13.png" Type="http://schemas.openxmlformats.org/officeDocument/2006/relationships/image"/><Relationship Id="rId4" Target="../media/image1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5.png" Type="http://schemas.openxmlformats.org/officeDocument/2006/relationships/image"/><Relationship Id="rId3" Target="../media/image16.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7.jpe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png" Type="http://schemas.openxmlformats.org/officeDocument/2006/relationships/image"/><Relationship Id="rId4" Target="../media/image21.png" Type="http://schemas.openxmlformats.org/officeDocument/2006/relationships/image"/><Relationship Id="rId5" Target="../media/image2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000000">
                <a:alpha val="100000"/>
              </a:srgbClr>
            </a:gs>
            <a:gs pos="50000">
              <a:srgbClr val="082D2F">
                <a:alpha val="100000"/>
              </a:srgbClr>
            </a:gs>
            <a:gs pos="100000">
              <a:srgbClr val="28949C">
                <a:alpha val="100000"/>
              </a:srgbClr>
            </a:gs>
          </a:gsLst>
          <a:path path="circle">
            <a:fillToRect l="50000" r="50000" t="50000" b="50000"/>
          </a:path>
        </a:gradFill>
      </p:bgPr>
    </p:bg>
    <p:spTree>
      <p:nvGrpSpPr>
        <p:cNvPr id="1" name=""/>
        <p:cNvGrpSpPr/>
        <p:nvPr/>
      </p:nvGrpSpPr>
      <p:grpSpPr>
        <a:xfrm>
          <a:off x="0" y="0"/>
          <a:ext cx="0" cy="0"/>
          <a:chOff x="0" y="0"/>
          <a:chExt cx="0" cy="0"/>
        </a:xfrm>
      </p:grpSpPr>
      <p:grpSp>
        <p:nvGrpSpPr>
          <p:cNvPr name="Group 2" id="2"/>
          <p:cNvGrpSpPr/>
          <p:nvPr/>
        </p:nvGrpSpPr>
        <p:grpSpPr>
          <a:xfrm rot="-10800000">
            <a:off x="13973389" y="7753396"/>
            <a:ext cx="2711833" cy="197291"/>
            <a:chOff x="0" y="0"/>
            <a:chExt cx="952142" cy="69270"/>
          </a:xfrm>
        </p:grpSpPr>
        <p:sp>
          <p:nvSpPr>
            <p:cNvPr name="Freeform 3" id="3"/>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4" id="4"/>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5" id="5"/>
          <p:cNvGrpSpPr/>
          <p:nvPr/>
        </p:nvGrpSpPr>
        <p:grpSpPr>
          <a:xfrm rot="-10800000">
            <a:off x="13012827" y="7298886"/>
            <a:ext cx="2711833" cy="197291"/>
            <a:chOff x="0" y="0"/>
            <a:chExt cx="952142" cy="69270"/>
          </a:xfrm>
        </p:grpSpPr>
        <p:sp>
          <p:nvSpPr>
            <p:cNvPr name="Freeform 6" id="6"/>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7" id="7"/>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8" id="8"/>
          <p:cNvGrpSpPr/>
          <p:nvPr/>
        </p:nvGrpSpPr>
        <p:grpSpPr>
          <a:xfrm rot="0">
            <a:off x="1425141" y="2792051"/>
            <a:ext cx="2669433" cy="194207"/>
            <a:chOff x="0" y="0"/>
            <a:chExt cx="952142" cy="69270"/>
          </a:xfrm>
        </p:grpSpPr>
        <p:sp>
          <p:nvSpPr>
            <p:cNvPr name="Freeform 9" id="9"/>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0" id="10"/>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grpSp>
        <p:nvGrpSpPr>
          <p:cNvPr name="Group 11" id="11"/>
          <p:cNvGrpSpPr/>
          <p:nvPr/>
        </p:nvGrpSpPr>
        <p:grpSpPr>
          <a:xfrm rot="0">
            <a:off x="2370684" y="3239455"/>
            <a:ext cx="2669433" cy="194207"/>
            <a:chOff x="0" y="0"/>
            <a:chExt cx="952142" cy="69270"/>
          </a:xfrm>
        </p:grpSpPr>
        <p:sp>
          <p:nvSpPr>
            <p:cNvPr name="Freeform 12" id="12"/>
            <p:cNvSpPr/>
            <p:nvPr/>
          </p:nvSpPr>
          <p:spPr>
            <a:xfrm flipH="false" flipV="false" rot="0">
              <a:off x="0" y="0"/>
              <a:ext cx="952142" cy="69270"/>
            </a:xfrm>
            <a:custGeom>
              <a:avLst/>
              <a:gdLst/>
              <a:ahLst/>
              <a:cxnLst/>
              <a:rect r="r" b="b" t="t" l="l"/>
              <a:pathLst>
                <a:path h="69270" w="952142">
                  <a:moveTo>
                    <a:pt x="34635" y="0"/>
                  </a:moveTo>
                  <a:lnTo>
                    <a:pt x="917507" y="0"/>
                  </a:lnTo>
                  <a:cubicBezTo>
                    <a:pt x="926692" y="0"/>
                    <a:pt x="935502" y="3649"/>
                    <a:pt x="941997" y="10144"/>
                  </a:cubicBezTo>
                  <a:cubicBezTo>
                    <a:pt x="948493" y="16640"/>
                    <a:pt x="952142" y="25449"/>
                    <a:pt x="952142" y="34635"/>
                  </a:cubicBezTo>
                  <a:lnTo>
                    <a:pt x="952142" y="34635"/>
                  </a:lnTo>
                  <a:cubicBezTo>
                    <a:pt x="952142" y="43821"/>
                    <a:pt x="948493" y="52631"/>
                    <a:pt x="941997" y="59126"/>
                  </a:cubicBezTo>
                  <a:cubicBezTo>
                    <a:pt x="935502" y="65621"/>
                    <a:pt x="926692" y="69270"/>
                    <a:pt x="917507" y="69270"/>
                  </a:cubicBezTo>
                  <a:lnTo>
                    <a:pt x="34635" y="69270"/>
                  </a:lnTo>
                  <a:cubicBezTo>
                    <a:pt x="25449" y="69270"/>
                    <a:pt x="16640" y="65621"/>
                    <a:pt x="10144" y="59126"/>
                  </a:cubicBezTo>
                  <a:cubicBezTo>
                    <a:pt x="3649" y="52631"/>
                    <a:pt x="0" y="43821"/>
                    <a:pt x="0" y="34635"/>
                  </a:cubicBezTo>
                  <a:lnTo>
                    <a:pt x="0" y="34635"/>
                  </a:lnTo>
                  <a:cubicBezTo>
                    <a:pt x="0" y="25449"/>
                    <a:pt x="3649" y="16640"/>
                    <a:pt x="10144" y="10144"/>
                  </a:cubicBezTo>
                  <a:cubicBezTo>
                    <a:pt x="16640" y="3649"/>
                    <a:pt x="25449" y="0"/>
                    <a:pt x="34635" y="0"/>
                  </a:cubicBezTo>
                  <a:close/>
                </a:path>
              </a:pathLst>
            </a:custGeom>
            <a:gradFill rotWithShape="true">
              <a:gsLst>
                <a:gs pos="0">
                  <a:srgbClr val="65CED1">
                    <a:alpha val="100000"/>
                  </a:srgbClr>
                </a:gs>
                <a:gs pos="100000">
                  <a:srgbClr val="000000">
                    <a:alpha val="100000"/>
                  </a:srgbClr>
                </a:gs>
              </a:gsLst>
              <a:lin ang="2700000"/>
            </a:gradFill>
          </p:spPr>
        </p:sp>
        <p:sp>
          <p:nvSpPr>
            <p:cNvPr name="TextBox 13" id="13"/>
            <p:cNvSpPr txBox="true"/>
            <p:nvPr/>
          </p:nvSpPr>
          <p:spPr>
            <a:xfrm>
              <a:off x="0" y="-57150"/>
              <a:ext cx="952142" cy="126420"/>
            </a:xfrm>
            <a:prstGeom prst="rect">
              <a:avLst/>
            </a:prstGeom>
          </p:spPr>
          <p:txBody>
            <a:bodyPr anchor="ctr" rtlCol="false" tIns="50800" lIns="50800" bIns="50800" rIns="50800"/>
            <a:lstStyle/>
            <a:p>
              <a:pPr algn="ctr">
                <a:lnSpc>
                  <a:spcPts val="3447"/>
                </a:lnSpc>
              </a:pPr>
            </a:p>
          </p:txBody>
        </p:sp>
      </p:grpSp>
      <p:sp>
        <p:nvSpPr>
          <p:cNvPr name="Freeform 14" id="14"/>
          <p:cNvSpPr/>
          <p:nvPr/>
        </p:nvSpPr>
        <p:spPr>
          <a:xfrm flipH="false" flipV="false" rot="0">
            <a:off x="15082446" y="28381"/>
            <a:ext cx="3205554" cy="1970628"/>
          </a:xfrm>
          <a:custGeom>
            <a:avLst/>
            <a:gdLst/>
            <a:ahLst/>
            <a:cxnLst/>
            <a:rect r="r" b="b" t="t" l="l"/>
            <a:pathLst>
              <a:path h="1970628" w="3205554">
                <a:moveTo>
                  <a:pt x="0" y="0"/>
                </a:moveTo>
                <a:lnTo>
                  <a:pt x="3205554" y="0"/>
                </a:lnTo>
                <a:lnTo>
                  <a:pt x="3205554" y="1970627"/>
                </a:lnTo>
                <a:lnTo>
                  <a:pt x="0" y="1970627"/>
                </a:lnTo>
                <a:lnTo>
                  <a:pt x="0" y="0"/>
                </a:lnTo>
                <a:close/>
              </a:path>
            </a:pathLst>
          </a:custGeom>
          <a:blipFill>
            <a:blip r:embed="rId2"/>
            <a:stretch>
              <a:fillRect l="0" t="0" r="0" b="0"/>
            </a:stretch>
          </a:blipFill>
        </p:spPr>
      </p:sp>
      <p:sp>
        <p:nvSpPr>
          <p:cNvPr name="TextBox 15" id="15"/>
          <p:cNvSpPr txBox="true"/>
          <p:nvPr/>
        </p:nvSpPr>
        <p:spPr>
          <a:xfrm rot="0">
            <a:off x="1751267" y="3771557"/>
            <a:ext cx="14785467" cy="1371943"/>
          </a:xfrm>
          <a:prstGeom prst="rect">
            <a:avLst/>
          </a:prstGeom>
        </p:spPr>
        <p:txBody>
          <a:bodyPr anchor="t" rtlCol="false" tIns="0" lIns="0" bIns="0" rIns="0">
            <a:spAutoFit/>
          </a:bodyPr>
          <a:lstStyle/>
          <a:p>
            <a:pPr algn="ctr" marL="0" indent="0" lvl="0">
              <a:lnSpc>
                <a:spcPts val="5186"/>
              </a:lnSpc>
              <a:spcBef>
                <a:spcPct val="0"/>
              </a:spcBef>
            </a:pPr>
            <a:r>
              <a:rPr lang="en-US" sz="5698">
                <a:solidFill>
                  <a:srgbClr val="FFFFFF"/>
                </a:solidFill>
                <a:latin typeface="Archivo Black"/>
                <a:ea typeface="Archivo Black"/>
                <a:cs typeface="Archivo Black"/>
                <a:sym typeface="Archivo Black"/>
              </a:rPr>
              <a:t>ALGORITMO DE ORDENAMIENTO</a:t>
            </a:r>
            <a:r>
              <a:rPr lang="en-US" sz="5698" strike="noStrike" u="none">
                <a:solidFill>
                  <a:srgbClr val="FFFFFF"/>
                </a:solidFill>
                <a:latin typeface="Archivo Black"/>
                <a:ea typeface="Archivo Black"/>
                <a:cs typeface="Archivo Black"/>
                <a:sym typeface="Archivo Black"/>
              </a:rPr>
              <a:t> CON ARBOLES</a:t>
            </a:r>
          </a:p>
        </p:txBody>
      </p:sp>
      <p:sp>
        <p:nvSpPr>
          <p:cNvPr name="Freeform 16" id="16"/>
          <p:cNvSpPr/>
          <p:nvPr/>
        </p:nvSpPr>
        <p:spPr>
          <a:xfrm flipH="true" flipV="true" rot="0">
            <a:off x="5856292" y="5452315"/>
            <a:ext cx="6575415" cy="1709608"/>
          </a:xfrm>
          <a:custGeom>
            <a:avLst/>
            <a:gdLst/>
            <a:ahLst/>
            <a:cxnLst/>
            <a:rect r="r" b="b" t="t" l="l"/>
            <a:pathLst>
              <a:path h="1709608" w="6575415">
                <a:moveTo>
                  <a:pt x="6575416" y="1709608"/>
                </a:moveTo>
                <a:lnTo>
                  <a:pt x="0" y="1709608"/>
                </a:lnTo>
                <a:lnTo>
                  <a:pt x="0" y="0"/>
                </a:lnTo>
                <a:lnTo>
                  <a:pt x="6575416" y="0"/>
                </a:lnTo>
                <a:lnTo>
                  <a:pt x="6575416" y="1709608"/>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17" id="17"/>
          <p:cNvSpPr txBox="true"/>
          <p:nvPr/>
        </p:nvSpPr>
        <p:spPr>
          <a:xfrm rot="0">
            <a:off x="2748861" y="5634019"/>
            <a:ext cx="12790278" cy="1203325"/>
          </a:xfrm>
          <a:prstGeom prst="rect">
            <a:avLst/>
          </a:prstGeom>
        </p:spPr>
        <p:txBody>
          <a:bodyPr anchor="t" rtlCol="false" tIns="0" lIns="0" bIns="0" rIns="0">
            <a:spAutoFit/>
          </a:bodyPr>
          <a:lstStyle/>
          <a:p>
            <a:pPr algn="ctr">
              <a:lnSpc>
                <a:spcPts val="9799"/>
              </a:lnSpc>
              <a:spcBef>
                <a:spcPct val="0"/>
              </a:spcBef>
            </a:pPr>
            <a:r>
              <a:rPr lang="en-US" sz="6999">
                <a:solidFill>
                  <a:srgbClr val="FFFFFF"/>
                </a:solidFill>
                <a:latin typeface="Archivo Black"/>
                <a:ea typeface="Archivo Black"/>
                <a:cs typeface="Archivo Black"/>
                <a:sym typeface="Archivo Black"/>
              </a:rPr>
              <a:t>TREE SORT</a:t>
            </a:r>
          </a:p>
        </p:txBody>
      </p:sp>
      <p:sp>
        <p:nvSpPr>
          <p:cNvPr name="TextBox 18" id="18"/>
          <p:cNvSpPr txBox="true"/>
          <p:nvPr/>
        </p:nvSpPr>
        <p:spPr>
          <a:xfrm rot="0">
            <a:off x="1751267" y="7931637"/>
            <a:ext cx="4006003" cy="1326663"/>
          </a:xfrm>
          <a:prstGeom prst="rect">
            <a:avLst/>
          </a:prstGeom>
        </p:spPr>
        <p:txBody>
          <a:bodyPr anchor="t" rtlCol="false" tIns="0" lIns="0" bIns="0" rIns="0">
            <a:spAutoFit/>
          </a:bodyPr>
          <a:lstStyle/>
          <a:p>
            <a:pPr algn="l">
              <a:lnSpc>
                <a:spcPts val="2649"/>
              </a:lnSpc>
            </a:pPr>
            <a:r>
              <a:rPr lang="en-US" b="true" sz="2038" spc="-10">
                <a:solidFill>
                  <a:srgbClr val="A6A6A6"/>
                </a:solidFill>
                <a:latin typeface="HK Grotesk Bold"/>
                <a:ea typeface="HK Grotesk Bold"/>
                <a:cs typeface="HK Grotesk Bold"/>
                <a:sym typeface="HK Grotesk Bold"/>
              </a:rPr>
              <a:t>I</a:t>
            </a:r>
            <a:r>
              <a:rPr lang="en-US" sz="2038" spc="-10">
                <a:solidFill>
                  <a:srgbClr val="A6A6A6"/>
                </a:solidFill>
                <a:latin typeface="HK Grotesk"/>
                <a:ea typeface="HK Grotesk"/>
                <a:cs typeface="HK Grotesk"/>
                <a:sym typeface="HK Grotesk"/>
              </a:rPr>
              <a:t>ntegrantes:</a:t>
            </a:r>
          </a:p>
          <a:p>
            <a:pPr algn="l" marL="440086" indent="-220043" lvl="1">
              <a:lnSpc>
                <a:spcPts val="2649"/>
              </a:lnSpc>
              <a:buFont typeface="Arial"/>
              <a:buChar char="•"/>
            </a:pPr>
            <a:r>
              <a:rPr lang="en-US" sz="2038" spc="-10">
                <a:solidFill>
                  <a:srgbClr val="A6A6A6"/>
                </a:solidFill>
                <a:latin typeface="HK Grotesk"/>
                <a:ea typeface="HK Grotesk"/>
                <a:cs typeface="HK Grotesk"/>
                <a:sym typeface="HK Grotesk"/>
              </a:rPr>
              <a:t>Euan Chim Jenny Beatriz</a:t>
            </a:r>
          </a:p>
          <a:p>
            <a:pPr algn="l" marL="440086" indent="-220043" lvl="1">
              <a:lnSpc>
                <a:spcPts val="2649"/>
              </a:lnSpc>
              <a:buFont typeface="Arial"/>
              <a:buChar char="•"/>
            </a:pPr>
            <a:r>
              <a:rPr lang="en-US" sz="2038" spc="-10">
                <a:solidFill>
                  <a:srgbClr val="A6A6A6"/>
                </a:solidFill>
                <a:latin typeface="Nunito"/>
                <a:ea typeface="Nunito"/>
                <a:cs typeface="Nunito"/>
                <a:sym typeface="Nunito"/>
              </a:rPr>
              <a:t>Solís Poot María Flor Azucena</a:t>
            </a:r>
          </a:p>
          <a:p>
            <a:pPr algn="l" marL="440086" indent="-220043" lvl="1">
              <a:lnSpc>
                <a:spcPts val="2649"/>
              </a:lnSpc>
              <a:spcBef>
                <a:spcPct val="0"/>
              </a:spcBef>
              <a:buFont typeface="Arial"/>
              <a:buChar char="•"/>
            </a:pPr>
            <a:r>
              <a:rPr lang="en-US" sz="2038" spc="-10">
                <a:solidFill>
                  <a:srgbClr val="A6A6A6"/>
                </a:solidFill>
                <a:latin typeface="Nunito"/>
                <a:ea typeface="Nunito"/>
                <a:cs typeface="Nunito"/>
                <a:sym typeface="Nunito"/>
              </a:rPr>
              <a:t>Xool López Sandy Linzay</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141930"/>
            <a:ext cx="18277775" cy="2145070"/>
            <a:chOff x="0" y="0"/>
            <a:chExt cx="4813900" cy="564957"/>
          </a:xfrm>
        </p:grpSpPr>
        <p:sp>
          <p:nvSpPr>
            <p:cNvPr name="Freeform 3" id="3"/>
            <p:cNvSpPr/>
            <p:nvPr/>
          </p:nvSpPr>
          <p:spPr>
            <a:xfrm flipH="false" flipV="false" rot="0">
              <a:off x="0" y="0"/>
              <a:ext cx="4813900" cy="564957"/>
            </a:xfrm>
            <a:custGeom>
              <a:avLst/>
              <a:gdLst/>
              <a:ahLst/>
              <a:cxnLst/>
              <a:rect r="r" b="b" t="t" l="l"/>
              <a:pathLst>
                <a:path h="564957" w="4813900">
                  <a:moveTo>
                    <a:pt x="0" y="0"/>
                  </a:moveTo>
                  <a:lnTo>
                    <a:pt x="4813900" y="0"/>
                  </a:lnTo>
                  <a:lnTo>
                    <a:pt x="48139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622107"/>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5" id="5"/>
          <p:cNvGrpSpPr/>
          <p:nvPr/>
        </p:nvGrpSpPr>
        <p:grpSpPr>
          <a:xfrm rot="1580238">
            <a:off x="13348406" y="2666066"/>
            <a:ext cx="1795929" cy="2192637"/>
            <a:chOff x="0" y="0"/>
            <a:chExt cx="473002" cy="577485"/>
          </a:xfrm>
        </p:grpSpPr>
        <p:sp>
          <p:nvSpPr>
            <p:cNvPr name="Freeform 6" id="6"/>
            <p:cNvSpPr/>
            <p:nvPr/>
          </p:nvSpPr>
          <p:spPr>
            <a:xfrm flipH="false" flipV="false" rot="0">
              <a:off x="0" y="0"/>
              <a:ext cx="473002" cy="577485"/>
            </a:xfrm>
            <a:custGeom>
              <a:avLst/>
              <a:gdLst/>
              <a:ahLst/>
              <a:cxnLst/>
              <a:rect r="r" b="b" t="t" l="l"/>
              <a:pathLst>
                <a:path h="577485" w="473002">
                  <a:moveTo>
                    <a:pt x="0" y="0"/>
                  </a:moveTo>
                  <a:lnTo>
                    <a:pt x="473002" y="0"/>
                  </a:lnTo>
                  <a:lnTo>
                    <a:pt x="473002" y="577485"/>
                  </a:lnTo>
                  <a:lnTo>
                    <a:pt x="0" y="577485"/>
                  </a:lnTo>
                  <a:close/>
                </a:path>
              </a:pathLst>
            </a:custGeom>
            <a:solidFill>
              <a:srgbClr val="000000">
                <a:alpha val="0"/>
              </a:srgbClr>
            </a:solidFill>
            <a:ln w="38100" cap="sq">
              <a:gradFill>
                <a:gsLst>
                  <a:gs pos="0">
                    <a:srgbClr val="65CED1">
                      <a:alpha val="100000"/>
                    </a:srgbClr>
                  </a:gs>
                  <a:gs pos="100000">
                    <a:srgbClr val="1F4E4F">
                      <a:alpha val="100000"/>
                    </a:srgbClr>
                  </a:gs>
                </a:gsLst>
                <a:lin ang="2700000"/>
              </a:gradFill>
              <a:prstDash val="solid"/>
              <a:miter/>
            </a:ln>
          </p:spPr>
        </p:sp>
        <p:sp>
          <p:nvSpPr>
            <p:cNvPr name="TextBox 7" id="7"/>
            <p:cNvSpPr txBox="true"/>
            <p:nvPr/>
          </p:nvSpPr>
          <p:spPr>
            <a:xfrm>
              <a:off x="0" y="-57150"/>
              <a:ext cx="473002" cy="634635"/>
            </a:xfrm>
            <a:prstGeom prst="rect">
              <a:avLst/>
            </a:prstGeom>
          </p:spPr>
          <p:txBody>
            <a:bodyPr anchor="ctr" rtlCol="false" tIns="50800" lIns="50800" bIns="50800" rIns="50800"/>
            <a:lstStyle/>
            <a:p>
              <a:pPr algn="ctr">
                <a:lnSpc>
                  <a:spcPts val="3447"/>
                </a:lnSpc>
              </a:pPr>
            </a:p>
          </p:txBody>
        </p:sp>
      </p:grpSp>
      <p:sp>
        <p:nvSpPr>
          <p:cNvPr name="Freeform 8" id="8"/>
          <p:cNvSpPr/>
          <p:nvPr/>
        </p:nvSpPr>
        <p:spPr>
          <a:xfrm flipH="true" flipV="false" rot="0">
            <a:off x="13319192" y="2958091"/>
            <a:ext cx="2047020" cy="2456425"/>
          </a:xfrm>
          <a:custGeom>
            <a:avLst/>
            <a:gdLst/>
            <a:ahLst/>
            <a:cxnLst/>
            <a:rect r="r" b="b" t="t" l="l"/>
            <a:pathLst>
              <a:path h="2456425" w="2047020">
                <a:moveTo>
                  <a:pt x="2047021" y="0"/>
                </a:moveTo>
                <a:lnTo>
                  <a:pt x="0" y="0"/>
                </a:lnTo>
                <a:lnTo>
                  <a:pt x="0" y="2456425"/>
                </a:lnTo>
                <a:lnTo>
                  <a:pt x="2047021" y="2456425"/>
                </a:lnTo>
                <a:lnTo>
                  <a:pt x="2047021" y="0"/>
                </a:lnTo>
                <a:close/>
              </a:path>
            </a:pathLst>
          </a:custGeom>
          <a:blipFill>
            <a:blip r:embed="rId2"/>
            <a:stretch>
              <a:fillRect l="0" t="0" r="0" b="0"/>
            </a:stretch>
          </a:blipFill>
        </p:spPr>
      </p:sp>
      <p:grpSp>
        <p:nvGrpSpPr>
          <p:cNvPr name="Group 9" id="9"/>
          <p:cNvGrpSpPr/>
          <p:nvPr/>
        </p:nvGrpSpPr>
        <p:grpSpPr>
          <a:xfrm rot="1580238">
            <a:off x="10493267" y="2381480"/>
            <a:ext cx="2209447" cy="2761809"/>
            <a:chOff x="0" y="0"/>
            <a:chExt cx="581912" cy="727390"/>
          </a:xfrm>
        </p:grpSpPr>
        <p:sp>
          <p:nvSpPr>
            <p:cNvPr name="Freeform 10" id="10"/>
            <p:cNvSpPr/>
            <p:nvPr/>
          </p:nvSpPr>
          <p:spPr>
            <a:xfrm flipH="false" flipV="false" rot="0">
              <a:off x="0" y="0"/>
              <a:ext cx="581912" cy="727390"/>
            </a:xfrm>
            <a:custGeom>
              <a:avLst/>
              <a:gdLst/>
              <a:ahLst/>
              <a:cxnLst/>
              <a:rect r="r" b="b" t="t" l="l"/>
              <a:pathLst>
                <a:path h="727390" w="581912">
                  <a:moveTo>
                    <a:pt x="0" y="0"/>
                  </a:moveTo>
                  <a:lnTo>
                    <a:pt x="581912" y="0"/>
                  </a:lnTo>
                  <a:lnTo>
                    <a:pt x="581912" y="727390"/>
                  </a:lnTo>
                  <a:lnTo>
                    <a:pt x="0" y="727390"/>
                  </a:lnTo>
                  <a:close/>
                </a:path>
              </a:pathLst>
            </a:custGeom>
            <a:solidFill>
              <a:srgbClr val="000000">
                <a:alpha val="0"/>
              </a:srgbClr>
            </a:solidFill>
            <a:ln w="38100" cap="sq">
              <a:gradFill>
                <a:gsLst>
                  <a:gs pos="0">
                    <a:srgbClr val="65CED1">
                      <a:alpha val="100000"/>
                    </a:srgbClr>
                  </a:gs>
                  <a:gs pos="100000">
                    <a:srgbClr val="1F4E4F">
                      <a:alpha val="100000"/>
                    </a:srgbClr>
                  </a:gs>
                </a:gsLst>
                <a:lin ang="2700000"/>
              </a:gradFill>
              <a:prstDash val="solid"/>
              <a:miter/>
            </a:ln>
          </p:spPr>
        </p:sp>
        <p:sp>
          <p:nvSpPr>
            <p:cNvPr name="TextBox 11" id="11"/>
            <p:cNvSpPr txBox="true"/>
            <p:nvPr/>
          </p:nvSpPr>
          <p:spPr>
            <a:xfrm>
              <a:off x="0" y="-57150"/>
              <a:ext cx="581912" cy="784540"/>
            </a:xfrm>
            <a:prstGeom prst="rect">
              <a:avLst/>
            </a:prstGeom>
          </p:spPr>
          <p:txBody>
            <a:bodyPr anchor="ctr" rtlCol="false" tIns="50800" lIns="50800" bIns="50800" rIns="50800"/>
            <a:lstStyle/>
            <a:p>
              <a:pPr algn="ctr">
                <a:lnSpc>
                  <a:spcPts val="3447"/>
                </a:lnSpc>
              </a:pPr>
            </a:p>
          </p:txBody>
        </p:sp>
      </p:grpSp>
      <p:sp>
        <p:nvSpPr>
          <p:cNvPr name="Freeform 12" id="12"/>
          <p:cNvSpPr/>
          <p:nvPr/>
        </p:nvSpPr>
        <p:spPr>
          <a:xfrm flipH="false" flipV="false" rot="0">
            <a:off x="10493267" y="2381480"/>
            <a:ext cx="2209447" cy="2761809"/>
          </a:xfrm>
          <a:custGeom>
            <a:avLst/>
            <a:gdLst/>
            <a:ahLst/>
            <a:cxnLst/>
            <a:rect r="r" b="b" t="t" l="l"/>
            <a:pathLst>
              <a:path h="2761809" w="2209447">
                <a:moveTo>
                  <a:pt x="0" y="0"/>
                </a:moveTo>
                <a:lnTo>
                  <a:pt x="2209447" y="0"/>
                </a:lnTo>
                <a:lnTo>
                  <a:pt x="2209447" y="2761809"/>
                </a:lnTo>
                <a:lnTo>
                  <a:pt x="0" y="2761809"/>
                </a:lnTo>
                <a:lnTo>
                  <a:pt x="0" y="0"/>
                </a:lnTo>
                <a:close/>
              </a:path>
            </a:pathLst>
          </a:custGeom>
          <a:blipFill>
            <a:blip r:embed="rId3"/>
            <a:stretch>
              <a:fillRect l="0" t="0" r="0" b="0"/>
            </a:stretch>
          </a:blipFill>
        </p:spPr>
      </p:sp>
      <p:sp>
        <p:nvSpPr>
          <p:cNvPr name="Freeform 13" id="13"/>
          <p:cNvSpPr/>
          <p:nvPr/>
        </p:nvSpPr>
        <p:spPr>
          <a:xfrm flipH="false" flipV="false" rot="0">
            <a:off x="9802602" y="5503224"/>
            <a:ext cx="6274437" cy="1882331"/>
          </a:xfrm>
          <a:custGeom>
            <a:avLst/>
            <a:gdLst/>
            <a:ahLst/>
            <a:cxnLst/>
            <a:rect r="r" b="b" t="t" l="l"/>
            <a:pathLst>
              <a:path h="1882331" w="6274437">
                <a:moveTo>
                  <a:pt x="0" y="0"/>
                </a:moveTo>
                <a:lnTo>
                  <a:pt x="6274437" y="0"/>
                </a:lnTo>
                <a:lnTo>
                  <a:pt x="6274437" y="1882332"/>
                </a:lnTo>
                <a:lnTo>
                  <a:pt x="0" y="1882332"/>
                </a:lnTo>
                <a:lnTo>
                  <a:pt x="0" y="0"/>
                </a:lnTo>
                <a:close/>
              </a:path>
            </a:pathLst>
          </a:custGeom>
          <a:blipFill>
            <a:blip r:embed="rId4"/>
            <a:stretch>
              <a:fillRect l="0" t="0" r="0" b="0"/>
            </a:stretch>
          </a:blipFill>
          <a:ln w="38100" cap="sq">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miter/>
          </a:ln>
        </p:spPr>
      </p:sp>
      <p:sp>
        <p:nvSpPr>
          <p:cNvPr name="TextBox 14" id="14"/>
          <p:cNvSpPr txBox="true"/>
          <p:nvPr/>
        </p:nvSpPr>
        <p:spPr>
          <a:xfrm rot="0">
            <a:off x="2007888" y="2768324"/>
            <a:ext cx="6815526" cy="3999230"/>
          </a:xfrm>
          <a:prstGeom prst="rect">
            <a:avLst/>
          </a:prstGeom>
        </p:spPr>
        <p:txBody>
          <a:bodyPr anchor="t" rtlCol="false" tIns="0" lIns="0" bIns="0" rIns="0">
            <a:spAutoFit/>
          </a:bodyPr>
          <a:lstStyle/>
          <a:p>
            <a:pPr algn="ctr">
              <a:lnSpc>
                <a:spcPts val="3220"/>
              </a:lnSpc>
              <a:spcBef>
                <a:spcPct val="0"/>
              </a:spcBef>
            </a:pPr>
            <a:r>
              <a:rPr lang="en-US" sz="2300" spc="138">
                <a:solidFill>
                  <a:srgbClr val="000000"/>
                </a:solidFill>
                <a:latin typeface="HK Grotesk"/>
                <a:ea typeface="HK Grotesk"/>
                <a:cs typeface="HK Grotesk"/>
                <a:sym typeface="HK Grotesk"/>
              </a:rPr>
              <a:t>El algoritmo del árbol de búsqueda binaria fue descubierto de forma independiente por varios investigadores, incluido P.F. Windley, Andrew Donald Booth, Andrew Colin, Thomas N. Hibbard. El algoritmo se atribuye a Conway Berners-Lee y David Wheeler, quienes lo usaron para almacenar datos etiquetados en cintas magnéticas en 1960. Uno de los algoritmos de árbol de búsqueda binaria más antiguos y populares es el de Hibbard.</a:t>
            </a:r>
          </a:p>
        </p:txBody>
      </p:sp>
      <p:sp>
        <p:nvSpPr>
          <p:cNvPr name="TextBox 15" id="15"/>
          <p:cNvSpPr txBox="true"/>
          <p:nvPr/>
        </p:nvSpPr>
        <p:spPr>
          <a:xfrm rot="0">
            <a:off x="1028700" y="1274883"/>
            <a:ext cx="8773902" cy="759822"/>
          </a:xfrm>
          <a:prstGeom prst="rect">
            <a:avLst/>
          </a:prstGeom>
        </p:spPr>
        <p:txBody>
          <a:bodyPr anchor="t" rtlCol="false" tIns="0" lIns="0" bIns="0" rIns="0">
            <a:spAutoFit/>
          </a:bodyPr>
          <a:lstStyle/>
          <a:p>
            <a:pPr algn="l" marL="1103718" indent="-551859" lvl="1">
              <a:lnSpc>
                <a:spcPts val="5776"/>
              </a:lnSpc>
              <a:buAutoNum type="arabicPeriod" startAt="1"/>
            </a:pPr>
            <a:r>
              <a:rPr lang="en-US" sz="5112">
                <a:solidFill>
                  <a:srgbClr val="000000"/>
                </a:solidFill>
                <a:latin typeface="Archivo Black"/>
                <a:ea typeface="Archivo Black"/>
                <a:cs typeface="Archivo Black"/>
                <a:sym typeface="Archivo Black"/>
              </a:rPr>
              <a:t>Origen y contexto: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141930"/>
            <a:ext cx="18277775" cy="2145070"/>
            <a:chOff x="0" y="0"/>
            <a:chExt cx="4813900" cy="564957"/>
          </a:xfrm>
        </p:grpSpPr>
        <p:sp>
          <p:nvSpPr>
            <p:cNvPr name="Freeform 3" id="3"/>
            <p:cNvSpPr/>
            <p:nvPr/>
          </p:nvSpPr>
          <p:spPr>
            <a:xfrm flipH="false" flipV="false" rot="0">
              <a:off x="0" y="0"/>
              <a:ext cx="4813900" cy="564957"/>
            </a:xfrm>
            <a:custGeom>
              <a:avLst/>
              <a:gdLst/>
              <a:ahLst/>
              <a:cxnLst/>
              <a:rect r="r" b="b" t="t" l="l"/>
              <a:pathLst>
                <a:path h="564957" w="4813900">
                  <a:moveTo>
                    <a:pt x="0" y="0"/>
                  </a:moveTo>
                  <a:lnTo>
                    <a:pt x="4813900" y="0"/>
                  </a:lnTo>
                  <a:lnTo>
                    <a:pt x="48139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62210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Freeform 5" id="5"/>
          <p:cNvSpPr/>
          <p:nvPr/>
        </p:nvSpPr>
        <p:spPr>
          <a:xfrm flipH="false" flipV="false" rot="0">
            <a:off x="8817590" y="2353405"/>
            <a:ext cx="10686086" cy="5161185"/>
          </a:xfrm>
          <a:custGeom>
            <a:avLst/>
            <a:gdLst/>
            <a:ahLst/>
            <a:cxnLst/>
            <a:rect r="r" b="b" t="t" l="l"/>
            <a:pathLst>
              <a:path h="5161185" w="10686086">
                <a:moveTo>
                  <a:pt x="0" y="0"/>
                </a:moveTo>
                <a:lnTo>
                  <a:pt x="10686086" y="0"/>
                </a:lnTo>
                <a:lnTo>
                  <a:pt x="10686086" y="5161185"/>
                </a:lnTo>
                <a:lnTo>
                  <a:pt x="0" y="5161185"/>
                </a:lnTo>
                <a:lnTo>
                  <a:pt x="0" y="0"/>
                </a:lnTo>
                <a:close/>
              </a:path>
            </a:pathLst>
          </a:custGeom>
          <a:blipFill>
            <a:blip r:embed="rId2"/>
            <a:stretch>
              <a:fillRect l="-6428" t="0" r="-6428" b="0"/>
            </a:stretch>
          </a:blipFill>
        </p:spPr>
      </p:sp>
      <p:sp>
        <p:nvSpPr>
          <p:cNvPr name="TextBox 6" id="6"/>
          <p:cNvSpPr txBox="true"/>
          <p:nvPr/>
        </p:nvSpPr>
        <p:spPr>
          <a:xfrm rot="0">
            <a:off x="1233346" y="2715260"/>
            <a:ext cx="8364611" cy="4799330"/>
          </a:xfrm>
          <a:prstGeom prst="rect">
            <a:avLst/>
          </a:prstGeom>
        </p:spPr>
        <p:txBody>
          <a:bodyPr anchor="t" rtlCol="false" tIns="0" lIns="0" bIns="0" rIns="0">
            <a:spAutoFit/>
          </a:bodyPr>
          <a:lstStyle/>
          <a:p>
            <a:pPr algn="ctr">
              <a:lnSpc>
                <a:spcPts val="3220"/>
              </a:lnSpc>
            </a:pPr>
          </a:p>
          <a:p>
            <a:pPr algn="ctr">
              <a:lnSpc>
                <a:spcPts val="3220"/>
              </a:lnSpc>
            </a:pPr>
            <a:r>
              <a:rPr lang="en-US" sz="2300" spc="138">
                <a:solidFill>
                  <a:srgbClr val="000000"/>
                </a:solidFill>
                <a:latin typeface="HK Grotesk"/>
                <a:ea typeface="HK Grotesk"/>
                <a:cs typeface="HK Grotesk"/>
                <a:sym typeface="HK Grotesk"/>
              </a:rPr>
              <a:t>Las complejidades temporales de un árbol de búsqueda binaria aumentan sin límites con la altura del árbol si los nodos se insertan en un orden arbitrario, por lo tanto se introdujeron árboles de búsqueda binaria auto-balance para atar la altura del árbol. Se introdujeron árboles de búsqueda binaria para limitar la altura del árbol, como árboles AVL, Treaps y árboles negros rojos.</a:t>
            </a:r>
          </a:p>
          <a:p>
            <a:pPr algn="ctr">
              <a:lnSpc>
                <a:spcPts val="3220"/>
              </a:lnSpc>
              <a:spcBef>
                <a:spcPct val="0"/>
              </a:spcBef>
            </a:pPr>
            <a:r>
              <a:rPr lang="en-US" sz="2300" spc="138">
                <a:solidFill>
                  <a:srgbClr val="000000"/>
                </a:solidFill>
                <a:latin typeface="HK Grotesk"/>
                <a:ea typeface="HK Grotesk"/>
                <a:cs typeface="HK Grotesk"/>
                <a:sym typeface="HK Grotesk"/>
              </a:rPr>
              <a:t>El árbol AVL fue inventado por Georgy Adelson-Velsky y Evgenii Landis en 1962 para la organización eficiente de la información. Fue el primer árbol de búsqueda binario autoequilibrado que se inventó.</a:t>
            </a:r>
          </a:p>
        </p:txBody>
      </p:sp>
      <p:grpSp>
        <p:nvGrpSpPr>
          <p:cNvPr name="Group 7" id="7"/>
          <p:cNvGrpSpPr/>
          <p:nvPr/>
        </p:nvGrpSpPr>
        <p:grpSpPr>
          <a:xfrm rot="0">
            <a:off x="10331421" y="2658572"/>
            <a:ext cx="6927879" cy="4550852"/>
            <a:chOff x="0" y="0"/>
            <a:chExt cx="1824627" cy="1198578"/>
          </a:xfrm>
        </p:grpSpPr>
        <p:sp>
          <p:nvSpPr>
            <p:cNvPr name="Freeform 8" id="8"/>
            <p:cNvSpPr/>
            <p:nvPr/>
          </p:nvSpPr>
          <p:spPr>
            <a:xfrm flipH="false" flipV="false" rot="0">
              <a:off x="0" y="0"/>
              <a:ext cx="1824627" cy="1198578"/>
            </a:xfrm>
            <a:custGeom>
              <a:avLst/>
              <a:gdLst/>
              <a:ahLst/>
              <a:cxnLst/>
              <a:rect r="r" b="b" t="t" l="l"/>
              <a:pathLst>
                <a:path h="1198578" w="1824627">
                  <a:moveTo>
                    <a:pt x="0" y="0"/>
                  </a:moveTo>
                  <a:lnTo>
                    <a:pt x="1824627" y="0"/>
                  </a:lnTo>
                  <a:lnTo>
                    <a:pt x="1824627" y="1198578"/>
                  </a:lnTo>
                  <a:lnTo>
                    <a:pt x="0" y="1198578"/>
                  </a:lnTo>
                  <a:close/>
                </a:path>
              </a:pathLst>
            </a:custGeom>
            <a:gradFill rotWithShape="true">
              <a:gsLst>
                <a:gs pos="0">
                  <a:srgbClr val="65CED1">
                    <a:alpha val="37000"/>
                  </a:srgbClr>
                </a:gs>
                <a:gs pos="100000">
                  <a:srgbClr val="1F4E4F">
                    <a:alpha val="37000"/>
                  </a:srgbClr>
                </a:gs>
              </a:gsLst>
              <a:lin ang="2700000"/>
            </a:gradFill>
            <a:ln cap="sq">
              <a:noFill/>
              <a:prstDash val="solid"/>
              <a:miter/>
            </a:ln>
          </p:spPr>
        </p:sp>
        <p:sp>
          <p:nvSpPr>
            <p:cNvPr name="TextBox 9" id="9"/>
            <p:cNvSpPr txBox="true"/>
            <p:nvPr/>
          </p:nvSpPr>
          <p:spPr>
            <a:xfrm>
              <a:off x="0" y="-57150"/>
              <a:ext cx="1824627" cy="1255728"/>
            </a:xfrm>
            <a:prstGeom prst="rect">
              <a:avLst/>
            </a:prstGeom>
          </p:spPr>
          <p:txBody>
            <a:bodyPr anchor="ctr" rtlCol="false" tIns="50800" lIns="50800" bIns="50800" rIns="50800"/>
            <a:lstStyle/>
            <a:p>
              <a:pPr algn="ctr">
                <a:lnSpc>
                  <a:spcPts val="3447"/>
                </a:lnSpc>
              </a:pPr>
            </a:p>
          </p:txBody>
        </p:sp>
      </p:grpSp>
      <p:sp>
        <p:nvSpPr>
          <p:cNvPr name="TextBox 10" id="10"/>
          <p:cNvSpPr txBox="true"/>
          <p:nvPr/>
        </p:nvSpPr>
        <p:spPr>
          <a:xfrm rot="0">
            <a:off x="1028700" y="1579295"/>
            <a:ext cx="8773902" cy="759822"/>
          </a:xfrm>
          <a:prstGeom prst="rect">
            <a:avLst/>
          </a:prstGeom>
        </p:spPr>
        <p:txBody>
          <a:bodyPr anchor="t" rtlCol="false" tIns="0" lIns="0" bIns="0" rIns="0">
            <a:spAutoFit/>
          </a:bodyPr>
          <a:lstStyle/>
          <a:p>
            <a:pPr algn="ctr">
              <a:lnSpc>
                <a:spcPts val="5776"/>
              </a:lnSpc>
            </a:pPr>
            <a:r>
              <a:rPr lang="en-US" sz="5112">
                <a:solidFill>
                  <a:srgbClr val="000000"/>
                </a:solidFill>
                <a:latin typeface="Archivo Black"/>
                <a:ea typeface="Archivo Black"/>
                <a:cs typeface="Archivo Black"/>
                <a:sym typeface="Archivo Black"/>
              </a:rPr>
              <a:t>Origen y contexto: </a:t>
            </a:r>
          </a:p>
        </p:txBody>
      </p:sp>
      <p:sp>
        <p:nvSpPr>
          <p:cNvPr name="AutoShape 11" id="11"/>
          <p:cNvSpPr/>
          <p:nvPr/>
        </p:nvSpPr>
        <p:spPr>
          <a:xfrm>
            <a:off x="1748264" y="2339117"/>
            <a:ext cx="7334774" cy="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141930"/>
            <a:ext cx="18277775" cy="2145070"/>
            <a:chOff x="0" y="0"/>
            <a:chExt cx="4813900" cy="564957"/>
          </a:xfrm>
        </p:grpSpPr>
        <p:sp>
          <p:nvSpPr>
            <p:cNvPr name="Freeform 3" id="3"/>
            <p:cNvSpPr/>
            <p:nvPr/>
          </p:nvSpPr>
          <p:spPr>
            <a:xfrm flipH="false" flipV="false" rot="0">
              <a:off x="0" y="0"/>
              <a:ext cx="4813900" cy="564957"/>
            </a:xfrm>
            <a:custGeom>
              <a:avLst/>
              <a:gdLst/>
              <a:ahLst/>
              <a:cxnLst/>
              <a:rect r="r" b="b" t="t" l="l"/>
              <a:pathLst>
                <a:path h="564957" w="4813900">
                  <a:moveTo>
                    <a:pt x="0" y="0"/>
                  </a:moveTo>
                  <a:lnTo>
                    <a:pt x="4813900" y="0"/>
                  </a:lnTo>
                  <a:lnTo>
                    <a:pt x="4813900" y="564957"/>
                  </a:lnTo>
                  <a:lnTo>
                    <a:pt x="0" y="564957"/>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622107"/>
            </a:xfrm>
            <a:prstGeom prst="rect">
              <a:avLst/>
            </a:prstGeom>
          </p:spPr>
          <p:txBody>
            <a:bodyPr anchor="ctr" rtlCol="false" tIns="50800" lIns="50800" bIns="50800" rIns="50800"/>
            <a:lstStyle/>
            <a:p>
              <a:pPr algn="ctr" marL="0" indent="0" lvl="0">
                <a:lnSpc>
                  <a:spcPts val="3447"/>
                </a:lnSpc>
                <a:spcBef>
                  <a:spcPct val="0"/>
                </a:spcBef>
              </a:pPr>
            </a:p>
          </p:txBody>
        </p:sp>
      </p:grpSp>
      <p:pic>
        <p:nvPicPr>
          <p:cNvPr name="Picture 5" id="5">
            <a:hlinkClick action="ppaction://media"/>
          </p:cNvPr>
          <p:cNvPicPr>
            <a:picLocks noChangeAspect="true"/>
          </p:cNvPicPr>
          <p:nvPr>
            <a:videoFile r:link="rId3"/>
            <p:extLst>
              <p:ext uri="{DAA4B4D4-6D71-4841-9C94-3DE7FCFB9230}">
                <p14:media xmlns:p14="http://schemas.microsoft.com/office/powerpoint/2010/main" r:embed="rId4"/>
              </p:ext>
            </p:extLst>
          </p:nvPr>
        </p:nvPicPr>
        <p:blipFill>
          <a:blip r:embed="rId2"/>
          <a:srcRect l="0" t="0" r="0" b="0"/>
          <a:stretch>
            <a:fillRect/>
          </a:stretch>
        </p:blipFill>
        <p:spPr>
          <a:xfrm flipH="false" flipV="false" rot="0">
            <a:off x="8853927" y="2624968"/>
            <a:ext cx="7870412" cy="5037064"/>
          </a:xfrm>
          <a:prstGeom prst="rect">
            <a:avLst/>
          </a:prstGeom>
        </p:spPr>
      </p:pic>
      <p:sp>
        <p:nvSpPr>
          <p:cNvPr name="TextBox 6" id="6"/>
          <p:cNvSpPr txBox="true"/>
          <p:nvPr/>
        </p:nvSpPr>
        <p:spPr>
          <a:xfrm rot="0">
            <a:off x="1028700" y="1948977"/>
            <a:ext cx="8773902" cy="759822"/>
          </a:xfrm>
          <a:prstGeom prst="rect">
            <a:avLst/>
          </a:prstGeom>
        </p:spPr>
        <p:txBody>
          <a:bodyPr anchor="t" rtlCol="false" tIns="0" lIns="0" bIns="0" rIns="0">
            <a:spAutoFit/>
          </a:bodyPr>
          <a:lstStyle/>
          <a:p>
            <a:pPr algn="l">
              <a:lnSpc>
                <a:spcPts val="5776"/>
              </a:lnSpc>
            </a:pPr>
            <a:r>
              <a:rPr lang="en-US" sz="5112">
                <a:solidFill>
                  <a:srgbClr val="000000"/>
                </a:solidFill>
                <a:latin typeface="Archivo Black"/>
                <a:ea typeface="Archivo Black"/>
                <a:cs typeface="Archivo Black"/>
                <a:sym typeface="Archivo Black"/>
              </a:rPr>
              <a:t>Idea principal: </a:t>
            </a:r>
          </a:p>
        </p:txBody>
      </p:sp>
      <p:sp>
        <p:nvSpPr>
          <p:cNvPr name="TextBox 7" id="7"/>
          <p:cNvSpPr txBox="true"/>
          <p:nvPr/>
        </p:nvSpPr>
        <p:spPr>
          <a:xfrm rot="0">
            <a:off x="1028700" y="3808362"/>
            <a:ext cx="6635297" cy="2790313"/>
          </a:xfrm>
          <a:prstGeom prst="rect">
            <a:avLst/>
          </a:prstGeom>
        </p:spPr>
        <p:txBody>
          <a:bodyPr anchor="t" rtlCol="false" tIns="0" lIns="0" bIns="0" rIns="0">
            <a:spAutoFit/>
          </a:bodyPr>
          <a:lstStyle/>
          <a:p>
            <a:pPr algn="l">
              <a:lnSpc>
                <a:spcPts val="3178"/>
              </a:lnSpc>
              <a:spcBef>
                <a:spcPct val="0"/>
              </a:spcBef>
            </a:pPr>
            <a:r>
              <a:rPr lang="en-US" sz="2270" spc="136">
                <a:solidFill>
                  <a:srgbClr val="000000"/>
                </a:solidFill>
                <a:latin typeface="HK Grotesk"/>
                <a:ea typeface="HK Grotesk"/>
                <a:cs typeface="HK Grotesk"/>
                <a:sym typeface="HK Grotesk"/>
              </a:rPr>
              <a:t>Es un algoritmo de ordenamiento que utiliza un árbol binario de búsqueda para ordenar elementos. Este algoritmo funciona creando un árbol binario a partir de los elementos ingresados y luego recorriendo el árbol en orden inorden para obtener los elementos ordenados. </a:t>
            </a:r>
          </a:p>
        </p:txBody>
      </p:sp>
      <p:sp>
        <p:nvSpPr>
          <p:cNvPr name="AutoShape 8" id="8"/>
          <p:cNvSpPr/>
          <p:nvPr/>
        </p:nvSpPr>
        <p:spPr>
          <a:xfrm>
            <a:off x="678962" y="2723087"/>
            <a:ext cx="7334774" cy="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spTree>
  </p:cSld>
  <p:clrMapOvr>
    <a:masterClrMapping/>
  </p:clrMapOvr>
  <p:timing>
    <p:tnLst>
      <p:par>
        <p:cTn dur="indefinite" restart="never" nodeType="tmRoot">
          <p:childTnLst>
            <p:video>
              <p:cMediaNode vol="100000">
                <p:cTn fill="hold" display="false">
                  <p:stCondLst>
                    <p:cond delay="indefinite"/>
                  </p:stCondLst>
                </p:cTn>
                <p:tgtEl>
                  <p:spTgt spid="5"/>
                </p:tgtEl>
              </p:cMediaNode>
            </p:video>
          </p:childTnLst>
        </p:cTn>
      </p:par>
    </p:tnLst>
  </p:timing>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1028700" y="3007002"/>
            <a:ext cx="3216227" cy="701972"/>
            <a:chOff x="0" y="0"/>
            <a:chExt cx="1091610" cy="238254"/>
          </a:xfrm>
        </p:grpSpPr>
        <p:sp>
          <p:nvSpPr>
            <p:cNvPr name="Freeform 3" id="3"/>
            <p:cNvSpPr/>
            <p:nvPr/>
          </p:nvSpPr>
          <p:spPr>
            <a:xfrm flipH="false" flipV="false" rot="0">
              <a:off x="0" y="0"/>
              <a:ext cx="1091610" cy="238254"/>
            </a:xfrm>
            <a:custGeom>
              <a:avLst/>
              <a:gdLst/>
              <a:ahLst/>
              <a:cxnLst/>
              <a:rect r="r" b="b" t="t" l="l"/>
              <a:pathLst>
                <a:path h="238254" w="1091610">
                  <a:moveTo>
                    <a:pt x="21664" y="0"/>
                  </a:moveTo>
                  <a:lnTo>
                    <a:pt x="1069945" y="0"/>
                  </a:lnTo>
                  <a:cubicBezTo>
                    <a:pt x="1081910" y="0"/>
                    <a:pt x="1091610" y="9699"/>
                    <a:pt x="1091610" y="21664"/>
                  </a:cubicBezTo>
                  <a:lnTo>
                    <a:pt x="1091610" y="216590"/>
                  </a:lnTo>
                  <a:cubicBezTo>
                    <a:pt x="1091610" y="228555"/>
                    <a:pt x="1081910" y="238254"/>
                    <a:pt x="1069945" y="238254"/>
                  </a:cubicBezTo>
                  <a:lnTo>
                    <a:pt x="21664" y="238254"/>
                  </a:lnTo>
                  <a:cubicBezTo>
                    <a:pt x="9699" y="238254"/>
                    <a:pt x="0" y="228555"/>
                    <a:pt x="0" y="216590"/>
                  </a:cubicBezTo>
                  <a:lnTo>
                    <a:pt x="0" y="21664"/>
                  </a:lnTo>
                  <a:cubicBezTo>
                    <a:pt x="0" y="9699"/>
                    <a:pt x="9699" y="0"/>
                    <a:pt x="21664"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4" id="4"/>
            <p:cNvSpPr txBox="true"/>
            <p:nvPr/>
          </p:nvSpPr>
          <p:spPr>
            <a:xfrm>
              <a:off x="0" y="-57150"/>
              <a:ext cx="1091610" cy="295404"/>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5" id="5"/>
          <p:cNvGrpSpPr/>
          <p:nvPr/>
        </p:nvGrpSpPr>
        <p:grpSpPr>
          <a:xfrm rot="0">
            <a:off x="6110356" y="2999632"/>
            <a:ext cx="3216227" cy="701972"/>
            <a:chOff x="0" y="0"/>
            <a:chExt cx="1091610" cy="238254"/>
          </a:xfrm>
        </p:grpSpPr>
        <p:sp>
          <p:nvSpPr>
            <p:cNvPr name="Freeform 6" id="6"/>
            <p:cNvSpPr/>
            <p:nvPr/>
          </p:nvSpPr>
          <p:spPr>
            <a:xfrm flipH="false" flipV="false" rot="0">
              <a:off x="0" y="0"/>
              <a:ext cx="1091610" cy="238254"/>
            </a:xfrm>
            <a:custGeom>
              <a:avLst/>
              <a:gdLst/>
              <a:ahLst/>
              <a:cxnLst/>
              <a:rect r="r" b="b" t="t" l="l"/>
              <a:pathLst>
                <a:path h="238254" w="1091610">
                  <a:moveTo>
                    <a:pt x="21664" y="0"/>
                  </a:moveTo>
                  <a:lnTo>
                    <a:pt x="1069945" y="0"/>
                  </a:lnTo>
                  <a:cubicBezTo>
                    <a:pt x="1081910" y="0"/>
                    <a:pt x="1091610" y="9699"/>
                    <a:pt x="1091610" y="21664"/>
                  </a:cubicBezTo>
                  <a:lnTo>
                    <a:pt x="1091610" y="216590"/>
                  </a:lnTo>
                  <a:cubicBezTo>
                    <a:pt x="1091610" y="228555"/>
                    <a:pt x="1081910" y="238254"/>
                    <a:pt x="1069945" y="238254"/>
                  </a:cubicBezTo>
                  <a:lnTo>
                    <a:pt x="21664" y="238254"/>
                  </a:lnTo>
                  <a:cubicBezTo>
                    <a:pt x="9699" y="238254"/>
                    <a:pt x="0" y="228555"/>
                    <a:pt x="0" y="216590"/>
                  </a:cubicBezTo>
                  <a:lnTo>
                    <a:pt x="0" y="21664"/>
                  </a:lnTo>
                  <a:cubicBezTo>
                    <a:pt x="0" y="9699"/>
                    <a:pt x="9699" y="0"/>
                    <a:pt x="21664"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7" id="7"/>
            <p:cNvSpPr txBox="true"/>
            <p:nvPr/>
          </p:nvSpPr>
          <p:spPr>
            <a:xfrm>
              <a:off x="0" y="-57150"/>
              <a:ext cx="1091610" cy="295404"/>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8" id="8"/>
          <p:cNvGrpSpPr/>
          <p:nvPr/>
        </p:nvGrpSpPr>
        <p:grpSpPr>
          <a:xfrm rot="0">
            <a:off x="11185873" y="2999632"/>
            <a:ext cx="3216227" cy="701972"/>
            <a:chOff x="0" y="0"/>
            <a:chExt cx="1091610" cy="238254"/>
          </a:xfrm>
        </p:grpSpPr>
        <p:sp>
          <p:nvSpPr>
            <p:cNvPr name="Freeform 9" id="9"/>
            <p:cNvSpPr/>
            <p:nvPr/>
          </p:nvSpPr>
          <p:spPr>
            <a:xfrm flipH="false" flipV="false" rot="0">
              <a:off x="0" y="0"/>
              <a:ext cx="1091610" cy="238254"/>
            </a:xfrm>
            <a:custGeom>
              <a:avLst/>
              <a:gdLst/>
              <a:ahLst/>
              <a:cxnLst/>
              <a:rect r="r" b="b" t="t" l="l"/>
              <a:pathLst>
                <a:path h="238254" w="1091610">
                  <a:moveTo>
                    <a:pt x="21664" y="0"/>
                  </a:moveTo>
                  <a:lnTo>
                    <a:pt x="1069945" y="0"/>
                  </a:lnTo>
                  <a:cubicBezTo>
                    <a:pt x="1081910" y="0"/>
                    <a:pt x="1091610" y="9699"/>
                    <a:pt x="1091610" y="21664"/>
                  </a:cubicBezTo>
                  <a:lnTo>
                    <a:pt x="1091610" y="216590"/>
                  </a:lnTo>
                  <a:cubicBezTo>
                    <a:pt x="1091610" y="228555"/>
                    <a:pt x="1081910" y="238254"/>
                    <a:pt x="1069945" y="238254"/>
                  </a:cubicBezTo>
                  <a:lnTo>
                    <a:pt x="21664" y="238254"/>
                  </a:lnTo>
                  <a:cubicBezTo>
                    <a:pt x="9699" y="238254"/>
                    <a:pt x="0" y="228555"/>
                    <a:pt x="0" y="216590"/>
                  </a:cubicBezTo>
                  <a:lnTo>
                    <a:pt x="0" y="21664"/>
                  </a:lnTo>
                  <a:cubicBezTo>
                    <a:pt x="0" y="9699"/>
                    <a:pt x="9699" y="0"/>
                    <a:pt x="21664"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0" id="10"/>
            <p:cNvSpPr txBox="true"/>
            <p:nvPr/>
          </p:nvSpPr>
          <p:spPr>
            <a:xfrm>
              <a:off x="0" y="-57150"/>
              <a:ext cx="1091610" cy="295404"/>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11" id="11"/>
          <p:cNvGrpSpPr/>
          <p:nvPr/>
        </p:nvGrpSpPr>
        <p:grpSpPr>
          <a:xfrm rot="0">
            <a:off x="15663520" y="0"/>
            <a:ext cx="2624480" cy="10287000"/>
            <a:chOff x="0" y="0"/>
            <a:chExt cx="691221" cy="2709333"/>
          </a:xfrm>
        </p:grpSpPr>
        <p:sp>
          <p:nvSpPr>
            <p:cNvPr name="Freeform 12" id="12"/>
            <p:cNvSpPr/>
            <p:nvPr/>
          </p:nvSpPr>
          <p:spPr>
            <a:xfrm flipH="false" flipV="false" rot="0">
              <a:off x="0" y="0"/>
              <a:ext cx="691221" cy="2709333"/>
            </a:xfrm>
            <a:custGeom>
              <a:avLst/>
              <a:gdLst/>
              <a:ahLst/>
              <a:cxnLst/>
              <a:rect r="r" b="b" t="t" l="l"/>
              <a:pathLst>
                <a:path h="2709333" w="691221">
                  <a:moveTo>
                    <a:pt x="0" y="0"/>
                  </a:moveTo>
                  <a:lnTo>
                    <a:pt x="691221" y="0"/>
                  </a:lnTo>
                  <a:lnTo>
                    <a:pt x="691221"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13" id="13"/>
            <p:cNvSpPr txBox="true"/>
            <p:nvPr/>
          </p:nvSpPr>
          <p:spPr>
            <a:xfrm>
              <a:off x="0" y="-57150"/>
              <a:ext cx="691221" cy="2766483"/>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14" id="14"/>
          <p:cNvGrpSpPr/>
          <p:nvPr/>
        </p:nvGrpSpPr>
        <p:grpSpPr>
          <a:xfrm rot="0">
            <a:off x="1028700" y="5447220"/>
            <a:ext cx="3216227" cy="3339599"/>
            <a:chOff x="0" y="0"/>
            <a:chExt cx="847072" cy="879565"/>
          </a:xfrm>
        </p:grpSpPr>
        <p:sp>
          <p:nvSpPr>
            <p:cNvPr name="Freeform 15" id="15"/>
            <p:cNvSpPr/>
            <p:nvPr/>
          </p:nvSpPr>
          <p:spPr>
            <a:xfrm flipH="false" flipV="false" rot="0">
              <a:off x="0" y="0"/>
              <a:ext cx="847072" cy="879565"/>
            </a:xfrm>
            <a:custGeom>
              <a:avLst/>
              <a:gdLst/>
              <a:ahLst/>
              <a:cxnLst/>
              <a:rect r="r" b="b" t="t" l="l"/>
              <a:pathLst>
                <a:path h="879565" w="847072">
                  <a:moveTo>
                    <a:pt x="0" y="0"/>
                  </a:moveTo>
                  <a:lnTo>
                    <a:pt x="847072" y="0"/>
                  </a:lnTo>
                  <a:lnTo>
                    <a:pt x="847072" y="879565"/>
                  </a:lnTo>
                  <a:lnTo>
                    <a:pt x="0" y="879565"/>
                  </a:lnTo>
                  <a:close/>
                </a:path>
              </a:pathLst>
            </a:custGeom>
            <a:solidFill>
              <a:srgbClr val="A6A6A6"/>
            </a:solidFill>
          </p:spPr>
        </p:sp>
        <p:sp>
          <p:nvSpPr>
            <p:cNvPr name="TextBox 16" id="16"/>
            <p:cNvSpPr txBox="true"/>
            <p:nvPr/>
          </p:nvSpPr>
          <p:spPr>
            <a:xfrm>
              <a:off x="0" y="-57150"/>
              <a:ext cx="847072" cy="936715"/>
            </a:xfrm>
            <a:prstGeom prst="rect">
              <a:avLst/>
            </a:prstGeom>
          </p:spPr>
          <p:txBody>
            <a:bodyPr anchor="ctr" rtlCol="false" tIns="50800" lIns="50800" bIns="50800" rIns="50800"/>
            <a:lstStyle/>
            <a:p>
              <a:pPr algn="ctr">
                <a:lnSpc>
                  <a:spcPts val="3447"/>
                </a:lnSpc>
              </a:pPr>
            </a:p>
          </p:txBody>
        </p:sp>
      </p:grpSp>
      <p:grpSp>
        <p:nvGrpSpPr>
          <p:cNvPr name="Group 17" id="17"/>
          <p:cNvGrpSpPr/>
          <p:nvPr/>
        </p:nvGrpSpPr>
        <p:grpSpPr>
          <a:xfrm rot="0">
            <a:off x="1138215" y="5768778"/>
            <a:ext cx="2997196" cy="778314"/>
            <a:chOff x="0" y="0"/>
            <a:chExt cx="789385" cy="204988"/>
          </a:xfrm>
        </p:grpSpPr>
        <p:sp>
          <p:nvSpPr>
            <p:cNvPr name="Freeform 18" id="18"/>
            <p:cNvSpPr/>
            <p:nvPr/>
          </p:nvSpPr>
          <p:spPr>
            <a:xfrm flipH="false" flipV="false" rot="0">
              <a:off x="0" y="0"/>
              <a:ext cx="789385" cy="204988"/>
            </a:xfrm>
            <a:custGeom>
              <a:avLst/>
              <a:gdLst/>
              <a:ahLst/>
              <a:cxnLst/>
              <a:rect r="r" b="b" t="t" l="l"/>
              <a:pathLst>
                <a:path h="204988" w="789385">
                  <a:moveTo>
                    <a:pt x="0" y="0"/>
                  </a:moveTo>
                  <a:lnTo>
                    <a:pt x="789385" y="0"/>
                  </a:lnTo>
                  <a:lnTo>
                    <a:pt x="789385" y="204988"/>
                  </a:lnTo>
                  <a:lnTo>
                    <a:pt x="0" y="204988"/>
                  </a:lnTo>
                  <a:close/>
                </a:path>
              </a:pathLst>
            </a:custGeom>
            <a:solidFill>
              <a:srgbClr val="FFFFFF">
                <a:alpha val="64706"/>
              </a:srgbClr>
            </a:solidFill>
          </p:spPr>
        </p:sp>
        <p:sp>
          <p:nvSpPr>
            <p:cNvPr name="TextBox 19" id="19"/>
            <p:cNvSpPr txBox="true"/>
            <p:nvPr/>
          </p:nvSpPr>
          <p:spPr>
            <a:xfrm>
              <a:off x="0" y="-47625"/>
              <a:ext cx="789385" cy="252613"/>
            </a:xfrm>
            <a:prstGeom prst="rect">
              <a:avLst/>
            </a:prstGeom>
          </p:spPr>
          <p:txBody>
            <a:bodyPr anchor="ctr" rtlCol="false" tIns="50800" lIns="50800" bIns="50800" rIns="50800"/>
            <a:lstStyle/>
            <a:p>
              <a:pPr algn="ctr">
                <a:lnSpc>
                  <a:spcPts val="2607"/>
                </a:lnSpc>
              </a:pPr>
              <a:r>
                <a:rPr lang="en-US" b="true" sz="1862">
                  <a:solidFill>
                    <a:srgbClr val="00687A">
                      <a:alpha val="64706"/>
                    </a:srgbClr>
                  </a:solidFill>
                  <a:latin typeface="Nunito Bold"/>
                  <a:ea typeface="Nunito Bold"/>
                  <a:cs typeface="Nunito Bold"/>
                  <a:sym typeface="Nunito Bold"/>
                </a:rPr>
                <a:t>[5, 2, 8, 1, 14, 17, 4, 3, 19]</a:t>
              </a:r>
            </a:p>
          </p:txBody>
        </p:sp>
      </p:grpSp>
      <p:grpSp>
        <p:nvGrpSpPr>
          <p:cNvPr name="Group 20" id="20"/>
          <p:cNvGrpSpPr/>
          <p:nvPr/>
        </p:nvGrpSpPr>
        <p:grpSpPr>
          <a:xfrm rot="0">
            <a:off x="6034192" y="5447220"/>
            <a:ext cx="3292392" cy="3339599"/>
            <a:chOff x="0" y="0"/>
            <a:chExt cx="867132" cy="879565"/>
          </a:xfrm>
        </p:grpSpPr>
        <p:sp>
          <p:nvSpPr>
            <p:cNvPr name="Freeform 21" id="21"/>
            <p:cNvSpPr/>
            <p:nvPr/>
          </p:nvSpPr>
          <p:spPr>
            <a:xfrm flipH="false" flipV="false" rot="0">
              <a:off x="0" y="0"/>
              <a:ext cx="867132" cy="879565"/>
            </a:xfrm>
            <a:custGeom>
              <a:avLst/>
              <a:gdLst/>
              <a:ahLst/>
              <a:cxnLst/>
              <a:rect r="r" b="b" t="t" l="l"/>
              <a:pathLst>
                <a:path h="879565" w="867132">
                  <a:moveTo>
                    <a:pt x="0" y="0"/>
                  </a:moveTo>
                  <a:lnTo>
                    <a:pt x="867132" y="0"/>
                  </a:lnTo>
                  <a:lnTo>
                    <a:pt x="867132" y="879565"/>
                  </a:lnTo>
                  <a:lnTo>
                    <a:pt x="0" y="879565"/>
                  </a:lnTo>
                  <a:close/>
                </a:path>
              </a:pathLst>
            </a:custGeom>
            <a:solidFill>
              <a:srgbClr val="A6A6A6"/>
            </a:solidFill>
          </p:spPr>
        </p:sp>
        <p:sp>
          <p:nvSpPr>
            <p:cNvPr name="TextBox 22" id="22"/>
            <p:cNvSpPr txBox="true"/>
            <p:nvPr/>
          </p:nvSpPr>
          <p:spPr>
            <a:xfrm>
              <a:off x="0" y="-57150"/>
              <a:ext cx="867132" cy="936715"/>
            </a:xfrm>
            <a:prstGeom prst="rect">
              <a:avLst/>
            </a:prstGeom>
          </p:spPr>
          <p:txBody>
            <a:bodyPr anchor="ctr" rtlCol="false" tIns="50800" lIns="50800" bIns="50800" rIns="50800"/>
            <a:lstStyle/>
            <a:p>
              <a:pPr algn="ctr">
                <a:lnSpc>
                  <a:spcPts val="3447"/>
                </a:lnSpc>
              </a:pPr>
            </a:p>
          </p:txBody>
        </p:sp>
      </p:grpSp>
      <p:grpSp>
        <p:nvGrpSpPr>
          <p:cNvPr name="Group 23" id="23"/>
          <p:cNvGrpSpPr/>
          <p:nvPr/>
        </p:nvGrpSpPr>
        <p:grpSpPr>
          <a:xfrm rot="0">
            <a:off x="11155384" y="5447220"/>
            <a:ext cx="3292392" cy="3339599"/>
            <a:chOff x="0" y="0"/>
            <a:chExt cx="867132" cy="879565"/>
          </a:xfrm>
        </p:grpSpPr>
        <p:sp>
          <p:nvSpPr>
            <p:cNvPr name="Freeform 24" id="24"/>
            <p:cNvSpPr/>
            <p:nvPr/>
          </p:nvSpPr>
          <p:spPr>
            <a:xfrm flipH="false" flipV="false" rot="0">
              <a:off x="0" y="0"/>
              <a:ext cx="867132" cy="879565"/>
            </a:xfrm>
            <a:custGeom>
              <a:avLst/>
              <a:gdLst/>
              <a:ahLst/>
              <a:cxnLst/>
              <a:rect r="r" b="b" t="t" l="l"/>
              <a:pathLst>
                <a:path h="879565" w="867132">
                  <a:moveTo>
                    <a:pt x="0" y="0"/>
                  </a:moveTo>
                  <a:lnTo>
                    <a:pt x="867132" y="0"/>
                  </a:lnTo>
                  <a:lnTo>
                    <a:pt x="867132" y="879565"/>
                  </a:lnTo>
                  <a:lnTo>
                    <a:pt x="0" y="879565"/>
                  </a:lnTo>
                  <a:close/>
                </a:path>
              </a:pathLst>
            </a:custGeom>
            <a:solidFill>
              <a:srgbClr val="A6A6A6"/>
            </a:solidFill>
          </p:spPr>
        </p:sp>
        <p:sp>
          <p:nvSpPr>
            <p:cNvPr name="TextBox 25" id="25"/>
            <p:cNvSpPr txBox="true"/>
            <p:nvPr/>
          </p:nvSpPr>
          <p:spPr>
            <a:xfrm>
              <a:off x="0" y="-57150"/>
              <a:ext cx="867132" cy="936715"/>
            </a:xfrm>
            <a:prstGeom prst="rect">
              <a:avLst/>
            </a:prstGeom>
          </p:spPr>
          <p:txBody>
            <a:bodyPr anchor="ctr" rtlCol="false" tIns="50800" lIns="50800" bIns="50800" rIns="50800"/>
            <a:lstStyle/>
            <a:p>
              <a:pPr algn="ctr">
                <a:lnSpc>
                  <a:spcPts val="3447"/>
                </a:lnSpc>
              </a:pPr>
            </a:p>
          </p:txBody>
        </p:sp>
      </p:grpSp>
      <p:grpSp>
        <p:nvGrpSpPr>
          <p:cNvPr name="Group 26" id="26"/>
          <p:cNvGrpSpPr/>
          <p:nvPr/>
        </p:nvGrpSpPr>
        <p:grpSpPr>
          <a:xfrm rot="0">
            <a:off x="11350956" y="7903448"/>
            <a:ext cx="2901247" cy="471707"/>
            <a:chOff x="0" y="0"/>
            <a:chExt cx="764115" cy="124236"/>
          </a:xfrm>
        </p:grpSpPr>
        <p:sp>
          <p:nvSpPr>
            <p:cNvPr name="Freeform 27" id="27"/>
            <p:cNvSpPr/>
            <p:nvPr/>
          </p:nvSpPr>
          <p:spPr>
            <a:xfrm flipH="false" flipV="false" rot="0">
              <a:off x="0" y="0"/>
              <a:ext cx="764115" cy="124236"/>
            </a:xfrm>
            <a:custGeom>
              <a:avLst/>
              <a:gdLst/>
              <a:ahLst/>
              <a:cxnLst/>
              <a:rect r="r" b="b" t="t" l="l"/>
              <a:pathLst>
                <a:path h="124236" w="764115">
                  <a:moveTo>
                    <a:pt x="0" y="0"/>
                  </a:moveTo>
                  <a:lnTo>
                    <a:pt x="764115" y="0"/>
                  </a:lnTo>
                  <a:lnTo>
                    <a:pt x="764115" y="124236"/>
                  </a:lnTo>
                  <a:lnTo>
                    <a:pt x="0" y="124236"/>
                  </a:lnTo>
                  <a:close/>
                </a:path>
              </a:pathLst>
            </a:custGeom>
            <a:solidFill>
              <a:srgbClr val="FFFFFF">
                <a:alpha val="64706"/>
              </a:srgbClr>
            </a:solidFill>
          </p:spPr>
        </p:sp>
        <p:sp>
          <p:nvSpPr>
            <p:cNvPr name="TextBox 28" id="28"/>
            <p:cNvSpPr txBox="true"/>
            <p:nvPr/>
          </p:nvSpPr>
          <p:spPr>
            <a:xfrm>
              <a:off x="0" y="-47625"/>
              <a:ext cx="764115" cy="171861"/>
            </a:xfrm>
            <a:prstGeom prst="rect">
              <a:avLst/>
            </a:prstGeom>
          </p:spPr>
          <p:txBody>
            <a:bodyPr anchor="ctr" rtlCol="false" tIns="50800" lIns="50800" bIns="50800" rIns="50800"/>
            <a:lstStyle/>
            <a:p>
              <a:pPr algn="ctr">
                <a:lnSpc>
                  <a:spcPts val="2607"/>
                </a:lnSpc>
              </a:pPr>
              <a:r>
                <a:rPr lang="en-US" b="true" sz="1862">
                  <a:solidFill>
                    <a:srgbClr val="00687A">
                      <a:alpha val="64706"/>
                    </a:srgbClr>
                  </a:solidFill>
                  <a:latin typeface="Nunito Bold"/>
                  <a:ea typeface="Nunito Bold"/>
                  <a:cs typeface="Nunito Bold"/>
                  <a:sym typeface="Nunito Bold"/>
                </a:rPr>
                <a:t>[1, 2, 3, 4, 5, 8, 14,17, 19]</a:t>
              </a:r>
            </a:p>
          </p:txBody>
        </p:sp>
      </p:grpSp>
      <p:sp>
        <p:nvSpPr>
          <p:cNvPr name="TextBox 29" id="29"/>
          <p:cNvSpPr txBox="true"/>
          <p:nvPr/>
        </p:nvSpPr>
        <p:spPr>
          <a:xfrm rot="0">
            <a:off x="1028700" y="1118289"/>
            <a:ext cx="10617928" cy="809774"/>
          </a:xfrm>
          <a:prstGeom prst="rect">
            <a:avLst/>
          </a:prstGeom>
        </p:spPr>
        <p:txBody>
          <a:bodyPr anchor="t" rtlCol="false" tIns="0" lIns="0" bIns="0" rIns="0">
            <a:spAutoFit/>
          </a:bodyPr>
          <a:lstStyle/>
          <a:p>
            <a:pPr algn="l">
              <a:lnSpc>
                <a:spcPts val="6217"/>
              </a:lnSpc>
            </a:pPr>
            <a:r>
              <a:rPr lang="en-US" sz="5502">
                <a:solidFill>
                  <a:srgbClr val="000000"/>
                </a:solidFill>
                <a:latin typeface="Archivo Black"/>
                <a:ea typeface="Archivo Black"/>
                <a:cs typeface="Archivo Black"/>
                <a:sym typeface="Archivo Black"/>
              </a:rPr>
              <a:t> 2. Funcionamiento</a:t>
            </a:r>
          </a:p>
        </p:txBody>
      </p:sp>
      <p:sp>
        <p:nvSpPr>
          <p:cNvPr name="TextBox 30" id="30"/>
          <p:cNvSpPr txBox="true"/>
          <p:nvPr/>
        </p:nvSpPr>
        <p:spPr>
          <a:xfrm rot="0">
            <a:off x="1028700" y="3212482"/>
            <a:ext cx="3216227" cy="394678"/>
          </a:xfrm>
          <a:prstGeom prst="rect">
            <a:avLst/>
          </a:prstGeom>
        </p:spPr>
        <p:txBody>
          <a:bodyPr anchor="t" rtlCol="false" tIns="0" lIns="0" bIns="0" rIns="0">
            <a:spAutoFit/>
          </a:bodyPr>
          <a:lstStyle/>
          <a:p>
            <a:pPr algn="ctr">
              <a:lnSpc>
                <a:spcPts val="2949"/>
              </a:lnSpc>
            </a:pPr>
            <a:r>
              <a:rPr lang="en-US" sz="2610">
                <a:solidFill>
                  <a:srgbClr val="FFFFFF"/>
                </a:solidFill>
                <a:latin typeface="Archivo Black"/>
                <a:ea typeface="Archivo Black"/>
                <a:cs typeface="Archivo Black"/>
                <a:sym typeface="Archivo Black"/>
              </a:rPr>
              <a:t>Paso 1</a:t>
            </a:r>
          </a:p>
        </p:txBody>
      </p:sp>
      <p:sp>
        <p:nvSpPr>
          <p:cNvPr name="TextBox 31" id="31"/>
          <p:cNvSpPr txBox="true"/>
          <p:nvPr/>
        </p:nvSpPr>
        <p:spPr>
          <a:xfrm rot="0">
            <a:off x="6110356" y="3205112"/>
            <a:ext cx="3216227" cy="394678"/>
          </a:xfrm>
          <a:prstGeom prst="rect">
            <a:avLst/>
          </a:prstGeom>
        </p:spPr>
        <p:txBody>
          <a:bodyPr anchor="t" rtlCol="false" tIns="0" lIns="0" bIns="0" rIns="0">
            <a:spAutoFit/>
          </a:bodyPr>
          <a:lstStyle/>
          <a:p>
            <a:pPr algn="ctr">
              <a:lnSpc>
                <a:spcPts val="2949"/>
              </a:lnSpc>
            </a:pPr>
            <a:r>
              <a:rPr lang="en-US" sz="2610">
                <a:solidFill>
                  <a:srgbClr val="FFFFFF"/>
                </a:solidFill>
                <a:latin typeface="Archivo Black"/>
                <a:ea typeface="Archivo Black"/>
                <a:cs typeface="Archivo Black"/>
                <a:sym typeface="Archivo Black"/>
              </a:rPr>
              <a:t>Paso 2</a:t>
            </a:r>
          </a:p>
        </p:txBody>
      </p:sp>
      <p:sp>
        <p:nvSpPr>
          <p:cNvPr name="TextBox 32" id="32"/>
          <p:cNvSpPr txBox="true"/>
          <p:nvPr/>
        </p:nvSpPr>
        <p:spPr>
          <a:xfrm rot="0">
            <a:off x="1028700" y="3945298"/>
            <a:ext cx="3216227" cy="282722"/>
          </a:xfrm>
          <a:prstGeom prst="rect">
            <a:avLst/>
          </a:prstGeom>
        </p:spPr>
        <p:txBody>
          <a:bodyPr anchor="t" rtlCol="false" tIns="0" lIns="0" bIns="0" rIns="0">
            <a:spAutoFit/>
          </a:bodyPr>
          <a:lstStyle/>
          <a:p>
            <a:pPr algn="l" marL="0" indent="0" lvl="0">
              <a:lnSpc>
                <a:spcPts val="2259"/>
              </a:lnSpc>
              <a:spcBef>
                <a:spcPct val="0"/>
              </a:spcBef>
            </a:pPr>
            <a:r>
              <a:rPr lang="en-US" sz="1738" spc="-8">
                <a:solidFill>
                  <a:srgbClr val="343434"/>
                </a:solidFill>
                <a:latin typeface="HK Grotesk"/>
                <a:ea typeface="HK Grotesk"/>
                <a:cs typeface="HK Grotesk"/>
                <a:sym typeface="HK Grotesk"/>
              </a:rPr>
              <a:t>Toma los elementos del array</a:t>
            </a:r>
          </a:p>
        </p:txBody>
      </p:sp>
      <p:sp>
        <p:nvSpPr>
          <p:cNvPr name="TextBox 33" id="33"/>
          <p:cNvSpPr txBox="true"/>
          <p:nvPr/>
        </p:nvSpPr>
        <p:spPr>
          <a:xfrm rot="0">
            <a:off x="6110356" y="3945298"/>
            <a:ext cx="3216227" cy="1139972"/>
          </a:xfrm>
          <a:prstGeom prst="rect">
            <a:avLst/>
          </a:prstGeom>
        </p:spPr>
        <p:txBody>
          <a:bodyPr anchor="t" rtlCol="false" tIns="0" lIns="0" bIns="0" rIns="0">
            <a:spAutoFit/>
          </a:bodyPr>
          <a:lstStyle/>
          <a:p>
            <a:pPr algn="l" marL="0" indent="0" lvl="0">
              <a:lnSpc>
                <a:spcPts val="2259"/>
              </a:lnSpc>
              <a:spcBef>
                <a:spcPct val="0"/>
              </a:spcBef>
            </a:pPr>
            <a:r>
              <a:rPr lang="en-US" sz="1738" spc="-8">
                <a:solidFill>
                  <a:srgbClr val="343434"/>
                </a:solidFill>
                <a:latin typeface="HK Grotesk"/>
                <a:ea typeface="HK Grotesk"/>
                <a:cs typeface="HK Grotesk"/>
                <a:sym typeface="HK Grotesk"/>
              </a:rPr>
              <a:t>Crea un árbol de búsqueda binaria insertando elementos de datos del array en el árbol de búsqueda binaria</a:t>
            </a:r>
          </a:p>
        </p:txBody>
      </p:sp>
      <p:sp>
        <p:nvSpPr>
          <p:cNvPr name="TextBox 34" id="34"/>
          <p:cNvSpPr txBox="true"/>
          <p:nvPr/>
        </p:nvSpPr>
        <p:spPr>
          <a:xfrm rot="0">
            <a:off x="11201058" y="3197780"/>
            <a:ext cx="3201042" cy="394678"/>
          </a:xfrm>
          <a:prstGeom prst="rect">
            <a:avLst/>
          </a:prstGeom>
        </p:spPr>
        <p:txBody>
          <a:bodyPr anchor="t" rtlCol="false" tIns="0" lIns="0" bIns="0" rIns="0">
            <a:spAutoFit/>
          </a:bodyPr>
          <a:lstStyle/>
          <a:p>
            <a:pPr algn="ctr">
              <a:lnSpc>
                <a:spcPts val="2949"/>
              </a:lnSpc>
            </a:pPr>
            <a:r>
              <a:rPr lang="en-US" sz="2610">
                <a:solidFill>
                  <a:srgbClr val="FFFFFF"/>
                </a:solidFill>
                <a:latin typeface="Archivo Black"/>
                <a:ea typeface="Archivo Black"/>
                <a:cs typeface="Archivo Black"/>
                <a:sym typeface="Archivo Black"/>
              </a:rPr>
              <a:t>Paso 3</a:t>
            </a:r>
          </a:p>
        </p:txBody>
      </p:sp>
      <p:sp>
        <p:nvSpPr>
          <p:cNvPr name="TextBox 35" id="35"/>
          <p:cNvSpPr txBox="true"/>
          <p:nvPr/>
        </p:nvSpPr>
        <p:spPr>
          <a:xfrm rot="0">
            <a:off x="11185873" y="3943005"/>
            <a:ext cx="3216227" cy="854222"/>
          </a:xfrm>
          <a:prstGeom prst="rect">
            <a:avLst/>
          </a:prstGeom>
        </p:spPr>
        <p:txBody>
          <a:bodyPr anchor="t" rtlCol="false" tIns="0" lIns="0" bIns="0" rIns="0">
            <a:spAutoFit/>
          </a:bodyPr>
          <a:lstStyle/>
          <a:p>
            <a:pPr algn="l" marL="0" indent="0" lvl="0">
              <a:lnSpc>
                <a:spcPts val="2259"/>
              </a:lnSpc>
              <a:spcBef>
                <a:spcPct val="0"/>
              </a:spcBef>
            </a:pPr>
            <a:r>
              <a:rPr lang="en-US" sz="1738" spc="-8">
                <a:solidFill>
                  <a:srgbClr val="343434"/>
                </a:solidFill>
                <a:latin typeface="HK Grotesk"/>
                <a:ea typeface="HK Grotesk"/>
                <a:cs typeface="HK Grotesk"/>
                <a:sym typeface="HK Grotesk"/>
              </a:rPr>
              <a:t>Realiza un recorrido en orden (in-order) del árbol para obtener los elementos en orden ascendente.</a:t>
            </a:r>
          </a:p>
        </p:txBody>
      </p:sp>
      <p:grpSp>
        <p:nvGrpSpPr>
          <p:cNvPr name="Group 36" id="36"/>
          <p:cNvGrpSpPr/>
          <p:nvPr/>
        </p:nvGrpSpPr>
        <p:grpSpPr>
          <a:xfrm rot="0">
            <a:off x="6147959" y="5693412"/>
            <a:ext cx="3068550" cy="2847216"/>
            <a:chOff x="0" y="0"/>
            <a:chExt cx="808178" cy="749884"/>
          </a:xfrm>
        </p:grpSpPr>
        <p:sp>
          <p:nvSpPr>
            <p:cNvPr name="Freeform 37" id="37"/>
            <p:cNvSpPr/>
            <p:nvPr/>
          </p:nvSpPr>
          <p:spPr>
            <a:xfrm flipH="false" flipV="false" rot="0">
              <a:off x="0" y="0"/>
              <a:ext cx="808178" cy="749884"/>
            </a:xfrm>
            <a:custGeom>
              <a:avLst/>
              <a:gdLst/>
              <a:ahLst/>
              <a:cxnLst/>
              <a:rect r="r" b="b" t="t" l="l"/>
              <a:pathLst>
                <a:path h="749884" w="808178">
                  <a:moveTo>
                    <a:pt x="0" y="0"/>
                  </a:moveTo>
                  <a:lnTo>
                    <a:pt x="808178" y="0"/>
                  </a:lnTo>
                  <a:lnTo>
                    <a:pt x="808178" y="749884"/>
                  </a:lnTo>
                  <a:lnTo>
                    <a:pt x="0" y="749884"/>
                  </a:lnTo>
                  <a:close/>
                </a:path>
              </a:pathLst>
            </a:custGeom>
            <a:solidFill>
              <a:srgbClr val="FFFFFF">
                <a:alpha val="40784"/>
              </a:srgbClr>
            </a:solidFill>
          </p:spPr>
        </p:sp>
        <p:sp>
          <p:nvSpPr>
            <p:cNvPr name="TextBox 38" id="38"/>
            <p:cNvSpPr txBox="true"/>
            <p:nvPr/>
          </p:nvSpPr>
          <p:spPr>
            <a:xfrm>
              <a:off x="0" y="-57150"/>
              <a:ext cx="808178" cy="807034"/>
            </a:xfrm>
            <a:prstGeom prst="rect">
              <a:avLst/>
            </a:prstGeom>
          </p:spPr>
          <p:txBody>
            <a:bodyPr anchor="ctr" rtlCol="false" tIns="50800" lIns="50800" bIns="50800" rIns="50800"/>
            <a:lstStyle/>
            <a:p>
              <a:pPr algn="ctr">
                <a:lnSpc>
                  <a:spcPts val="3447"/>
                </a:lnSpc>
              </a:pPr>
            </a:p>
          </p:txBody>
        </p:sp>
      </p:grpSp>
      <p:grpSp>
        <p:nvGrpSpPr>
          <p:cNvPr name="Group 39" id="39"/>
          <p:cNvGrpSpPr/>
          <p:nvPr/>
        </p:nvGrpSpPr>
        <p:grpSpPr>
          <a:xfrm rot="0">
            <a:off x="6258034" y="5768778"/>
            <a:ext cx="2958475" cy="2681743"/>
            <a:chOff x="0" y="0"/>
            <a:chExt cx="3944633" cy="3575657"/>
          </a:xfrm>
        </p:grpSpPr>
        <p:grpSp>
          <p:nvGrpSpPr>
            <p:cNvPr name="Group 40" id="40"/>
            <p:cNvGrpSpPr/>
            <p:nvPr/>
          </p:nvGrpSpPr>
          <p:grpSpPr>
            <a:xfrm rot="0">
              <a:off x="1287837" y="0"/>
              <a:ext cx="458957" cy="458957"/>
              <a:chOff x="0" y="0"/>
              <a:chExt cx="812800" cy="812800"/>
            </a:xfrm>
          </p:grpSpPr>
          <p:sp>
            <p:nvSpPr>
              <p:cNvPr name="Freeform 41" id="4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42" id="42"/>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43" id="43"/>
            <p:cNvSpPr txBox="true"/>
            <p:nvPr/>
          </p:nvSpPr>
          <p:spPr>
            <a:xfrm rot="0">
              <a:off x="1457867" y="86739"/>
              <a:ext cx="11889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5</a:t>
              </a:r>
            </a:p>
          </p:txBody>
        </p:sp>
        <p:grpSp>
          <p:nvGrpSpPr>
            <p:cNvPr name="Group 44" id="44"/>
            <p:cNvGrpSpPr/>
            <p:nvPr/>
          </p:nvGrpSpPr>
          <p:grpSpPr>
            <a:xfrm rot="0">
              <a:off x="561337" y="778159"/>
              <a:ext cx="458957" cy="458957"/>
              <a:chOff x="0" y="0"/>
              <a:chExt cx="812800" cy="812800"/>
            </a:xfrm>
          </p:grpSpPr>
          <p:sp>
            <p:nvSpPr>
              <p:cNvPr name="Freeform 45" id="4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46" id="46"/>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47" id="47"/>
            <p:cNvSpPr txBox="true"/>
            <p:nvPr/>
          </p:nvSpPr>
          <p:spPr>
            <a:xfrm rot="0">
              <a:off x="731367" y="864898"/>
              <a:ext cx="11889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2</a:t>
              </a:r>
            </a:p>
          </p:txBody>
        </p:sp>
        <p:grpSp>
          <p:nvGrpSpPr>
            <p:cNvPr name="Group 48" id="48"/>
            <p:cNvGrpSpPr/>
            <p:nvPr/>
          </p:nvGrpSpPr>
          <p:grpSpPr>
            <a:xfrm rot="0">
              <a:off x="2026801" y="778159"/>
              <a:ext cx="458957" cy="458957"/>
              <a:chOff x="0" y="0"/>
              <a:chExt cx="812800" cy="812800"/>
            </a:xfrm>
          </p:grpSpPr>
          <p:sp>
            <p:nvSpPr>
              <p:cNvPr name="Freeform 49" id="4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50" id="50"/>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51" id="51"/>
            <p:cNvSpPr txBox="true"/>
            <p:nvPr/>
          </p:nvSpPr>
          <p:spPr>
            <a:xfrm rot="0">
              <a:off x="2196831" y="864898"/>
              <a:ext cx="11889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8</a:t>
              </a:r>
            </a:p>
          </p:txBody>
        </p:sp>
        <p:grpSp>
          <p:nvGrpSpPr>
            <p:cNvPr name="Group 52" id="52"/>
            <p:cNvGrpSpPr/>
            <p:nvPr/>
          </p:nvGrpSpPr>
          <p:grpSpPr>
            <a:xfrm rot="0">
              <a:off x="2567764" y="1641297"/>
              <a:ext cx="458957" cy="458957"/>
              <a:chOff x="0" y="0"/>
              <a:chExt cx="812800" cy="812800"/>
            </a:xfrm>
          </p:grpSpPr>
          <p:sp>
            <p:nvSpPr>
              <p:cNvPr name="Freeform 53" id="5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54" id="54"/>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55" id="55"/>
            <p:cNvSpPr txBox="true"/>
            <p:nvPr/>
          </p:nvSpPr>
          <p:spPr>
            <a:xfrm rot="0">
              <a:off x="2652778" y="1728036"/>
              <a:ext cx="28892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14</a:t>
              </a:r>
            </a:p>
          </p:txBody>
        </p:sp>
        <p:grpSp>
          <p:nvGrpSpPr>
            <p:cNvPr name="Group 56" id="56"/>
            <p:cNvGrpSpPr/>
            <p:nvPr/>
          </p:nvGrpSpPr>
          <p:grpSpPr>
            <a:xfrm rot="0">
              <a:off x="1020294" y="1641297"/>
              <a:ext cx="458957" cy="458957"/>
              <a:chOff x="0" y="0"/>
              <a:chExt cx="812800" cy="812800"/>
            </a:xfrm>
          </p:grpSpPr>
          <p:sp>
            <p:nvSpPr>
              <p:cNvPr name="Freeform 57" id="5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58" id="58"/>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59" id="59"/>
            <p:cNvSpPr txBox="true"/>
            <p:nvPr/>
          </p:nvSpPr>
          <p:spPr>
            <a:xfrm rot="0">
              <a:off x="1190323" y="1728036"/>
              <a:ext cx="11889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4</a:t>
              </a:r>
            </a:p>
          </p:txBody>
        </p:sp>
        <p:grpSp>
          <p:nvGrpSpPr>
            <p:cNvPr name="Group 60" id="60"/>
            <p:cNvGrpSpPr/>
            <p:nvPr/>
          </p:nvGrpSpPr>
          <p:grpSpPr>
            <a:xfrm rot="0">
              <a:off x="0" y="1641297"/>
              <a:ext cx="458957" cy="458957"/>
              <a:chOff x="0" y="0"/>
              <a:chExt cx="812800" cy="812800"/>
            </a:xfrm>
          </p:grpSpPr>
          <p:sp>
            <p:nvSpPr>
              <p:cNvPr name="Freeform 61" id="6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62" id="62"/>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63" id="63"/>
            <p:cNvSpPr txBox="true"/>
            <p:nvPr/>
          </p:nvSpPr>
          <p:spPr>
            <a:xfrm rot="0">
              <a:off x="170030" y="1728036"/>
              <a:ext cx="11889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1</a:t>
              </a:r>
            </a:p>
          </p:txBody>
        </p:sp>
        <p:grpSp>
          <p:nvGrpSpPr>
            <p:cNvPr name="Group 64" id="64"/>
            <p:cNvGrpSpPr/>
            <p:nvPr/>
          </p:nvGrpSpPr>
          <p:grpSpPr>
            <a:xfrm rot="0">
              <a:off x="642985" y="2392108"/>
              <a:ext cx="458957" cy="458957"/>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66" id="66"/>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67" id="67"/>
            <p:cNvSpPr txBox="true"/>
            <p:nvPr/>
          </p:nvSpPr>
          <p:spPr>
            <a:xfrm rot="0">
              <a:off x="813015" y="2478847"/>
              <a:ext cx="11889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3</a:t>
              </a:r>
            </a:p>
          </p:txBody>
        </p:sp>
        <p:grpSp>
          <p:nvGrpSpPr>
            <p:cNvPr name="Group 68" id="68"/>
            <p:cNvGrpSpPr/>
            <p:nvPr/>
          </p:nvGrpSpPr>
          <p:grpSpPr>
            <a:xfrm rot="0">
              <a:off x="3026720" y="2392108"/>
              <a:ext cx="458957" cy="458957"/>
              <a:chOff x="0" y="0"/>
              <a:chExt cx="812800" cy="812800"/>
            </a:xfrm>
          </p:grpSpPr>
          <p:sp>
            <p:nvSpPr>
              <p:cNvPr name="Freeform 69" id="6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70" id="70"/>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71" id="71"/>
            <p:cNvSpPr txBox="true"/>
            <p:nvPr/>
          </p:nvSpPr>
          <p:spPr>
            <a:xfrm rot="0">
              <a:off x="3111735" y="2478847"/>
              <a:ext cx="28892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17</a:t>
              </a:r>
            </a:p>
          </p:txBody>
        </p:sp>
        <p:grpSp>
          <p:nvGrpSpPr>
            <p:cNvPr name="Group 72" id="72"/>
            <p:cNvGrpSpPr/>
            <p:nvPr/>
          </p:nvGrpSpPr>
          <p:grpSpPr>
            <a:xfrm rot="0">
              <a:off x="3485677" y="3116701"/>
              <a:ext cx="458957" cy="458957"/>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74" id="74"/>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75" id="75"/>
            <p:cNvSpPr txBox="true"/>
            <p:nvPr/>
          </p:nvSpPr>
          <p:spPr>
            <a:xfrm rot="0">
              <a:off x="3570691" y="3203440"/>
              <a:ext cx="288927" cy="266429"/>
            </a:xfrm>
            <a:prstGeom prst="rect">
              <a:avLst/>
            </a:prstGeom>
          </p:spPr>
          <p:txBody>
            <a:bodyPr anchor="t" rtlCol="false" tIns="0" lIns="0" bIns="0" rIns="0">
              <a:spAutoFit/>
            </a:bodyPr>
            <a:lstStyle/>
            <a:p>
              <a:pPr algn="ctr">
                <a:lnSpc>
                  <a:spcPts val="1719"/>
                </a:lnSpc>
              </a:pPr>
              <a:r>
                <a:rPr lang="en-US" sz="1227">
                  <a:solidFill>
                    <a:srgbClr val="000000"/>
                  </a:solidFill>
                  <a:latin typeface="Open Sans"/>
                  <a:ea typeface="Open Sans"/>
                  <a:cs typeface="Open Sans"/>
                  <a:sym typeface="Open Sans"/>
                </a:rPr>
                <a:t>19</a:t>
              </a:r>
            </a:p>
          </p:txBody>
        </p:sp>
        <p:sp>
          <p:nvSpPr>
            <p:cNvPr name="AutoShape 76" id="76"/>
            <p:cNvSpPr/>
            <p:nvPr/>
          </p:nvSpPr>
          <p:spPr>
            <a:xfrm flipH="true">
              <a:off x="790815" y="458957"/>
              <a:ext cx="726500" cy="319202"/>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77" id="77"/>
            <p:cNvSpPr/>
            <p:nvPr/>
          </p:nvSpPr>
          <p:spPr>
            <a:xfrm>
              <a:off x="1517316" y="458957"/>
              <a:ext cx="738964" cy="319202"/>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78" id="78"/>
            <p:cNvSpPr/>
            <p:nvPr/>
          </p:nvSpPr>
          <p:spPr>
            <a:xfrm flipH="true">
              <a:off x="229478" y="1237116"/>
              <a:ext cx="561337" cy="404181"/>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79" id="79"/>
            <p:cNvSpPr/>
            <p:nvPr/>
          </p:nvSpPr>
          <p:spPr>
            <a:xfrm>
              <a:off x="790815" y="1237116"/>
              <a:ext cx="458957" cy="485947"/>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80" id="80"/>
            <p:cNvSpPr/>
            <p:nvPr/>
          </p:nvSpPr>
          <p:spPr>
            <a:xfrm>
              <a:off x="2256279" y="1237116"/>
              <a:ext cx="540962" cy="404181"/>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81" id="81"/>
            <p:cNvSpPr/>
            <p:nvPr/>
          </p:nvSpPr>
          <p:spPr>
            <a:xfrm>
              <a:off x="2797242" y="2100253"/>
              <a:ext cx="458957" cy="291855"/>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82" id="82"/>
            <p:cNvSpPr/>
            <p:nvPr/>
          </p:nvSpPr>
          <p:spPr>
            <a:xfrm>
              <a:off x="3256198" y="2851065"/>
              <a:ext cx="373484" cy="306508"/>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83" id="83"/>
            <p:cNvSpPr/>
            <p:nvPr/>
          </p:nvSpPr>
          <p:spPr>
            <a:xfrm flipH="true">
              <a:off x="790815" y="2100253"/>
              <a:ext cx="458957" cy="291855"/>
            </a:xfrm>
            <a:prstGeom prst="line">
              <a:avLst/>
            </a:prstGeom>
            <a:ln cap="flat" w="45823">
              <a:gradFill>
                <a:gsLst>
                  <a:gs pos="0">
                    <a:srgbClr val="65CED1">
                      <a:alpha val="100000"/>
                    </a:srgbClr>
                  </a:gs>
                  <a:gs pos="100000">
                    <a:srgbClr val="000000">
                      <a:alpha val="100000"/>
                    </a:srgbClr>
                  </a:gs>
                </a:gsLst>
                <a:lin ang="2700000"/>
              </a:gradFill>
              <a:prstDash val="solid"/>
              <a:headEnd type="none" len="sm" w="sm"/>
              <a:tailEnd type="arrow" len="sm" w="med"/>
            </a:ln>
          </p:spPr>
        </p:sp>
      </p:grpSp>
      <p:grpSp>
        <p:nvGrpSpPr>
          <p:cNvPr name="Group 84" id="84"/>
          <p:cNvGrpSpPr/>
          <p:nvPr/>
        </p:nvGrpSpPr>
        <p:grpSpPr>
          <a:xfrm rot="0">
            <a:off x="11738787" y="5506194"/>
            <a:ext cx="2296619" cy="2081796"/>
            <a:chOff x="0" y="0"/>
            <a:chExt cx="3062159" cy="2775729"/>
          </a:xfrm>
        </p:grpSpPr>
        <p:grpSp>
          <p:nvGrpSpPr>
            <p:cNvPr name="Group 85" id="85"/>
            <p:cNvGrpSpPr/>
            <p:nvPr/>
          </p:nvGrpSpPr>
          <p:grpSpPr>
            <a:xfrm rot="0">
              <a:off x="999729" y="0"/>
              <a:ext cx="356281" cy="356281"/>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87" id="87"/>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88" id="88"/>
            <p:cNvSpPr txBox="true"/>
            <p:nvPr/>
          </p:nvSpPr>
          <p:spPr>
            <a:xfrm rot="0">
              <a:off x="1131720" y="63072"/>
              <a:ext cx="92298"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5</a:t>
              </a:r>
            </a:p>
          </p:txBody>
        </p:sp>
        <p:grpSp>
          <p:nvGrpSpPr>
            <p:cNvPr name="Group 89" id="89"/>
            <p:cNvGrpSpPr/>
            <p:nvPr/>
          </p:nvGrpSpPr>
          <p:grpSpPr>
            <a:xfrm rot="0">
              <a:off x="435758" y="604073"/>
              <a:ext cx="356281" cy="356281"/>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91" id="91"/>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92" id="92"/>
            <p:cNvSpPr txBox="true"/>
            <p:nvPr/>
          </p:nvSpPr>
          <p:spPr>
            <a:xfrm rot="0">
              <a:off x="567749" y="667145"/>
              <a:ext cx="92298"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2</a:t>
              </a:r>
            </a:p>
          </p:txBody>
        </p:sp>
        <p:grpSp>
          <p:nvGrpSpPr>
            <p:cNvPr name="Group 93" id="93"/>
            <p:cNvGrpSpPr/>
            <p:nvPr/>
          </p:nvGrpSpPr>
          <p:grpSpPr>
            <a:xfrm rot="0">
              <a:off x="1573375" y="604073"/>
              <a:ext cx="356281" cy="356281"/>
              <a:chOff x="0" y="0"/>
              <a:chExt cx="812800" cy="812800"/>
            </a:xfrm>
          </p:grpSpPr>
          <p:sp>
            <p:nvSpPr>
              <p:cNvPr name="Freeform 94" id="9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95" id="95"/>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96" id="96"/>
            <p:cNvSpPr txBox="true"/>
            <p:nvPr/>
          </p:nvSpPr>
          <p:spPr>
            <a:xfrm rot="0">
              <a:off x="1705366" y="667145"/>
              <a:ext cx="92298"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8</a:t>
              </a:r>
            </a:p>
          </p:txBody>
        </p:sp>
        <p:grpSp>
          <p:nvGrpSpPr>
            <p:cNvPr name="Group 97" id="97"/>
            <p:cNvGrpSpPr/>
            <p:nvPr/>
          </p:nvGrpSpPr>
          <p:grpSpPr>
            <a:xfrm rot="0">
              <a:off x="1993316" y="1274114"/>
              <a:ext cx="356281" cy="356281"/>
              <a:chOff x="0" y="0"/>
              <a:chExt cx="812800" cy="812800"/>
            </a:xfrm>
          </p:grpSpPr>
          <p:sp>
            <p:nvSpPr>
              <p:cNvPr name="Freeform 98" id="9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99" id="99"/>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100" id="100"/>
            <p:cNvSpPr txBox="true"/>
            <p:nvPr/>
          </p:nvSpPr>
          <p:spPr>
            <a:xfrm rot="0">
              <a:off x="2059312" y="1337186"/>
              <a:ext cx="224290"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14</a:t>
              </a:r>
            </a:p>
          </p:txBody>
        </p:sp>
        <p:grpSp>
          <p:nvGrpSpPr>
            <p:cNvPr name="Group 101" id="101"/>
            <p:cNvGrpSpPr/>
            <p:nvPr/>
          </p:nvGrpSpPr>
          <p:grpSpPr>
            <a:xfrm rot="0">
              <a:off x="792038" y="1274114"/>
              <a:ext cx="356281" cy="356281"/>
              <a:chOff x="0" y="0"/>
              <a:chExt cx="812800" cy="812800"/>
            </a:xfrm>
          </p:grpSpPr>
          <p:sp>
            <p:nvSpPr>
              <p:cNvPr name="Freeform 102" id="10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103" id="103"/>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104" id="104"/>
            <p:cNvSpPr txBox="true"/>
            <p:nvPr/>
          </p:nvSpPr>
          <p:spPr>
            <a:xfrm rot="0">
              <a:off x="924030" y="1337186"/>
              <a:ext cx="92298"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4</a:t>
              </a:r>
            </a:p>
          </p:txBody>
        </p:sp>
        <p:grpSp>
          <p:nvGrpSpPr>
            <p:cNvPr name="Group 105" id="105"/>
            <p:cNvGrpSpPr/>
            <p:nvPr/>
          </p:nvGrpSpPr>
          <p:grpSpPr>
            <a:xfrm rot="0">
              <a:off x="0" y="1274114"/>
              <a:ext cx="356281" cy="356281"/>
              <a:chOff x="0" y="0"/>
              <a:chExt cx="812800" cy="812800"/>
            </a:xfrm>
          </p:grpSpPr>
          <p:sp>
            <p:nvSpPr>
              <p:cNvPr name="Freeform 106" id="10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w="38100" cap="sq">
                <a:gradFill>
                  <a:gsLst>
                    <a:gs pos="0">
                      <a:srgbClr val="65CED1">
                        <a:alpha val="100000"/>
                      </a:srgbClr>
                    </a:gs>
                    <a:gs pos="100000">
                      <a:srgbClr val="000000">
                        <a:alpha val="100000"/>
                      </a:srgbClr>
                    </a:gs>
                  </a:gsLst>
                  <a:lin ang="2700000"/>
                </a:gradFill>
                <a:prstDash val="solid"/>
                <a:miter/>
              </a:ln>
            </p:spPr>
          </p:sp>
          <p:sp>
            <p:nvSpPr>
              <p:cNvPr name="TextBox 107" id="107"/>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108" id="108"/>
            <p:cNvSpPr txBox="true"/>
            <p:nvPr/>
          </p:nvSpPr>
          <p:spPr>
            <a:xfrm rot="0">
              <a:off x="131991" y="1337186"/>
              <a:ext cx="92298"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1</a:t>
              </a:r>
            </a:p>
          </p:txBody>
        </p:sp>
        <p:grpSp>
          <p:nvGrpSpPr>
            <p:cNvPr name="Group 109" id="109"/>
            <p:cNvGrpSpPr/>
            <p:nvPr/>
          </p:nvGrpSpPr>
          <p:grpSpPr>
            <a:xfrm rot="0">
              <a:off x="499140" y="1856957"/>
              <a:ext cx="356281" cy="356281"/>
              <a:chOff x="0" y="0"/>
              <a:chExt cx="812800" cy="812800"/>
            </a:xfrm>
          </p:grpSpPr>
          <p:sp>
            <p:nvSpPr>
              <p:cNvPr name="Freeform 110" id="11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111" id="111"/>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112" id="112"/>
            <p:cNvSpPr txBox="true"/>
            <p:nvPr/>
          </p:nvSpPr>
          <p:spPr>
            <a:xfrm rot="0">
              <a:off x="631131" y="1920029"/>
              <a:ext cx="92298"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3</a:t>
              </a:r>
            </a:p>
          </p:txBody>
        </p:sp>
        <p:grpSp>
          <p:nvGrpSpPr>
            <p:cNvPr name="Group 113" id="113"/>
            <p:cNvGrpSpPr/>
            <p:nvPr/>
          </p:nvGrpSpPr>
          <p:grpSpPr>
            <a:xfrm rot="0">
              <a:off x="2349597" y="1856957"/>
              <a:ext cx="356281" cy="356281"/>
              <a:chOff x="0" y="0"/>
              <a:chExt cx="812800" cy="812800"/>
            </a:xfrm>
          </p:grpSpPr>
          <p:sp>
            <p:nvSpPr>
              <p:cNvPr name="Freeform 114" id="11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115" id="115"/>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116" id="116"/>
            <p:cNvSpPr txBox="true"/>
            <p:nvPr/>
          </p:nvSpPr>
          <p:spPr>
            <a:xfrm rot="0">
              <a:off x="2415593" y="1920029"/>
              <a:ext cx="224290"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17</a:t>
              </a:r>
            </a:p>
          </p:txBody>
        </p:sp>
        <p:grpSp>
          <p:nvGrpSpPr>
            <p:cNvPr name="Group 117" id="117"/>
            <p:cNvGrpSpPr/>
            <p:nvPr/>
          </p:nvGrpSpPr>
          <p:grpSpPr>
            <a:xfrm rot="0">
              <a:off x="2705878" y="2419448"/>
              <a:ext cx="356281" cy="356281"/>
              <a:chOff x="0" y="0"/>
              <a:chExt cx="812800" cy="812800"/>
            </a:xfrm>
          </p:grpSpPr>
          <p:sp>
            <p:nvSpPr>
              <p:cNvPr name="Freeform 118" id="1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5757"/>
              </a:solidFill>
              <a:ln w="38100" cap="sq">
                <a:gradFill>
                  <a:gsLst>
                    <a:gs pos="0">
                      <a:srgbClr val="65CED1">
                        <a:alpha val="100000"/>
                      </a:srgbClr>
                    </a:gs>
                    <a:gs pos="100000">
                      <a:srgbClr val="000000">
                        <a:alpha val="100000"/>
                      </a:srgbClr>
                    </a:gs>
                  </a:gsLst>
                  <a:lin ang="2700000"/>
                </a:gradFill>
                <a:prstDash val="solid"/>
                <a:miter/>
              </a:ln>
            </p:spPr>
          </p:sp>
          <p:sp>
            <p:nvSpPr>
              <p:cNvPr name="TextBox 119" id="119"/>
              <p:cNvSpPr txBox="true"/>
              <p:nvPr/>
            </p:nvSpPr>
            <p:spPr>
              <a:xfrm>
                <a:off x="76200" y="19050"/>
                <a:ext cx="660400" cy="717550"/>
              </a:xfrm>
              <a:prstGeom prst="rect">
                <a:avLst/>
              </a:prstGeom>
            </p:spPr>
            <p:txBody>
              <a:bodyPr anchor="ctr" rtlCol="false" tIns="50800" lIns="50800" bIns="50800" rIns="50800"/>
              <a:lstStyle/>
              <a:p>
                <a:pPr algn="ctr">
                  <a:lnSpc>
                    <a:spcPts val="3447"/>
                  </a:lnSpc>
                </a:pPr>
              </a:p>
            </p:txBody>
          </p:sp>
        </p:grpSp>
        <p:sp>
          <p:nvSpPr>
            <p:cNvPr name="TextBox 120" id="120"/>
            <p:cNvSpPr txBox="true"/>
            <p:nvPr/>
          </p:nvSpPr>
          <p:spPr>
            <a:xfrm rot="0">
              <a:off x="2771874" y="2482520"/>
              <a:ext cx="224290" cy="211086"/>
            </a:xfrm>
            <a:prstGeom prst="rect">
              <a:avLst/>
            </a:prstGeom>
          </p:spPr>
          <p:txBody>
            <a:bodyPr anchor="t" rtlCol="false" tIns="0" lIns="0" bIns="0" rIns="0">
              <a:spAutoFit/>
            </a:bodyPr>
            <a:lstStyle/>
            <a:p>
              <a:pPr algn="ctr">
                <a:lnSpc>
                  <a:spcPts val="1334"/>
                </a:lnSpc>
              </a:pPr>
              <a:r>
                <a:rPr lang="en-US" sz="953">
                  <a:solidFill>
                    <a:srgbClr val="000000"/>
                  </a:solidFill>
                  <a:latin typeface="Open Sans"/>
                  <a:ea typeface="Open Sans"/>
                  <a:cs typeface="Open Sans"/>
                  <a:sym typeface="Open Sans"/>
                </a:rPr>
                <a:t>19</a:t>
              </a:r>
            </a:p>
          </p:txBody>
        </p:sp>
        <p:sp>
          <p:nvSpPr>
            <p:cNvPr name="AutoShape 121" id="121"/>
            <p:cNvSpPr/>
            <p:nvPr/>
          </p:nvSpPr>
          <p:spPr>
            <a:xfrm flipH="true">
              <a:off x="613898" y="356281"/>
              <a:ext cx="563971" cy="247792"/>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2" id="122"/>
            <p:cNvSpPr/>
            <p:nvPr/>
          </p:nvSpPr>
          <p:spPr>
            <a:xfrm>
              <a:off x="1177869" y="356281"/>
              <a:ext cx="573646" cy="247792"/>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3" id="123"/>
            <p:cNvSpPr/>
            <p:nvPr/>
          </p:nvSpPr>
          <p:spPr>
            <a:xfrm flipH="true">
              <a:off x="178140" y="960354"/>
              <a:ext cx="435758" cy="313760"/>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4" id="124"/>
            <p:cNvSpPr/>
            <p:nvPr/>
          </p:nvSpPr>
          <p:spPr>
            <a:xfrm>
              <a:off x="613898" y="960354"/>
              <a:ext cx="356281" cy="377233"/>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5" id="125"/>
            <p:cNvSpPr/>
            <p:nvPr/>
          </p:nvSpPr>
          <p:spPr>
            <a:xfrm>
              <a:off x="1751515" y="960354"/>
              <a:ext cx="419941" cy="313760"/>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6" id="126"/>
            <p:cNvSpPr/>
            <p:nvPr/>
          </p:nvSpPr>
          <p:spPr>
            <a:xfrm>
              <a:off x="2171456" y="1630395"/>
              <a:ext cx="356281" cy="226562"/>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7" id="127"/>
            <p:cNvSpPr/>
            <p:nvPr/>
          </p:nvSpPr>
          <p:spPr>
            <a:xfrm>
              <a:off x="2527737" y="2213238"/>
              <a:ext cx="289930" cy="237937"/>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28" id="128"/>
            <p:cNvSpPr/>
            <p:nvPr/>
          </p:nvSpPr>
          <p:spPr>
            <a:xfrm flipH="true">
              <a:off x="613898" y="1630395"/>
              <a:ext cx="356281" cy="226562"/>
            </a:xfrm>
            <a:prstGeom prst="line">
              <a:avLst/>
            </a:prstGeom>
            <a:ln cap="flat" w="35572">
              <a:gradFill>
                <a:gsLst>
                  <a:gs pos="0">
                    <a:srgbClr val="65CED1">
                      <a:alpha val="100000"/>
                    </a:srgbClr>
                  </a:gs>
                  <a:gs pos="100000">
                    <a:srgbClr val="000000">
                      <a:alpha val="100000"/>
                    </a:srgbClr>
                  </a:gs>
                </a:gsLst>
                <a:lin ang="2700000"/>
              </a:gradFill>
              <a:prstDash val="solid"/>
              <a:headEnd type="none" len="sm" w="sm"/>
              <a:tailEnd type="arrow" len="sm" w="med"/>
            </a:ln>
          </p:spPr>
        </p:sp>
      </p:grpSp>
      <p:sp>
        <p:nvSpPr>
          <p:cNvPr name="AutoShape 129" id="129"/>
          <p:cNvSpPr/>
          <p:nvPr/>
        </p:nvSpPr>
        <p:spPr>
          <a:xfrm flipV="true">
            <a:off x="11537102" y="6706856"/>
            <a:ext cx="301952" cy="1268064"/>
          </a:xfrm>
          <a:prstGeom prst="line">
            <a:avLst/>
          </a:prstGeom>
          <a:ln cap="flat" w="38100">
            <a:solidFill>
              <a:srgbClr val="FFFFFF"/>
            </a:solidFill>
            <a:prstDash val="solid"/>
            <a:headEnd type="arrow" len="sm" w="med"/>
            <a:tailEnd type="none" len="sm" w="sm"/>
          </a:ln>
        </p:spPr>
      </p:sp>
      <p:sp>
        <p:nvSpPr>
          <p:cNvPr name="AutoShape 130" id="130"/>
          <p:cNvSpPr/>
          <p:nvPr/>
        </p:nvSpPr>
        <p:spPr>
          <a:xfrm flipH="true" flipV="true">
            <a:off x="13942598" y="7587990"/>
            <a:ext cx="92809" cy="386929"/>
          </a:xfrm>
          <a:prstGeom prst="line">
            <a:avLst/>
          </a:prstGeom>
          <a:ln cap="flat" w="38100">
            <a:solidFill>
              <a:srgbClr val="FF5757"/>
            </a:solidFill>
            <a:prstDash val="solid"/>
            <a:headEnd type="arrow" len="sm" w="med"/>
            <a:tailEnd type="none" len="sm" w="sm"/>
          </a:ln>
        </p:spPr>
      </p:sp>
      <p:grpSp>
        <p:nvGrpSpPr>
          <p:cNvPr name="Group 131" id="131"/>
          <p:cNvGrpSpPr/>
          <p:nvPr/>
        </p:nvGrpSpPr>
        <p:grpSpPr>
          <a:xfrm rot="0">
            <a:off x="2466602" y="7252247"/>
            <a:ext cx="416587" cy="416587"/>
            <a:chOff x="0" y="0"/>
            <a:chExt cx="812800" cy="812800"/>
          </a:xfrm>
        </p:grpSpPr>
        <p:sp>
          <p:nvSpPr>
            <p:cNvPr name="Freeform 132" id="1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133" id="133"/>
            <p:cNvSpPr txBox="true"/>
            <p:nvPr/>
          </p:nvSpPr>
          <p:spPr>
            <a:xfrm>
              <a:off x="76200" y="19050"/>
              <a:ext cx="660400" cy="717550"/>
            </a:xfrm>
            <a:prstGeom prst="rect">
              <a:avLst/>
            </a:prstGeom>
          </p:spPr>
          <p:txBody>
            <a:bodyPr anchor="ctr" rtlCol="false" tIns="45823" lIns="45823" bIns="45823" rIns="45823"/>
            <a:lstStyle/>
            <a:p>
              <a:pPr algn="ctr">
                <a:lnSpc>
                  <a:spcPts val="3447"/>
                </a:lnSpc>
              </a:pPr>
            </a:p>
          </p:txBody>
        </p:sp>
      </p:grpSp>
      <p:sp>
        <p:nvSpPr>
          <p:cNvPr name="TextBox 134" id="134"/>
          <p:cNvSpPr txBox="true"/>
          <p:nvPr/>
        </p:nvSpPr>
        <p:spPr>
          <a:xfrm rot="0">
            <a:off x="2620935" y="7319695"/>
            <a:ext cx="107921" cy="253116"/>
          </a:xfrm>
          <a:prstGeom prst="rect">
            <a:avLst/>
          </a:prstGeom>
        </p:spPr>
        <p:txBody>
          <a:bodyPr anchor="t" rtlCol="false" tIns="0" lIns="0" bIns="0" rIns="0">
            <a:spAutoFit/>
          </a:bodyPr>
          <a:lstStyle/>
          <a:p>
            <a:pPr algn="ctr">
              <a:lnSpc>
                <a:spcPts val="2080"/>
              </a:lnSpc>
            </a:pPr>
            <a:r>
              <a:rPr lang="en-US" sz="1486">
                <a:solidFill>
                  <a:srgbClr val="000000"/>
                </a:solidFill>
                <a:latin typeface="Open Sans"/>
                <a:ea typeface="Open Sans"/>
                <a:cs typeface="Open Sans"/>
                <a:sym typeface="Open Sans"/>
              </a:rPr>
              <a:t>5</a:t>
            </a:r>
          </a:p>
        </p:txBody>
      </p:sp>
      <p:grpSp>
        <p:nvGrpSpPr>
          <p:cNvPr name="Group 135" id="135"/>
          <p:cNvGrpSpPr/>
          <p:nvPr/>
        </p:nvGrpSpPr>
        <p:grpSpPr>
          <a:xfrm rot="0">
            <a:off x="1807171" y="7958569"/>
            <a:ext cx="416587" cy="416587"/>
            <a:chOff x="0" y="0"/>
            <a:chExt cx="812800" cy="812800"/>
          </a:xfrm>
        </p:grpSpPr>
        <p:sp>
          <p:nvSpPr>
            <p:cNvPr name="Freeform 136" id="13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137" id="137"/>
            <p:cNvSpPr txBox="true"/>
            <p:nvPr/>
          </p:nvSpPr>
          <p:spPr>
            <a:xfrm>
              <a:off x="76200" y="19050"/>
              <a:ext cx="660400" cy="717550"/>
            </a:xfrm>
            <a:prstGeom prst="rect">
              <a:avLst/>
            </a:prstGeom>
          </p:spPr>
          <p:txBody>
            <a:bodyPr anchor="ctr" rtlCol="false" tIns="45823" lIns="45823" bIns="45823" rIns="45823"/>
            <a:lstStyle/>
            <a:p>
              <a:pPr algn="ctr">
                <a:lnSpc>
                  <a:spcPts val="3447"/>
                </a:lnSpc>
              </a:pPr>
            </a:p>
          </p:txBody>
        </p:sp>
      </p:grpSp>
      <p:sp>
        <p:nvSpPr>
          <p:cNvPr name="TextBox 138" id="138"/>
          <p:cNvSpPr txBox="true"/>
          <p:nvPr/>
        </p:nvSpPr>
        <p:spPr>
          <a:xfrm rot="0">
            <a:off x="1961504" y="8026016"/>
            <a:ext cx="107921" cy="253116"/>
          </a:xfrm>
          <a:prstGeom prst="rect">
            <a:avLst/>
          </a:prstGeom>
        </p:spPr>
        <p:txBody>
          <a:bodyPr anchor="t" rtlCol="false" tIns="0" lIns="0" bIns="0" rIns="0">
            <a:spAutoFit/>
          </a:bodyPr>
          <a:lstStyle/>
          <a:p>
            <a:pPr algn="ctr">
              <a:lnSpc>
                <a:spcPts val="2080"/>
              </a:lnSpc>
            </a:pPr>
            <a:r>
              <a:rPr lang="en-US" sz="1486">
                <a:solidFill>
                  <a:srgbClr val="000000"/>
                </a:solidFill>
                <a:latin typeface="Open Sans"/>
                <a:ea typeface="Open Sans"/>
                <a:cs typeface="Open Sans"/>
                <a:sym typeface="Open Sans"/>
              </a:rPr>
              <a:t>2</a:t>
            </a:r>
          </a:p>
        </p:txBody>
      </p:sp>
      <p:grpSp>
        <p:nvGrpSpPr>
          <p:cNvPr name="Group 139" id="139"/>
          <p:cNvGrpSpPr/>
          <p:nvPr/>
        </p:nvGrpSpPr>
        <p:grpSpPr>
          <a:xfrm rot="0">
            <a:off x="3137347" y="7958569"/>
            <a:ext cx="416587" cy="416587"/>
            <a:chOff x="0" y="0"/>
            <a:chExt cx="812800" cy="812800"/>
          </a:xfrm>
        </p:grpSpPr>
        <p:sp>
          <p:nvSpPr>
            <p:cNvPr name="Freeform 140" id="14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38100" cap="sq">
              <a:gradFill>
                <a:gsLst>
                  <a:gs pos="0">
                    <a:srgbClr val="65CED1">
                      <a:alpha val="100000"/>
                    </a:srgbClr>
                  </a:gs>
                  <a:gs pos="100000">
                    <a:srgbClr val="000000">
                      <a:alpha val="100000"/>
                    </a:srgbClr>
                  </a:gs>
                </a:gsLst>
                <a:lin ang="2700000"/>
              </a:gradFill>
              <a:prstDash val="solid"/>
              <a:miter/>
            </a:ln>
          </p:spPr>
        </p:sp>
        <p:sp>
          <p:nvSpPr>
            <p:cNvPr name="TextBox 141" id="141"/>
            <p:cNvSpPr txBox="true"/>
            <p:nvPr/>
          </p:nvSpPr>
          <p:spPr>
            <a:xfrm>
              <a:off x="76200" y="19050"/>
              <a:ext cx="660400" cy="717550"/>
            </a:xfrm>
            <a:prstGeom prst="rect">
              <a:avLst/>
            </a:prstGeom>
          </p:spPr>
          <p:txBody>
            <a:bodyPr anchor="ctr" rtlCol="false" tIns="45823" lIns="45823" bIns="45823" rIns="45823"/>
            <a:lstStyle/>
            <a:p>
              <a:pPr algn="ctr">
                <a:lnSpc>
                  <a:spcPts val="3447"/>
                </a:lnSpc>
              </a:pPr>
            </a:p>
          </p:txBody>
        </p:sp>
      </p:grpSp>
      <p:sp>
        <p:nvSpPr>
          <p:cNvPr name="TextBox 142" id="142"/>
          <p:cNvSpPr txBox="true"/>
          <p:nvPr/>
        </p:nvSpPr>
        <p:spPr>
          <a:xfrm rot="0">
            <a:off x="3291680" y="8026016"/>
            <a:ext cx="107921" cy="253116"/>
          </a:xfrm>
          <a:prstGeom prst="rect">
            <a:avLst/>
          </a:prstGeom>
        </p:spPr>
        <p:txBody>
          <a:bodyPr anchor="t" rtlCol="false" tIns="0" lIns="0" bIns="0" rIns="0">
            <a:spAutoFit/>
          </a:bodyPr>
          <a:lstStyle/>
          <a:p>
            <a:pPr algn="ctr">
              <a:lnSpc>
                <a:spcPts val="2080"/>
              </a:lnSpc>
            </a:pPr>
            <a:r>
              <a:rPr lang="en-US" sz="1486">
                <a:solidFill>
                  <a:srgbClr val="000000"/>
                </a:solidFill>
                <a:latin typeface="Open Sans"/>
                <a:ea typeface="Open Sans"/>
                <a:cs typeface="Open Sans"/>
                <a:sym typeface="Open Sans"/>
              </a:rPr>
              <a:t>8</a:t>
            </a:r>
          </a:p>
        </p:txBody>
      </p:sp>
      <p:sp>
        <p:nvSpPr>
          <p:cNvPr name="AutoShape 143" id="143"/>
          <p:cNvSpPr/>
          <p:nvPr/>
        </p:nvSpPr>
        <p:spPr>
          <a:xfrm flipH="true">
            <a:off x="2015464" y="7668834"/>
            <a:ext cx="659431" cy="289734"/>
          </a:xfrm>
          <a:prstGeom prst="line">
            <a:avLst/>
          </a:prstGeom>
          <a:ln cap="flat" w="47625">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44" id="144"/>
          <p:cNvSpPr/>
          <p:nvPr/>
        </p:nvSpPr>
        <p:spPr>
          <a:xfrm>
            <a:off x="2674896" y="7668834"/>
            <a:ext cx="670745" cy="289734"/>
          </a:xfrm>
          <a:prstGeom prst="line">
            <a:avLst/>
          </a:prstGeom>
          <a:ln cap="flat" w="47625">
            <a:gradFill>
              <a:gsLst>
                <a:gs pos="0">
                  <a:srgbClr val="65CED1">
                    <a:alpha val="100000"/>
                  </a:srgbClr>
                </a:gs>
                <a:gs pos="100000">
                  <a:srgbClr val="000000">
                    <a:alpha val="100000"/>
                  </a:srgbClr>
                </a:gs>
              </a:gsLst>
              <a:lin ang="2700000"/>
            </a:gradFill>
            <a:prstDash val="solid"/>
            <a:headEnd type="none" len="sm" w="sm"/>
            <a:tailEnd type="arrow" len="sm" w="med"/>
          </a:ln>
        </p:spPr>
      </p:sp>
      <p:sp>
        <p:nvSpPr>
          <p:cNvPr name="AutoShape 145" id="145"/>
          <p:cNvSpPr/>
          <p:nvPr/>
        </p:nvSpPr>
        <p:spPr>
          <a:xfrm flipV="true">
            <a:off x="1347559" y="6304795"/>
            <a:ext cx="9097" cy="401521"/>
          </a:xfrm>
          <a:prstGeom prst="line">
            <a:avLst/>
          </a:prstGeom>
          <a:ln cap="flat" w="47625">
            <a:solidFill>
              <a:srgbClr val="FF3131"/>
            </a:solidFill>
            <a:prstDash val="solid"/>
            <a:headEnd type="none" len="sm" w="sm"/>
            <a:tailEnd type="arrow" len="sm" w="med"/>
          </a:ln>
        </p:spPr>
      </p:sp>
      <p:sp>
        <p:nvSpPr>
          <p:cNvPr name="AutoShape 146" id="146"/>
          <p:cNvSpPr/>
          <p:nvPr/>
        </p:nvSpPr>
        <p:spPr>
          <a:xfrm>
            <a:off x="2069425" y="7460541"/>
            <a:ext cx="397178" cy="0"/>
          </a:xfrm>
          <a:prstGeom prst="line">
            <a:avLst/>
          </a:prstGeom>
          <a:ln cap="flat" w="47625">
            <a:solidFill>
              <a:srgbClr val="FF3131"/>
            </a:solidFill>
            <a:prstDash val="solid"/>
            <a:headEnd type="none" len="sm" w="sm"/>
            <a:tailEnd type="arrow" len="sm" w="med"/>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445399" y="0"/>
            <a:ext cx="1956901" cy="10287000"/>
            <a:chOff x="0" y="0"/>
            <a:chExt cx="515398" cy="2709333"/>
          </a:xfrm>
        </p:grpSpPr>
        <p:sp>
          <p:nvSpPr>
            <p:cNvPr name="Freeform 3" id="3"/>
            <p:cNvSpPr/>
            <p:nvPr/>
          </p:nvSpPr>
          <p:spPr>
            <a:xfrm flipH="false" flipV="false" rot="0">
              <a:off x="0" y="0"/>
              <a:ext cx="515398" cy="2709333"/>
            </a:xfrm>
            <a:custGeom>
              <a:avLst/>
              <a:gdLst/>
              <a:ahLst/>
              <a:cxnLst/>
              <a:rect r="r" b="b" t="t" l="l"/>
              <a:pathLst>
                <a:path h="2709333" w="515398">
                  <a:moveTo>
                    <a:pt x="0" y="0"/>
                  </a:moveTo>
                  <a:lnTo>
                    <a:pt x="515398" y="0"/>
                  </a:lnTo>
                  <a:lnTo>
                    <a:pt x="515398"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515398"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Freeform 5" id="5"/>
          <p:cNvSpPr/>
          <p:nvPr/>
        </p:nvSpPr>
        <p:spPr>
          <a:xfrm flipH="false" flipV="false" rot="0">
            <a:off x="4130700" y="1788804"/>
            <a:ext cx="9599533" cy="2279889"/>
          </a:xfrm>
          <a:custGeom>
            <a:avLst/>
            <a:gdLst/>
            <a:ahLst/>
            <a:cxnLst/>
            <a:rect r="r" b="b" t="t" l="l"/>
            <a:pathLst>
              <a:path h="2279889" w="9599533">
                <a:moveTo>
                  <a:pt x="0" y="0"/>
                </a:moveTo>
                <a:lnTo>
                  <a:pt x="9599533" y="0"/>
                </a:lnTo>
                <a:lnTo>
                  <a:pt x="9599533" y="2279889"/>
                </a:lnTo>
                <a:lnTo>
                  <a:pt x="0" y="2279889"/>
                </a:lnTo>
                <a:lnTo>
                  <a:pt x="0" y="0"/>
                </a:lnTo>
                <a:close/>
              </a:path>
            </a:pathLst>
          </a:custGeom>
          <a:blipFill>
            <a:blip r:embed="rId2"/>
            <a:stretch>
              <a:fillRect l="0" t="0" r="0" b="0"/>
            </a:stretch>
          </a:blipFill>
        </p:spPr>
      </p:sp>
      <p:grpSp>
        <p:nvGrpSpPr>
          <p:cNvPr name="Group 6" id="6"/>
          <p:cNvGrpSpPr/>
          <p:nvPr/>
        </p:nvGrpSpPr>
        <p:grpSpPr>
          <a:xfrm rot="0">
            <a:off x="-265006" y="0"/>
            <a:ext cx="1956901" cy="10287000"/>
            <a:chOff x="0" y="0"/>
            <a:chExt cx="515398" cy="2709333"/>
          </a:xfrm>
        </p:grpSpPr>
        <p:sp>
          <p:nvSpPr>
            <p:cNvPr name="Freeform 7" id="7"/>
            <p:cNvSpPr/>
            <p:nvPr/>
          </p:nvSpPr>
          <p:spPr>
            <a:xfrm flipH="false" flipV="false" rot="0">
              <a:off x="0" y="0"/>
              <a:ext cx="515398" cy="2709333"/>
            </a:xfrm>
            <a:custGeom>
              <a:avLst/>
              <a:gdLst/>
              <a:ahLst/>
              <a:cxnLst/>
              <a:rect r="r" b="b" t="t" l="l"/>
              <a:pathLst>
                <a:path h="2709333" w="515398">
                  <a:moveTo>
                    <a:pt x="0" y="0"/>
                  </a:moveTo>
                  <a:lnTo>
                    <a:pt x="515398" y="0"/>
                  </a:lnTo>
                  <a:lnTo>
                    <a:pt x="515398"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8" id="8"/>
            <p:cNvSpPr txBox="true"/>
            <p:nvPr/>
          </p:nvSpPr>
          <p:spPr>
            <a:xfrm>
              <a:off x="0" y="-57150"/>
              <a:ext cx="515398"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Freeform 9" id="9"/>
          <p:cNvSpPr/>
          <p:nvPr/>
        </p:nvSpPr>
        <p:spPr>
          <a:xfrm flipH="false" flipV="false" rot="0">
            <a:off x="5026924" y="4163943"/>
            <a:ext cx="7883285" cy="2837983"/>
          </a:xfrm>
          <a:custGeom>
            <a:avLst/>
            <a:gdLst/>
            <a:ahLst/>
            <a:cxnLst/>
            <a:rect r="r" b="b" t="t" l="l"/>
            <a:pathLst>
              <a:path h="2837983" w="7883285">
                <a:moveTo>
                  <a:pt x="0" y="0"/>
                </a:moveTo>
                <a:lnTo>
                  <a:pt x="7883286" y="0"/>
                </a:lnTo>
                <a:lnTo>
                  <a:pt x="7883286" y="2837982"/>
                </a:lnTo>
                <a:lnTo>
                  <a:pt x="0" y="2837982"/>
                </a:lnTo>
                <a:lnTo>
                  <a:pt x="0" y="0"/>
                </a:lnTo>
                <a:close/>
              </a:path>
            </a:pathLst>
          </a:custGeom>
          <a:blipFill>
            <a:blip r:embed="rId3"/>
            <a:stretch>
              <a:fillRect l="0" t="0" r="0" b="0"/>
            </a:stretch>
          </a:blipFill>
        </p:spPr>
      </p:sp>
      <p:sp>
        <p:nvSpPr>
          <p:cNvPr name="Freeform 10" id="10"/>
          <p:cNvSpPr/>
          <p:nvPr/>
        </p:nvSpPr>
        <p:spPr>
          <a:xfrm flipH="false" flipV="false" rot="0">
            <a:off x="4815385" y="7099713"/>
            <a:ext cx="8477813" cy="2765887"/>
          </a:xfrm>
          <a:custGeom>
            <a:avLst/>
            <a:gdLst/>
            <a:ahLst/>
            <a:cxnLst/>
            <a:rect r="r" b="b" t="t" l="l"/>
            <a:pathLst>
              <a:path h="2765887" w="8477813">
                <a:moveTo>
                  <a:pt x="0" y="0"/>
                </a:moveTo>
                <a:lnTo>
                  <a:pt x="8477813" y="0"/>
                </a:lnTo>
                <a:lnTo>
                  <a:pt x="8477813" y="2765887"/>
                </a:lnTo>
                <a:lnTo>
                  <a:pt x="0" y="2765887"/>
                </a:lnTo>
                <a:lnTo>
                  <a:pt x="0" y="0"/>
                </a:lnTo>
                <a:close/>
              </a:path>
            </a:pathLst>
          </a:custGeom>
          <a:blipFill>
            <a:blip r:embed="rId4"/>
            <a:stretch>
              <a:fillRect l="0" t="0" r="0" b="0"/>
            </a:stretch>
          </a:blipFill>
        </p:spPr>
      </p:sp>
      <p:grpSp>
        <p:nvGrpSpPr>
          <p:cNvPr name="Group 11" id="11"/>
          <p:cNvGrpSpPr/>
          <p:nvPr/>
        </p:nvGrpSpPr>
        <p:grpSpPr>
          <a:xfrm rot="0">
            <a:off x="2216102" y="1673670"/>
            <a:ext cx="13652577" cy="8258604"/>
            <a:chOff x="0" y="0"/>
            <a:chExt cx="4633779" cy="2803027"/>
          </a:xfrm>
        </p:grpSpPr>
        <p:sp>
          <p:nvSpPr>
            <p:cNvPr name="Freeform 12" id="12"/>
            <p:cNvSpPr/>
            <p:nvPr/>
          </p:nvSpPr>
          <p:spPr>
            <a:xfrm flipH="false" flipV="false" rot="0">
              <a:off x="0" y="0"/>
              <a:ext cx="4633779" cy="2803027"/>
            </a:xfrm>
            <a:custGeom>
              <a:avLst/>
              <a:gdLst/>
              <a:ahLst/>
              <a:cxnLst/>
              <a:rect r="r" b="b" t="t" l="l"/>
              <a:pathLst>
                <a:path h="2803027" w="4633779">
                  <a:moveTo>
                    <a:pt x="5104" y="0"/>
                  </a:moveTo>
                  <a:lnTo>
                    <a:pt x="4628675" y="0"/>
                  </a:lnTo>
                  <a:cubicBezTo>
                    <a:pt x="4630029" y="0"/>
                    <a:pt x="4631327" y="538"/>
                    <a:pt x="4632284" y="1495"/>
                  </a:cubicBezTo>
                  <a:cubicBezTo>
                    <a:pt x="4633241" y="2452"/>
                    <a:pt x="4633779" y="3750"/>
                    <a:pt x="4633779" y="5104"/>
                  </a:cubicBezTo>
                  <a:lnTo>
                    <a:pt x="4633779" y="2797924"/>
                  </a:lnTo>
                  <a:cubicBezTo>
                    <a:pt x="4633779" y="2799277"/>
                    <a:pt x="4633241" y="2800575"/>
                    <a:pt x="4632284" y="2801532"/>
                  </a:cubicBezTo>
                  <a:cubicBezTo>
                    <a:pt x="4631327" y="2802489"/>
                    <a:pt x="4630029" y="2803027"/>
                    <a:pt x="4628675" y="2803027"/>
                  </a:cubicBezTo>
                  <a:lnTo>
                    <a:pt x="5104" y="2803027"/>
                  </a:lnTo>
                  <a:cubicBezTo>
                    <a:pt x="3750" y="2803027"/>
                    <a:pt x="2452" y="2802489"/>
                    <a:pt x="1495" y="2801532"/>
                  </a:cubicBezTo>
                  <a:cubicBezTo>
                    <a:pt x="538" y="2800575"/>
                    <a:pt x="0" y="2799277"/>
                    <a:pt x="0" y="2797924"/>
                  </a:cubicBezTo>
                  <a:lnTo>
                    <a:pt x="0" y="5104"/>
                  </a:lnTo>
                  <a:cubicBezTo>
                    <a:pt x="0" y="3750"/>
                    <a:pt x="538" y="2452"/>
                    <a:pt x="1495" y="1495"/>
                  </a:cubicBezTo>
                  <a:cubicBezTo>
                    <a:pt x="2452" y="538"/>
                    <a:pt x="3750" y="0"/>
                    <a:pt x="5104" y="0"/>
                  </a:cubicBezTo>
                  <a:close/>
                </a:path>
              </a:pathLst>
            </a:custGeom>
            <a:gradFill rotWithShape="true">
              <a:gsLst>
                <a:gs pos="0">
                  <a:srgbClr val="65CED1">
                    <a:alpha val="11000"/>
                  </a:srgbClr>
                </a:gs>
                <a:gs pos="100000">
                  <a:srgbClr val="1F4E4F">
                    <a:alpha val="11000"/>
                  </a:srgbClr>
                </a:gs>
              </a:gsLst>
              <a:lin ang="2700000"/>
            </a:gradFill>
            <a:ln cap="sq">
              <a:noFill/>
              <a:prstDash val="solid"/>
              <a:miter/>
            </a:ln>
          </p:spPr>
        </p:sp>
        <p:sp>
          <p:nvSpPr>
            <p:cNvPr name="TextBox 13" id="13"/>
            <p:cNvSpPr txBox="true"/>
            <p:nvPr/>
          </p:nvSpPr>
          <p:spPr>
            <a:xfrm>
              <a:off x="0" y="-57150"/>
              <a:ext cx="4633779" cy="286017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14" id="14"/>
          <p:cNvSpPr txBox="true"/>
          <p:nvPr/>
        </p:nvSpPr>
        <p:spPr>
          <a:xfrm rot="0">
            <a:off x="1882395" y="604191"/>
            <a:ext cx="14458229" cy="801393"/>
          </a:xfrm>
          <a:prstGeom prst="rect">
            <a:avLst/>
          </a:prstGeom>
        </p:spPr>
        <p:txBody>
          <a:bodyPr anchor="t" rtlCol="false" tIns="0" lIns="0" bIns="0" rIns="0">
            <a:spAutoFit/>
          </a:bodyPr>
          <a:lstStyle/>
          <a:p>
            <a:pPr algn="ctr">
              <a:lnSpc>
                <a:spcPts val="6217"/>
              </a:lnSpc>
            </a:pPr>
            <a:r>
              <a:rPr lang="en-US" sz="5502">
                <a:solidFill>
                  <a:srgbClr val="000000"/>
                </a:solidFill>
                <a:latin typeface="Archivo Black"/>
                <a:ea typeface="Archivo Black"/>
                <a:cs typeface="Archivo Black"/>
                <a:sym typeface="Archivo Black"/>
              </a:rPr>
              <a:t>Paso 2</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65006" y="613716"/>
            <a:ext cx="18667306" cy="829968"/>
            <a:chOff x="0" y="0"/>
            <a:chExt cx="4916492" cy="218592"/>
          </a:xfrm>
        </p:grpSpPr>
        <p:sp>
          <p:nvSpPr>
            <p:cNvPr name="Freeform 3" id="3"/>
            <p:cNvSpPr/>
            <p:nvPr/>
          </p:nvSpPr>
          <p:spPr>
            <a:xfrm flipH="false" flipV="false" rot="0">
              <a:off x="0" y="0"/>
              <a:ext cx="4916492" cy="218592"/>
            </a:xfrm>
            <a:custGeom>
              <a:avLst/>
              <a:gdLst/>
              <a:ahLst/>
              <a:cxnLst/>
              <a:rect r="r" b="b" t="t" l="l"/>
              <a:pathLst>
                <a:path h="218592" w="4916492">
                  <a:moveTo>
                    <a:pt x="0" y="0"/>
                  </a:moveTo>
                  <a:lnTo>
                    <a:pt x="4916492" y="0"/>
                  </a:lnTo>
                  <a:lnTo>
                    <a:pt x="4916492" y="218592"/>
                  </a:lnTo>
                  <a:lnTo>
                    <a:pt x="0" y="218592"/>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916492" cy="275742"/>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Freeform 5" id="5"/>
          <p:cNvSpPr/>
          <p:nvPr/>
        </p:nvSpPr>
        <p:spPr>
          <a:xfrm flipH="false" flipV="false" rot="0">
            <a:off x="5642880" y="2010658"/>
            <a:ext cx="7231871" cy="2648673"/>
          </a:xfrm>
          <a:custGeom>
            <a:avLst/>
            <a:gdLst/>
            <a:ahLst/>
            <a:cxnLst/>
            <a:rect r="r" b="b" t="t" l="l"/>
            <a:pathLst>
              <a:path h="2648673" w="7231871">
                <a:moveTo>
                  <a:pt x="0" y="0"/>
                </a:moveTo>
                <a:lnTo>
                  <a:pt x="7231871" y="0"/>
                </a:lnTo>
                <a:lnTo>
                  <a:pt x="7231871" y="2648673"/>
                </a:lnTo>
                <a:lnTo>
                  <a:pt x="0" y="2648673"/>
                </a:lnTo>
                <a:lnTo>
                  <a:pt x="0" y="0"/>
                </a:lnTo>
                <a:close/>
              </a:path>
            </a:pathLst>
          </a:custGeom>
          <a:blipFill>
            <a:blip r:embed="rId2"/>
            <a:stretch>
              <a:fillRect l="0" t="0" r="0" b="0"/>
            </a:stretch>
          </a:blipFill>
        </p:spPr>
      </p:sp>
      <p:sp>
        <p:nvSpPr>
          <p:cNvPr name="Freeform 6" id="6"/>
          <p:cNvSpPr/>
          <p:nvPr/>
        </p:nvSpPr>
        <p:spPr>
          <a:xfrm flipH="false" flipV="false" rot="0">
            <a:off x="5642880" y="4659331"/>
            <a:ext cx="7231871" cy="2485956"/>
          </a:xfrm>
          <a:custGeom>
            <a:avLst/>
            <a:gdLst/>
            <a:ahLst/>
            <a:cxnLst/>
            <a:rect r="r" b="b" t="t" l="l"/>
            <a:pathLst>
              <a:path h="2485956" w="7231871">
                <a:moveTo>
                  <a:pt x="0" y="0"/>
                </a:moveTo>
                <a:lnTo>
                  <a:pt x="7231871" y="0"/>
                </a:lnTo>
                <a:lnTo>
                  <a:pt x="7231871" y="2485955"/>
                </a:lnTo>
                <a:lnTo>
                  <a:pt x="0" y="2485955"/>
                </a:lnTo>
                <a:lnTo>
                  <a:pt x="0" y="0"/>
                </a:lnTo>
                <a:close/>
              </a:path>
            </a:pathLst>
          </a:custGeom>
          <a:blipFill>
            <a:blip r:embed="rId3"/>
            <a:stretch>
              <a:fillRect l="0" t="0" r="0" b="0"/>
            </a:stretch>
          </a:blipFill>
        </p:spPr>
      </p:sp>
      <p:sp>
        <p:nvSpPr>
          <p:cNvPr name="Freeform 7" id="7"/>
          <p:cNvSpPr/>
          <p:nvPr/>
        </p:nvSpPr>
        <p:spPr>
          <a:xfrm flipH="false" flipV="false" rot="0">
            <a:off x="5642880" y="7109332"/>
            <a:ext cx="7267980" cy="2485956"/>
          </a:xfrm>
          <a:custGeom>
            <a:avLst/>
            <a:gdLst/>
            <a:ahLst/>
            <a:cxnLst/>
            <a:rect r="r" b="b" t="t" l="l"/>
            <a:pathLst>
              <a:path h="2485956" w="7267980">
                <a:moveTo>
                  <a:pt x="0" y="0"/>
                </a:moveTo>
                <a:lnTo>
                  <a:pt x="7267979" y="0"/>
                </a:lnTo>
                <a:lnTo>
                  <a:pt x="7267979" y="2485955"/>
                </a:lnTo>
                <a:lnTo>
                  <a:pt x="0" y="2485955"/>
                </a:lnTo>
                <a:lnTo>
                  <a:pt x="0" y="0"/>
                </a:lnTo>
                <a:close/>
              </a:path>
            </a:pathLst>
          </a:custGeom>
          <a:blipFill>
            <a:blip r:embed="rId4"/>
            <a:stretch>
              <a:fillRect l="0" t="0" r="0" b="-34120"/>
            </a:stretch>
          </a:blipFill>
        </p:spPr>
      </p:sp>
      <p:grpSp>
        <p:nvGrpSpPr>
          <p:cNvPr name="Group 8" id="8"/>
          <p:cNvGrpSpPr/>
          <p:nvPr/>
        </p:nvGrpSpPr>
        <p:grpSpPr>
          <a:xfrm rot="0">
            <a:off x="2978159" y="1673670"/>
            <a:ext cx="11988221" cy="8258604"/>
            <a:chOff x="0" y="0"/>
            <a:chExt cx="4068885" cy="2803027"/>
          </a:xfrm>
        </p:grpSpPr>
        <p:sp>
          <p:nvSpPr>
            <p:cNvPr name="Freeform 9" id="9"/>
            <p:cNvSpPr/>
            <p:nvPr/>
          </p:nvSpPr>
          <p:spPr>
            <a:xfrm flipH="false" flipV="false" rot="0">
              <a:off x="0" y="0"/>
              <a:ext cx="4068885" cy="2803027"/>
            </a:xfrm>
            <a:custGeom>
              <a:avLst/>
              <a:gdLst/>
              <a:ahLst/>
              <a:cxnLst/>
              <a:rect r="r" b="b" t="t" l="l"/>
              <a:pathLst>
                <a:path h="2803027" w="4068885">
                  <a:moveTo>
                    <a:pt x="5812" y="0"/>
                  </a:moveTo>
                  <a:lnTo>
                    <a:pt x="4063073" y="0"/>
                  </a:lnTo>
                  <a:cubicBezTo>
                    <a:pt x="4066282" y="0"/>
                    <a:pt x="4068885" y="2602"/>
                    <a:pt x="4068885" y="5812"/>
                  </a:cubicBezTo>
                  <a:lnTo>
                    <a:pt x="4068885" y="2797215"/>
                  </a:lnTo>
                  <a:cubicBezTo>
                    <a:pt x="4068885" y="2800425"/>
                    <a:pt x="4066282" y="2803027"/>
                    <a:pt x="4063073" y="2803027"/>
                  </a:cubicBezTo>
                  <a:lnTo>
                    <a:pt x="5812" y="2803027"/>
                  </a:lnTo>
                  <a:cubicBezTo>
                    <a:pt x="2602" y="2803027"/>
                    <a:pt x="0" y="2800425"/>
                    <a:pt x="0" y="2797215"/>
                  </a:cubicBezTo>
                  <a:lnTo>
                    <a:pt x="0" y="5812"/>
                  </a:lnTo>
                  <a:cubicBezTo>
                    <a:pt x="0" y="2602"/>
                    <a:pt x="2602" y="0"/>
                    <a:pt x="5812" y="0"/>
                  </a:cubicBezTo>
                  <a:close/>
                </a:path>
              </a:pathLst>
            </a:custGeom>
            <a:gradFill rotWithShape="true">
              <a:gsLst>
                <a:gs pos="0">
                  <a:srgbClr val="65CED1">
                    <a:alpha val="22000"/>
                  </a:srgbClr>
                </a:gs>
                <a:gs pos="100000">
                  <a:srgbClr val="1F4E4F">
                    <a:alpha val="22000"/>
                  </a:srgbClr>
                </a:gs>
              </a:gsLst>
              <a:lin ang="2700000"/>
            </a:gradFill>
            <a:ln cap="sq">
              <a:noFill/>
              <a:prstDash val="solid"/>
              <a:miter/>
            </a:ln>
          </p:spPr>
        </p:sp>
        <p:sp>
          <p:nvSpPr>
            <p:cNvPr name="TextBox 10" id="10"/>
            <p:cNvSpPr txBox="true"/>
            <p:nvPr/>
          </p:nvSpPr>
          <p:spPr>
            <a:xfrm>
              <a:off x="0" y="-57150"/>
              <a:ext cx="4068885" cy="2860177"/>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11" id="11"/>
          <p:cNvSpPr txBox="true"/>
          <p:nvPr/>
        </p:nvSpPr>
        <p:spPr>
          <a:xfrm rot="0">
            <a:off x="1872870" y="642291"/>
            <a:ext cx="14458229" cy="801393"/>
          </a:xfrm>
          <a:prstGeom prst="rect">
            <a:avLst/>
          </a:prstGeom>
        </p:spPr>
        <p:txBody>
          <a:bodyPr anchor="t" rtlCol="false" tIns="0" lIns="0" bIns="0" rIns="0">
            <a:spAutoFit/>
          </a:bodyPr>
          <a:lstStyle/>
          <a:p>
            <a:pPr algn="ctr">
              <a:lnSpc>
                <a:spcPts val="6217"/>
              </a:lnSpc>
            </a:pPr>
            <a:r>
              <a:rPr lang="en-US" sz="5502">
                <a:solidFill>
                  <a:srgbClr val="000000"/>
                </a:solidFill>
                <a:latin typeface="Archivo Black"/>
                <a:ea typeface="Archivo Black"/>
                <a:cs typeface="Archivo Black"/>
                <a:sym typeface="Archivo Black"/>
              </a:rPr>
              <a:t>Paso 3</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9434146" cy="10287000"/>
            <a:chOff x="0" y="0"/>
            <a:chExt cx="2484713" cy="2709333"/>
          </a:xfrm>
        </p:grpSpPr>
        <p:sp>
          <p:nvSpPr>
            <p:cNvPr name="Freeform 3" id="3"/>
            <p:cNvSpPr/>
            <p:nvPr/>
          </p:nvSpPr>
          <p:spPr>
            <a:xfrm flipH="false" flipV="false" rot="0">
              <a:off x="0" y="0"/>
              <a:ext cx="2484713" cy="2709333"/>
            </a:xfrm>
            <a:custGeom>
              <a:avLst/>
              <a:gdLst/>
              <a:ahLst/>
              <a:cxnLst/>
              <a:rect r="r" b="b" t="t" l="l"/>
              <a:pathLst>
                <a:path h="2709333" w="2484713">
                  <a:moveTo>
                    <a:pt x="0" y="0"/>
                  </a:moveTo>
                  <a:lnTo>
                    <a:pt x="2484713" y="0"/>
                  </a:lnTo>
                  <a:lnTo>
                    <a:pt x="248471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2484713"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AutoShape 5" id="5"/>
          <p:cNvSpPr/>
          <p:nvPr/>
        </p:nvSpPr>
        <p:spPr>
          <a:xfrm>
            <a:off x="1049686" y="3575722"/>
            <a:ext cx="7334774" cy="0"/>
          </a:xfrm>
          <a:prstGeom prst="line">
            <a:avLst/>
          </a:prstGeom>
          <a:ln cap="flat" w="28575">
            <a:solidFill>
              <a:srgbClr val="FFFFFF"/>
            </a:solidFill>
            <a:prstDash val="solid"/>
            <a:headEnd type="none" len="sm" w="sm"/>
            <a:tailEnd type="none" len="sm" w="sm"/>
          </a:ln>
        </p:spPr>
      </p:sp>
      <p:grpSp>
        <p:nvGrpSpPr>
          <p:cNvPr name="Group 6" id="6"/>
          <p:cNvGrpSpPr/>
          <p:nvPr/>
        </p:nvGrpSpPr>
        <p:grpSpPr>
          <a:xfrm rot="-10800000">
            <a:off x="2069491" y="1999014"/>
            <a:ext cx="4641130" cy="1276944"/>
            <a:chOff x="0" y="0"/>
            <a:chExt cx="1386586" cy="381500"/>
          </a:xfrm>
        </p:grpSpPr>
        <p:sp>
          <p:nvSpPr>
            <p:cNvPr name="Freeform 7" id="7"/>
            <p:cNvSpPr/>
            <p:nvPr/>
          </p:nvSpPr>
          <p:spPr>
            <a:xfrm flipH="false" flipV="false" rot="0">
              <a:off x="0" y="0"/>
              <a:ext cx="1386586" cy="381500"/>
            </a:xfrm>
            <a:custGeom>
              <a:avLst/>
              <a:gdLst/>
              <a:ahLst/>
              <a:cxnLst/>
              <a:rect r="r" b="b" t="t" l="l"/>
              <a:pathLst>
                <a:path h="381500" w="1386586">
                  <a:moveTo>
                    <a:pt x="76733" y="0"/>
                  </a:moveTo>
                  <a:lnTo>
                    <a:pt x="1309853" y="0"/>
                  </a:lnTo>
                  <a:cubicBezTo>
                    <a:pt x="1330203" y="0"/>
                    <a:pt x="1349721" y="8084"/>
                    <a:pt x="1364111" y="22475"/>
                  </a:cubicBezTo>
                  <a:cubicBezTo>
                    <a:pt x="1378501" y="36865"/>
                    <a:pt x="1386586" y="56382"/>
                    <a:pt x="1386586" y="76733"/>
                  </a:cubicBezTo>
                  <a:lnTo>
                    <a:pt x="1386586" y="304767"/>
                  </a:lnTo>
                  <a:cubicBezTo>
                    <a:pt x="1386586" y="325118"/>
                    <a:pt x="1378501" y="344636"/>
                    <a:pt x="1364111" y="359026"/>
                  </a:cubicBezTo>
                  <a:cubicBezTo>
                    <a:pt x="1349721" y="373416"/>
                    <a:pt x="1330203" y="381500"/>
                    <a:pt x="1309853" y="381500"/>
                  </a:cubicBezTo>
                  <a:lnTo>
                    <a:pt x="76733" y="381500"/>
                  </a:lnTo>
                  <a:cubicBezTo>
                    <a:pt x="34355" y="381500"/>
                    <a:pt x="0" y="347146"/>
                    <a:pt x="0" y="304767"/>
                  </a:cubicBezTo>
                  <a:lnTo>
                    <a:pt x="0" y="76733"/>
                  </a:lnTo>
                  <a:cubicBezTo>
                    <a:pt x="0" y="56382"/>
                    <a:pt x="8084" y="36865"/>
                    <a:pt x="22475" y="22475"/>
                  </a:cubicBezTo>
                  <a:cubicBezTo>
                    <a:pt x="36865" y="8084"/>
                    <a:pt x="56382" y="0"/>
                    <a:pt x="76733" y="0"/>
                  </a:cubicBezTo>
                  <a:close/>
                </a:path>
              </a:pathLst>
            </a:custGeom>
            <a:gradFill rotWithShape="true">
              <a:gsLst>
                <a:gs pos="0">
                  <a:srgbClr val="65CED1">
                    <a:alpha val="100000"/>
                  </a:srgbClr>
                </a:gs>
                <a:gs pos="100000">
                  <a:srgbClr val="1F4E4F">
                    <a:alpha val="100000"/>
                  </a:srgbClr>
                </a:gs>
              </a:gsLst>
              <a:lin ang="2700000"/>
            </a:gradFill>
          </p:spPr>
        </p:sp>
        <p:sp>
          <p:nvSpPr>
            <p:cNvPr name="TextBox 8" id="8"/>
            <p:cNvSpPr txBox="true"/>
            <p:nvPr/>
          </p:nvSpPr>
          <p:spPr>
            <a:xfrm>
              <a:off x="0" y="-57150"/>
              <a:ext cx="1386586" cy="438650"/>
            </a:xfrm>
            <a:prstGeom prst="rect">
              <a:avLst/>
            </a:prstGeom>
          </p:spPr>
          <p:txBody>
            <a:bodyPr anchor="ctr" rtlCol="false" tIns="50800" lIns="50800" bIns="50800" rIns="50800"/>
            <a:lstStyle/>
            <a:p>
              <a:pPr algn="ctr">
                <a:lnSpc>
                  <a:spcPts val="3447"/>
                </a:lnSpc>
              </a:pPr>
            </a:p>
          </p:txBody>
        </p:sp>
      </p:grpSp>
      <p:sp>
        <p:nvSpPr>
          <p:cNvPr name="AutoShape 9" id="9"/>
          <p:cNvSpPr/>
          <p:nvPr/>
        </p:nvSpPr>
        <p:spPr>
          <a:xfrm>
            <a:off x="9924526" y="3575722"/>
            <a:ext cx="7334774" cy="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grpSp>
        <p:nvGrpSpPr>
          <p:cNvPr name="Group 10" id="10"/>
          <p:cNvGrpSpPr/>
          <p:nvPr/>
        </p:nvGrpSpPr>
        <p:grpSpPr>
          <a:xfrm rot="-10800000">
            <a:off x="10944332" y="1999014"/>
            <a:ext cx="4641130" cy="1276944"/>
            <a:chOff x="0" y="0"/>
            <a:chExt cx="1386586" cy="381500"/>
          </a:xfrm>
        </p:grpSpPr>
        <p:sp>
          <p:nvSpPr>
            <p:cNvPr name="Freeform 11" id="11"/>
            <p:cNvSpPr/>
            <p:nvPr/>
          </p:nvSpPr>
          <p:spPr>
            <a:xfrm flipH="false" flipV="false" rot="0">
              <a:off x="0" y="0"/>
              <a:ext cx="1386586" cy="381500"/>
            </a:xfrm>
            <a:custGeom>
              <a:avLst/>
              <a:gdLst/>
              <a:ahLst/>
              <a:cxnLst/>
              <a:rect r="r" b="b" t="t" l="l"/>
              <a:pathLst>
                <a:path h="381500" w="1386586">
                  <a:moveTo>
                    <a:pt x="76733" y="0"/>
                  </a:moveTo>
                  <a:lnTo>
                    <a:pt x="1309853" y="0"/>
                  </a:lnTo>
                  <a:cubicBezTo>
                    <a:pt x="1330203" y="0"/>
                    <a:pt x="1349721" y="8084"/>
                    <a:pt x="1364111" y="22475"/>
                  </a:cubicBezTo>
                  <a:cubicBezTo>
                    <a:pt x="1378501" y="36865"/>
                    <a:pt x="1386586" y="56382"/>
                    <a:pt x="1386586" y="76733"/>
                  </a:cubicBezTo>
                  <a:lnTo>
                    <a:pt x="1386586" y="304767"/>
                  </a:lnTo>
                  <a:cubicBezTo>
                    <a:pt x="1386586" y="325118"/>
                    <a:pt x="1378501" y="344636"/>
                    <a:pt x="1364111" y="359026"/>
                  </a:cubicBezTo>
                  <a:cubicBezTo>
                    <a:pt x="1349721" y="373416"/>
                    <a:pt x="1330203" y="381500"/>
                    <a:pt x="1309853" y="381500"/>
                  </a:cubicBezTo>
                  <a:lnTo>
                    <a:pt x="76733" y="381500"/>
                  </a:lnTo>
                  <a:cubicBezTo>
                    <a:pt x="34355" y="381500"/>
                    <a:pt x="0" y="347146"/>
                    <a:pt x="0" y="304767"/>
                  </a:cubicBezTo>
                  <a:lnTo>
                    <a:pt x="0" y="76733"/>
                  </a:lnTo>
                  <a:cubicBezTo>
                    <a:pt x="0" y="56382"/>
                    <a:pt x="8084" y="36865"/>
                    <a:pt x="22475" y="22475"/>
                  </a:cubicBezTo>
                  <a:cubicBezTo>
                    <a:pt x="36865" y="8084"/>
                    <a:pt x="56382" y="0"/>
                    <a:pt x="76733" y="0"/>
                  </a:cubicBezTo>
                  <a:close/>
                </a:path>
              </a:pathLst>
            </a:custGeom>
            <a:gradFill rotWithShape="true">
              <a:gsLst>
                <a:gs pos="0">
                  <a:srgbClr val="65CED1">
                    <a:alpha val="100000"/>
                  </a:srgbClr>
                </a:gs>
                <a:gs pos="100000">
                  <a:srgbClr val="1F4E4F">
                    <a:alpha val="100000"/>
                  </a:srgbClr>
                </a:gs>
              </a:gsLst>
              <a:lin ang="2700000"/>
            </a:gradFill>
          </p:spPr>
        </p:sp>
        <p:sp>
          <p:nvSpPr>
            <p:cNvPr name="TextBox 12" id="12"/>
            <p:cNvSpPr txBox="true"/>
            <p:nvPr/>
          </p:nvSpPr>
          <p:spPr>
            <a:xfrm>
              <a:off x="0" y="-57150"/>
              <a:ext cx="1386586" cy="438650"/>
            </a:xfrm>
            <a:prstGeom prst="rect">
              <a:avLst/>
            </a:prstGeom>
          </p:spPr>
          <p:txBody>
            <a:bodyPr anchor="ctr" rtlCol="false" tIns="50800" lIns="50800" bIns="50800" rIns="50800"/>
            <a:lstStyle/>
            <a:p>
              <a:pPr algn="ctr">
                <a:lnSpc>
                  <a:spcPts val="3447"/>
                </a:lnSpc>
              </a:pPr>
            </a:p>
          </p:txBody>
        </p:sp>
      </p:grpSp>
      <p:sp>
        <p:nvSpPr>
          <p:cNvPr name="Freeform 13" id="13"/>
          <p:cNvSpPr/>
          <p:nvPr/>
        </p:nvSpPr>
        <p:spPr>
          <a:xfrm flipH="false" flipV="false" rot="0">
            <a:off x="237506" y="5810606"/>
            <a:ext cx="4152550" cy="4114800"/>
          </a:xfrm>
          <a:custGeom>
            <a:avLst/>
            <a:gdLst/>
            <a:ahLst/>
            <a:cxnLst/>
            <a:rect r="r" b="b" t="t" l="l"/>
            <a:pathLst>
              <a:path h="4114800" w="4152550">
                <a:moveTo>
                  <a:pt x="0" y="0"/>
                </a:moveTo>
                <a:lnTo>
                  <a:pt x="4152550" y="0"/>
                </a:lnTo>
                <a:lnTo>
                  <a:pt x="4152550" y="4114800"/>
                </a:lnTo>
                <a:lnTo>
                  <a:pt x="0" y="4114800"/>
                </a:lnTo>
                <a:lnTo>
                  <a:pt x="0" y="0"/>
                </a:lnTo>
                <a:close/>
              </a:path>
            </a:pathLst>
          </a:custGeom>
          <a:blipFill>
            <a:blip r:embed="rId2">
              <a:alphaModFix amt="37000"/>
              <a:extLst>
                <a:ext uri="{96DAC541-7B7A-43D3-8B79-37D633B846F1}">
                  <asvg:svgBlip xmlns:asvg="http://schemas.microsoft.com/office/drawing/2016/SVG/main" r:embed="rId3"/>
                </a:ext>
              </a:extLst>
            </a:blip>
            <a:stretch>
              <a:fillRect l="0" t="0" r="0" b="0"/>
            </a:stretch>
          </a:blipFill>
        </p:spPr>
      </p:sp>
      <p:sp>
        <p:nvSpPr>
          <p:cNvPr name="TextBox 14" id="14"/>
          <p:cNvSpPr txBox="true"/>
          <p:nvPr/>
        </p:nvSpPr>
        <p:spPr>
          <a:xfrm rot="0">
            <a:off x="1655585" y="3894810"/>
            <a:ext cx="6100712" cy="2856391"/>
          </a:xfrm>
          <a:prstGeom prst="rect">
            <a:avLst/>
          </a:prstGeom>
        </p:spPr>
        <p:txBody>
          <a:bodyPr anchor="t" rtlCol="false" tIns="0" lIns="0" bIns="0" rIns="0">
            <a:spAutoFit/>
          </a:bodyPr>
          <a:lstStyle/>
          <a:p>
            <a:pPr algn="ctr">
              <a:lnSpc>
                <a:spcPts val="4521"/>
              </a:lnSpc>
            </a:pPr>
            <a:r>
              <a:rPr lang="en-US" sz="4001">
                <a:solidFill>
                  <a:srgbClr val="FFFFFF"/>
                </a:solidFill>
                <a:latin typeface="HK Grotesk"/>
                <a:ea typeface="HK Grotesk"/>
                <a:cs typeface="HK Grotesk"/>
                <a:sym typeface="HK Grotesk"/>
              </a:rPr>
              <a:t>El árbol se construye dinámicamente según los valores; su recorrido inorden produce el arreglo ordenado de forma natural.</a:t>
            </a:r>
          </a:p>
        </p:txBody>
      </p:sp>
      <p:sp>
        <p:nvSpPr>
          <p:cNvPr name="TextBox 15" id="15"/>
          <p:cNvSpPr txBox="true"/>
          <p:nvPr/>
        </p:nvSpPr>
        <p:spPr>
          <a:xfrm rot="0">
            <a:off x="2803556" y="2234223"/>
            <a:ext cx="3173000" cy="844625"/>
          </a:xfrm>
          <a:prstGeom prst="rect">
            <a:avLst/>
          </a:prstGeom>
        </p:spPr>
        <p:txBody>
          <a:bodyPr anchor="t" rtlCol="false" tIns="0" lIns="0" bIns="0" rIns="0">
            <a:spAutoFit/>
          </a:bodyPr>
          <a:lstStyle/>
          <a:p>
            <a:pPr algn="l">
              <a:lnSpc>
                <a:spcPts val="6584"/>
              </a:lnSpc>
            </a:pPr>
            <a:r>
              <a:rPr lang="en-US" sz="5826">
                <a:solidFill>
                  <a:srgbClr val="FFFFFF"/>
                </a:solidFill>
                <a:latin typeface="HK Grotesk"/>
                <a:ea typeface="HK Grotesk"/>
                <a:cs typeface="HK Grotesk"/>
                <a:sym typeface="HK Grotesk"/>
              </a:rPr>
              <a:t>Ventajas </a:t>
            </a:r>
          </a:p>
        </p:txBody>
      </p:sp>
      <p:sp>
        <p:nvSpPr>
          <p:cNvPr name="TextBox 16" id="16"/>
          <p:cNvSpPr txBox="true"/>
          <p:nvPr/>
        </p:nvSpPr>
        <p:spPr>
          <a:xfrm rot="0">
            <a:off x="10530425" y="3894810"/>
            <a:ext cx="6100712" cy="2288416"/>
          </a:xfrm>
          <a:prstGeom prst="rect">
            <a:avLst/>
          </a:prstGeom>
        </p:spPr>
        <p:txBody>
          <a:bodyPr anchor="t" rtlCol="false" tIns="0" lIns="0" bIns="0" rIns="0">
            <a:spAutoFit/>
          </a:bodyPr>
          <a:lstStyle/>
          <a:p>
            <a:pPr algn="ctr">
              <a:lnSpc>
                <a:spcPts val="4521"/>
              </a:lnSpc>
            </a:pPr>
            <a:r>
              <a:rPr lang="en-US" sz="4001">
                <a:solidFill>
                  <a:srgbClr val="000000"/>
                </a:solidFill>
                <a:latin typeface="HK Grotesk"/>
                <a:ea typeface="HK Grotesk"/>
                <a:cs typeface="HK Grotesk"/>
                <a:sym typeface="HK Grotesk"/>
              </a:rPr>
              <a:t>Depende</a:t>
            </a:r>
            <a:r>
              <a:rPr lang="en-US" sz="4001">
                <a:solidFill>
                  <a:srgbClr val="000000"/>
                </a:solidFill>
                <a:latin typeface="HK Grotesk"/>
                <a:ea typeface="HK Grotesk"/>
                <a:cs typeface="HK Grotesk"/>
                <a:sym typeface="HK Grotesk"/>
              </a:rPr>
              <a:t> del orden de inserción; si el árbol se desbalancea, el proceso se vuelve ineficiente.</a:t>
            </a:r>
          </a:p>
        </p:txBody>
      </p:sp>
      <p:sp>
        <p:nvSpPr>
          <p:cNvPr name="TextBox 17" id="17"/>
          <p:cNvSpPr txBox="true"/>
          <p:nvPr/>
        </p:nvSpPr>
        <p:spPr>
          <a:xfrm rot="0">
            <a:off x="11311364" y="2234223"/>
            <a:ext cx="3907065" cy="844625"/>
          </a:xfrm>
          <a:prstGeom prst="rect">
            <a:avLst/>
          </a:prstGeom>
        </p:spPr>
        <p:txBody>
          <a:bodyPr anchor="t" rtlCol="false" tIns="0" lIns="0" bIns="0" rIns="0">
            <a:spAutoFit/>
          </a:bodyPr>
          <a:lstStyle/>
          <a:p>
            <a:pPr algn="l">
              <a:lnSpc>
                <a:spcPts val="6584"/>
              </a:lnSpc>
            </a:pPr>
            <a:r>
              <a:rPr lang="en-US" sz="5826">
                <a:solidFill>
                  <a:srgbClr val="FFFFFF"/>
                </a:solidFill>
                <a:latin typeface="HK Grotesk"/>
                <a:ea typeface="HK Grotesk"/>
                <a:cs typeface="HK Grotesk"/>
                <a:sym typeface="HK Grotesk"/>
              </a:rPr>
              <a:t>Desventajas</a:t>
            </a:r>
          </a:p>
        </p:txBody>
      </p:sp>
      <p:grpSp>
        <p:nvGrpSpPr>
          <p:cNvPr name="Group 18" id="18"/>
          <p:cNvGrpSpPr/>
          <p:nvPr/>
        </p:nvGrpSpPr>
        <p:grpSpPr>
          <a:xfrm rot="0">
            <a:off x="16227628" y="6320374"/>
            <a:ext cx="595003" cy="59500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20" id="20"/>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21" id="21"/>
          <p:cNvSpPr txBox="true"/>
          <p:nvPr/>
        </p:nvSpPr>
        <p:spPr>
          <a:xfrm rot="0">
            <a:off x="15470798" y="6282274"/>
            <a:ext cx="154141" cy="358808"/>
          </a:xfrm>
          <a:prstGeom prst="rect">
            <a:avLst/>
          </a:prstGeom>
        </p:spPr>
        <p:txBody>
          <a:bodyPr anchor="t" rtlCol="false" tIns="0" lIns="0" bIns="0" rIns="0">
            <a:spAutoFit/>
          </a:bodyPr>
          <a:lstStyle/>
          <a:p>
            <a:pPr algn="ctr">
              <a:lnSpc>
                <a:spcPts val="2971"/>
              </a:lnSpc>
            </a:pPr>
          </a:p>
        </p:txBody>
      </p:sp>
      <p:grpSp>
        <p:nvGrpSpPr>
          <p:cNvPr name="Group 22" id="22"/>
          <p:cNvGrpSpPr/>
          <p:nvPr/>
        </p:nvGrpSpPr>
        <p:grpSpPr>
          <a:xfrm rot="0">
            <a:off x="15285774" y="7329199"/>
            <a:ext cx="595003" cy="595003"/>
            <a:chOff x="0" y="0"/>
            <a:chExt cx="812800" cy="812800"/>
          </a:xfrm>
        </p:grpSpPr>
        <p:sp>
          <p:nvSpPr>
            <p:cNvPr name="Freeform 23" id="2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24" id="24"/>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grpSp>
        <p:nvGrpSpPr>
          <p:cNvPr name="Group 25" id="25"/>
          <p:cNvGrpSpPr/>
          <p:nvPr/>
        </p:nvGrpSpPr>
        <p:grpSpPr>
          <a:xfrm rot="0">
            <a:off x="17185640" y="7329199"/>
            <a:ext cx="595003" cy="595003"/>
            <a:chOff x="0" y="0"/>
            <a:chExt cx="812800" cy="812800"/>
          </a:xfrm>
        </p:grpSpPr>
        <p:sp>
          <p:nvSpPr>
            <p:cNvPr name="Freeform 26" id="2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27" id="27"/>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28" id="28"/>
          <p:cNvSpPr txBox="true"/>
          <p:nvPr/>
        </p:nvSpPr>
        <p:spPr>
          <a:xfrm rot="0">
            <a:off x="17406071" y="7428247"/>
            <a:ext cx="154141" cy="358808"/>
          </a:xfrm>
          <a:prstGeom prst="rect">
            <a:avLst/>
          </a:prstGeom>
        </p:spPr>
        <p:txBody>
          <a:bodyPr anchor="t" rtlCol="false" tIns="0" lIns="0" bIns="0" rIns="0">
            <a:spAutoFit/>
          </a:bodyPr>
          <a:lstStyle/>
          <a:p>
            <a:pPr algn="ctr">
              <a:lnSpc>
                <a:spcPts val="2971"/>
              </a:lnSpc>
            </a:pPr>
          </a:p>
        </p:txBody>
      </p:sp>
      <p:grpSp>
        <p:nvGrpSpPr>
          <p:cNvPr name="Group 29" id="29"/>
          <p:cNvGrpSpPr/>
          <p:nvPr/>
        </p:nvGrpSpPr>
        <p:grpSpPr>
          <a:xfrm rot="0">
            <a:off x="15880777" y="8448194"/>
            <a:ext cx="595003" cy="595003"/>
            <a:chOff x="0" y="0"/>
            <a:chExt cx="812800" cy="812800"/>
          </a:xfrm>
        </p:grpSpPr>
        <p:sp>
          <p:nvSpPr>
            <p:cNvPr name="Freeform 30" id="3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31" id="31"/>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32" id="32"/>
          <p:cNvSpPr txBox="true"/>
          <p:nvPr/>
        </p:nvSpPr>
        <p:spPr>
          <a:xfrm rot="0">
            <a:off x="16101208" y="8547241"/>
            <a:ext cx="154141" cy="358808"/>
          </a:xfrm>
          <a:prstGeom prst="rect">
            <a:avLst/>
          </a:prstGeom>
        </p:spPr>
        <p:txBody>
          <a:bodyPr anchor="t" rtlCol="false" tIns="0" lIns="0" bIns="0" rIns="0">
            <a:spAutoFit/>
          </a:bodyPr>
          <a:lstStyle/>
          <a:p>
            <a:pPr algn="ctr">
              <a:lnSpc>
                <a:spcPts val="2971"/>
              </a:lnSpc>
            </a:pPr>
          </a:p>
        </p:txBody>
      </p:sp>
      <p:grpSp>
        <p:nvGrpSpPr>
          <p:cNvPr name="Group 33" id="33"/>
          <p:cNvGrpSpPr/>
          <p:nvPr/>
        </p:nvGrpSpPr>
        <p:grpSpPr>
          <a:xfrm rot="0">
            <a:off x="14558042" y="8448194"/>
            <a:ext cx="595003" cy="595003"/>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35" id="35"/>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grpSp>
        <p:nvGrpSpPr>
          <p:cNvPr name="Group 36" id="36"/>
          <p:cNvGrpSpPr/>
          <p:nvPr/>
        </p:nvGrpSpPr>
        <p:grpSpPr>
          <a:xfrm rot="0">
            <a:off x="15287960" y="9581919"/>
            <a:ext cx="595003" cy="595003"/>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38" id="38"/>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39" id="39"/>
          <p:cNvSpPr txBox="true"/>
          <p:nvPr/>
        </p:nvSpPr>
        <p:spPr>
          <a:xfrm rot="0">
            <a:off x="15612056" y="9520613"/>
            <a:ext cx="154141" cy="358808"/>
          </a:xfrm>
          <a:prstGeom prst="rect">
            <a:avLst/>
          </a:prstGeom>
        </p:spPr>
        <p:txBody>
          <a:bodyPr anchor="t" rtlCol="false" tIns="0" lIns="0" bIns="0" rIns="0">
            <a:spAutoFit/>
          </a:bodyPr>
          <a:lstStyle/>
          <a:p>
            <a:pPr algn="ctr">
              <a:lnSpc>
                <a:spcPts val="2971"/>
              </a:lnSpc>
            </a:pPr>
          </a:p>
        </p:txBody>
      </p:sp>
      <p:sp>
        <p:nvSpPr>
          <p:cNvPr name="AutoShape 40" id="40"/>
          <p:cNvSpPr/>
          <p:nvPr/>
        </p:nvSpPr>
        <p:spPr>
          <a:xfrm flipH="true">
            <a:off x="15583275" y="6839824"/>
            <a:ext cx="736782" cy="489375"/>
          </a:xfrm>
          <a:prstGeom prst="line">
            <a:avLst/>
          </a:prstGeom>
          <a:ln cap="flat" w="19050">
            <a:solidFill>
              <a:srgbClr val="000000">
                <a:alpha val="25882"/>
              </a:srgbClr>
            </a:solidFill>
            <a:prstDash val="solid"/>
            <a:headEnd type="none" len="sm" w="sm"/>
            <a:tailEnd type="none" len="sm" w="sm"/>
          </a:ln>
        </p:spPr>
      </p:sp>
      <p:sp>
        <p:nvSpPr>
          <p:cNvPr name="AutoShape 41" id="41"/>
          <p:cNvSpPr/>
          <p:nvPr/>
        </p:nvSpPr>
        <p:spPr>
          <a:xfrm>
            <a:off x="16751788" y="6836366"/>
            <a:ext cx="731354" cy="492833"/>
          </a:xfrm>
          <a:prstGeom prst="line">
            <a:avLst/>
          </a:prstGeom>
          <a:ln cap="flat" w="19050">
            <a:solidFill>
              <a:srgbClr val="000000">
                <a:alpha val="25882"/>
              </a:srgbClr>
            </a:solidFill>
            <a:prstDash val="solid"/>
            <a:headEnd type="none" len="sm" w="sm"/>
            <a:tailEnd type="none" len="sm" w="sm"/>
          </a:ln>
        </p:spPr>
      </p:sp>
      <p:sp>
        <p:nvSpPr>
          <p:cNvPr name="AutoShape 42" id="42"/>
          <p:cNvSpPr/>
          <p:nvPr/>
        </p:nvSpPr>
        <p:spPr>
          <a:xfrm flipH="true">
            <a:off x="14855543" y="7924203"/>
            <a:ext cx="536081" cy="523991"/>
          </a:xfrm>
          <a:prstGeom prst="line">
            <a:avLst/>
          </a:prstGeom>
          <a:ln cap="flat" w="19050">
            <a:solidFill>
              <a:srgbClr val="000000">
                <a:alpha val="25882"/>
              </a:srgbClr>
            </a:solidFill>
            <a:prstDash val="solid"/>
            <a:headEnd type="none" len="sm" w="sm"/>
            <a:tailEnd type="none" len="sm" w="sm"/>
          </a:ln>
        </p:spPr>
      </p:sp>
      <p:sp>
        <p:nvSpPr>
          <p:cNvPr name="AutoShape 43" id="43"/>
          <p:cNvSpPr/>
          <p:nvPr/>
        </p:nvSpPr>
        <p:spPr>
          <a:xfrm>
            <a:off x="15796581" y="7834085"/>
            <a:ext cx="381698" cy="579799"/>
          </a:xfrm>
          <a:prstGeom prst="line">
            <a:avLst/>
          </a:prstGeom>
          <a:ln cap="flat" w="19050">
            <a:solidFill>
              <a:srgbClr val="000000">
                <a:alpha val="25882"/>
              </a:srgbClr>
            </a:solidFill>
            <a:prstDash val="solid"/>
            <a:headEnd type="none" len="sm" w="sm"/>
            <a:tailEnd type="none" len="sm" w="sm"/>
          </a:ln>
        </p:spPr>
      </p:sp>
      <p:sp>
        <p:nvSpPr>
          <p:cNvPr name="AutoShape 44" id="44"/>
          <p:cNvSpPr/>
          <p:nvPr/>
        </p:nvSpPr>
        <p:spPr>
          <a:xfrm flipH="true">
            <a:off x="15585462" y="8961771"/>
            <a:ext cx="388320" cy="620149"/>
          </a:xfrm>
          <a:prstGeom prst="line">
            <a:avLst/>
          </a:prstGeom>
          <a:ln cap="flat" w="19050">
            <a:solidFill>
              <a:srgbClr val="000000">
                <a:alpha val="25882"/>
              </a:srgbClr>
            </a:solidFill>
            <a:prstDash val="solid"/>
            <a:headEnd type="none" len="sm" w="sm"/>
            <a:tailEnd type="none" len="sm" w="sm"/>
          </a:ln>
        </p:spPr>
      </p:sp>
    </p:spTree>
  </p:cSld>
  <p:clrMapOvr>
    <a:masterClrMapping/>
  </p:clrMapOvr>
</p:sld>
</file>

<file path=ppt/slides/slide9.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778804" y="2122365"/>
            <a:ext cx="4390857" cy="1376879"/>
            <a:chOff x="0" y="0"/>
            <a:chExt cx="1490287" cy="467322"/>
          </a:xfrm>
        </p:grpSpPr>
        <p:sp>
          <p:nvSpPr>
            <p:cNvPr name="Freeform 3" id="3"/>
            <p:cNvSpPr/>
            <p:nvPr/>
          </p:nvSpPr>
          <p:spPr>
            <a:xfrm flipH="false" flipV="false" rot="0">
              <a:off x="0" y="0"/>
              <a:ext cx="1490287" cy="467322"/>
            </a:xfrm>
            <a:custGeom>
              <a:avLst/>
              <a:gdLst/>
              <a:ahLst/>
              <a:cxnLst/>
              <a:rect r="r" b="b" t="t" l="l"/>
              <a:pathLst>
                <a:path h="467322" w="1490287">
                  <a:moveTo>
                    <a:pt x="15869" y="0"/>
                  </a:moveTo>
                  <a:lnTo>
                    <a:pt x="1474419" y="0"/>
                  </a:lnTo>
                  <a:cubicBezTo>
                    <a:pt x="1483183" y="0"/>
                    <a:pt x="1490287" y="7105"/>
                    <a:pt x="1490287" y="15869"/>
                  </a:cubicBezTo>
                  <a:lnTo>
                    <a:pt x="1490287" y="451453"/>
                  </a:lnTo>
                  <a:cubicBezTo>
                    <a:pt x="1490287" y="460218"/>
                    <a:pt x="1483183" y="467322"/>
                    <a:pt x="1474419" y="467322"/>
                  </a:cubicBezTo>
                  <a:lnTo>
                    <a:pt x="15869" y="467322"/>
                  </a:lnTo>
                  <a:cubicBezTo>
                    <a:pt x="11660" y="467322"/>
                    <a:pt x="7624" y="465650"/>
                    <a:pt x="4648" y="462674"/>
                  </a:cubicBezTo>
                  <a:cubicBezTo>
                    <a:pt x="1672" y="459698"/>
                    <a:pt x="0" y="455662"/>
                    <a:pt x="0" y="451453"/>
                  </a:cubicBezTo>
                  <a:lnTo>
                    <a:pt x="0" y="15869"/>
                  </a:lnTo>
                  <a:cubicBezTo>
                    <a:pt x="0" y="7105"/>
                    <a:pt x="7105" y="0"/>
                    <a:pt x="15869"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4" id="4"/>
            <p:cNvSpPr txBox="true"/>
            <p:nvPr/>
          </p:nvSpPr>
          <p:spPr>
            <a:xfrm>
              <a:off x="0" y="-57150"/>
              <a:ext cx="1490287" cy="524472"/>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5" id="5"/>
          <p:cNvGrpSpPr/>
          <p:nvPr/>
        </p:nvGrpSpPr>
        <p:grpSpPr>
          <a:xfrm rot="0">
            <a:off x="6438535" y="2106002"/>
            <a:ext cx="3973723" cy="1412292"/>
            <a:chOff x="0" y="0"/>
            <a:chExt cx="1348709" cy="479342"/>
          </a:xfrm>
        </p:grpSpPr>
        <p:sp>
          <p:nvSpPr>
            <p:cNvPr name="Freeform 6" id="6"/>
            <p:cNvSpPr/>
            <p:nvPr/>
          </p:nvSpPr>
          <p:spPr>
            <a:xfrm flipH="false" flipV="false" rot="0">
              <a:off x="0" y="0"/>
              <a:ext cx="1348709" cy="479342"/>
            </a:xfrm>
            <a:custGeom>
              <a:avLst/>
              <a:gdLst/>
              <a:ahLst/>
              <a:cxnLst/>
              <a:rect r="r" b="b" t="t" l="l"/>
              <a:pathLst>
                <a:path h="479342" w="1348709">
                  <a:moveTo>
                    <a:pt x="17535" y="0"/>
                  </a:moveTo>
                  <a:lnTo>
                    <a:pt x="1331174" y="0"/>
                  </a:lnTo>
                  <a:cubicBezTo>
                    <a:pt x="1340858" y="0"/>
                    <a:pt x="1348709" y="7850"/>
                    <a:pt x="1348709" y="17535"/>
                  </a:cubicBezTo>
                  <a:lnTo>
                    <a:pt x="1348709" y="461807"/>
                  </a:lnTo>
                  <a:cubicBezTo>
                    <a:pt x="1348709" y="471491"/>
                    <a:pt x="1340858" y="479342"/>
                    <a:pt x="1331174" y="479342"/>
                  </a:cubicBezTo>
                  <a:lnTo>
                    <a:pt x="17535" y="479342"/>
                  </a:lnTo>
                  <a:cubicBezTo>
                    <a:pt x="7850" y="479342"/>
                    <a:pt x="0" y="471491"/>
                    <a:pt x="0" y="461807"/>
                  </a:cubicBezTo>
                  <a:lnTo>
                    <a:pt x="0" y="17535"/>
                  </a:lnTo>
                  <a:cubicBezTo>
                    <a:pt x="0" y="7850"/>
                    <a:pt x="7850" y="0"/>
                    <a:pt x="17535"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7" id="7"/>
            <p:cNvSpPr txBox="true"/>
            <p:nvPr/>
          </p:nvSpPr>
          <p:spPr>
            <a:xfrm>
              <a:off x="0" y="-57150"/>
              <a:ext cx="1348709" cy="536492"/>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8" id="8"/>
          <p:cNvSpPr txBox="true"/>
          <p:nvPr/>
        </p:nvSpPr>
        <p:spPr>
          <a:xfrm rot="0">
            <a:off x="1215476" y="1047750"/>
            <a:ext cx="9864642" cy="759822"/>
          </a:xfrm>
          <a:prstGeom prst="rect">
            <a:avLst/>
          </a:prstGeom>
        </p:spPr>
        <p:txBody>
          <a:bodyPr anchor="t" rtlCol="false" tIns="0" lIns="0" bIns="0" rIns="0">
            <a:spAutoFit/>
          </a:bodyPr>
          <a:lstStyle/>
          <a:p>
            <a:pPr algn="l">
              <a:lnSpc>
                <a:spcPts val="5776"/>
              </a:lnSpc>
            </a:pPr>
            <a:r>
              <a:rPr lang="en-US" sz="5112">
                <a:solidFill>
                  <a:srgbClr val="000000"/>
                </a:solidFill>
                <a:latin typeface="Archivo Black"/>
                <a:ea typeface="Archivo Black"/>
                <a:cs typeface="Archivo Black"/>
                <a:sym typeface="Archivo Black"/>
              </a:rPr>
              <a:t>3. Características Técnicas </a:t>
            </a:r>
          </a:p>
        </p:txBody>
      </p:sp>
      <p:sp>
        <p:nvSpPr>
          <p:cNvPr name="TextBox 9" id="9"/>
          <p:cNvSpPr txBox="true"/>
          <p:nvPr/>
        </p:nvSpPr>
        <p:spPr>
          <a:xfrm rot="0">
            <a:off x="1085988" y="2373656"/>
            <a:ext cx="3776490" cy="953008"/>
          </a:xfrm>
          <a:prstGeom prst="rect">
            <a:avLst/>
          </a:prstGeom>
        </p:spPr>
        <p:txBody>
          <a:bodyPr anchor="t" rtlCol="false" tIns="0" lIns="0" bIns="0" rIns="0">
            <a:spAutoFit/>
          </a:bodyPr>
          <a:lstStyle/>
          <a:p>
            <a:pPr algn="l">
              <a:lnSpc>
                <a:spcPts val="2485"/>
              </a:lnSpc>
            </a:pPr>
            <a:r>
              <a:rPr lang="en-US" sz="2199">
                <a:solidFill>
                  <a:srgbClr val="FFFFFF"/>
                </a:solidFill>
                <a:latin typeface="Archivo Black"/>
                <a:ea typeface="Archivo Black"/>
                <a:cs typeface="Archivo Black"/>
                <a:sym typeface="Archivo Black"/>
              </a:rPr>
              <a:t>Estabilidad: ¿Mantiene el orden relativo de elementos iguales?</a:t>
            </a:r>
          </a:p>
        </p:txBody>
      </p:sp>
      <p:sp>
        <p:nvSpPr>
          <p:cNvPr name="TextBox 10" id="10"/>
          <p:cNvSpPr txBox="true"/>
          <p:nvPr/>
        </p:nvSpPr>
        <p:spPr>
          <a:xfrm rot="0">
            <a:off x="6937909" y="2340407"/>
            <a:ext cx="3159029" cy="953008"/>
          </a:xfrm>
          <a:prstGeom prst="rect">
            <a:avLst/>
          </a:prstGeom>
        </p:spPr>
        <p:txBody>
          <a:bodyPr anchor="t" rtlCol="false" tIns="0" lIns="0" bIns="0" rIns="0">
            <a:spAutoFit/>
          </a:bodyPr>
          <a:lstStyle/>
          <a:p>
            <a:pPr algn="l">
              <a:lnSpc>
                <a:spcPts val="2485"/>
              </a:lnSpc>
            </a:pPr>
            <a:r>
              <a:rPr lang="en-US" sz="2199">
                <a:solidFill>
                  <a:srgbClr val="FFFFFF"/>
                </a:solidFill>
                <a:latin typeface="Archivo Black"/>
                <a:ea typeface="Archivo Black"/>
                <a:cs typeface="Archivo Black"/>
                <a:sym typeface="Archivo Black"/>
              </a:rPr>
              <a:t>In-place: ¿Usa espacio adicional constante? </a:t>
            </a:r>
          </a:p>
        </p:txBody>
      </p:sp>
      <p:sp>
        <p:nvSpPr>
          <p:cNvPr name="TextBox 11" id="11"/>
          <p:cNvSpPr txBox="true"/>
          <p:nvPr/>
        </p:nvSpPr>
        <p:spPr>
          <a:xfrm rot="0">
            <a:off x="425666" y="3823094"/>
            <a:ext cx="5124830" cy="6032002"/>
          </a:xfrm>
          <a:prstGeom prst="rect">
            <a:avLst/>
          </a:prstGeom>
        </p:spPr>
        <p:txBody>
          <a:bodyPr anchor="t" rtlCol="false" tIns="0" lIns="0" bIns="0" rIns="0">
            <a:spAutoFit/>
          </a:bodyPr>
          <a:lstStyle/>
          <a:p>
            <a:pPr algn="l">
              <a:lnSpc>
                <a:spcPts val="2172"/>
              </a:lnSpc>
            </a:pPr>
            <a:r>
              <a:rPr lang="en-US" sz="1671" spc="-8">
                <a:solidFill>
                  <a:srgbClr val="343434"/>
                </a:solidFill>
                <a:latin typeface="HK Grotesk"/>
                <a:ea typeface="HK Grotesk"/>
                <a:cs typeface="HK Grotesk"/>
                <a:sym typeface="HK Grotesk"/>
              </a:rPr>
              <a:t>Descripción: Un algoritmo de ordenamiento se considera estable si mantiene el orden relativo de los elementos iguales en el arreglo de entrada. Por ejemplo, si tienes dos elementos con el mismo valor, su orden original debe mantenerse en la salida ordenada.</a:t>
            </a:r>
          </a:p>
          <a:p>
            <a:pPr algn="l">
              <a:lnSpc>
                <a:spcPts val="2172"/>
              </a:lnSpc>
            </a:pPr>
            <a:r>
              <a:rPr lang="en-US" sz="1671" spc="-8">
                <a:solidFill>
                  <a:srgbClr val="343434"/>
                </a:solidFill>
                <a:latin typeface="HK Grotesk"/>
                <a:ea typeface="HK Grotesk"/>
                <a:cs typeface="HK Grotesk"/>
                <a:sym typeface="HK Grotesk"/>
              </a:rPr>
              <a:t>Cómo lo maneja Tree Sort: El algoritmo Tree Sort básico, tal como está implementado aquí, no es inherentemente estable. El proceso de inserción en el árbol de búsqueda binaria no garantiza que los elementos con el mismo valor se inserten en un orden específico (izquierda o derecha). La función insert coloca los elementos con la misma clave a la derecha, pero esto no garantiza la estabilidad si el arreglo de entrada tiene duplicados que no están ya en orden ordenado.</a:t>
            </a:r>
          </a:p>
          <a:p>
            <a:pPr algn="l">
              <a:lnSpc>
                <a:spcPts val="2172"/>
              </a:lnSpc>
            </a:pPr>
            <a:r>
              <a:rPr lang="en-US" sz="1671" spc="-8">
                <a:solidFill>
                  <a:srgbClr val="343434"/>
                </a:solidFill>
                <a:latin typeface="HK Grotesk"/>
                <a:ea typeface="HK Grotesk"/>
                <a:cs typeface="HK Grotesk"/>
                <a:sym typeface="HK Grotesk"/>
              </a:rPr>
              <a:t>Explicación con ejemplo:</a:t>
            </a:r>
          </a:p>
          <a:p>
            <a:pPr algn="l" marL="0" indent="0" lvl="0">
              <a:lnSpc>
                <a:spcPts val="2172"/>
              </a:lnSpc>
              <a:spcBef>
                <a:spcPct val="0"/>
              </a:spcBef>
            </a:pPr>
            <a:r>
              <a:rPr lang="en-US" sz="1671" spc="-8">
                <a:solidFill>
                  <a:srgbClr val="343434"/>
                </a:solidFill>
                <a:latin typeface="HK Grotesk"/>
                <a:ea typeface="HK Grotesk"/>
                <a:cs typeface="HK Grotesk"/>
                <a:sym typeface="HK Grotesk"/>
              </a:rPr>
              <a:t>Considera el arreglo de entrada [5, 2, 8, 1, 14, 17, 4, 3, 19, 5]. El primer 5 se inserta como la raíz. El segundo 5 se insertará como hijo derecho de la raíz. Al recorrer en inorden, el primer 5 aparecerá antes que el segundo 5 en la salida.</a:t>
            </a:r>
          </a:p>
          <a:p>
            <a:pPr algn="l" marL="0" indent="0" lvl="0">
              <a:lnSpc>
                <a:spcPts val="2172"/>
              </a:lnSpc>
              <a:spcBef>
                <a:spcPct val="0"/>
              </a:spcBef>
            </a:pPr>
          </a:p>
        </p:txBody>
      </p:sp>
      <p:sp>
        <p:nvSpPr>
          <p:cNvPr name="TextBox 12" id="12"/>
          <p:cNvSpPr txBox="true"/>
          <p:nvPr/>
        </p:nvSpPr>
        <p:spPr>
          <a:xfrm rot="0">
            <a:off x="6171506" y="3794519"/>
            <a:ext cx="4779545" cy="5997722"/>
          </a:xfrm>
          <a:prstGeom prst="rect">
            <a:avLst/>
          </a:prstGeom>
        </p:spPr>
        <p:txBody>
          <a:bodyPr anchor="t" rtlCol="false" tIns="0" lIns="0" bIns="0" rIns="0">
            <a:spAutoFit/>
          </a:bodyPr>
          <a:lstStyle/>
          <a:p>
            <a:pPr algn="l">
              <a:lnSpc>
                <a:spcPts val="2259"/>
              </a:lnSpc>
            </a:pPr>
            <a:r>
              <a:rPr lang="en-US" sz="1738" spc="-8">
                <a:solidFill>
                  <a:srgbClr val="343434"/>
                </a:solidFill>
                <a:latin typeface="HK Grotesk"/>
                <a:ea typeface="HK Grotesk"/>
                <a:cs typeface="HK Grotesk"/>
                <a:sym typeface="HK Grotesk"/>
              </a:rPr>
              <a:t>Descripción: Un algoritmo de ordenamiento in-place utiliza una cantidad mínima de espacio de memoria adicional durante el proceso de ordenamiento. Idealmente, esto significa usar solo una cantidad constante de espacio adicional, independientemente del tamaño de la entrada (complejidad espacial O(1)).</a:t>
            </a:r>
          </a:p>
          <a:p>
            <a:pPr algn="l">
              <a:lnSpc>
                <a:spcPts val="2259"/>
              </a:lnSpc>
            </a:pPr>
            <a:r>
              <a:rPr lang="en-US" sz="1738" spc="-8">
                <a:solidFill>
                  <a:srgbClr val="343434"/>
                </a:solidFill>
                <a:latin typeface="HK Grotesk"/>
                <a:ea typeface="HK Grotesk"/>
                <a:cs typeface="HK Grotesk"/>
                <a:sym typeface="HK Grotesk"/>
              </a:rPr>
              <a:t>Cómo lo maneja Tree Sort: Tree Sort no es un algoritmo in-place. Requiere memoria adicional para construir el árbol de búsqueda binaria. El espacio requerido para el árbol depende del número de elementos en el arreglo de entrada. En el peor de los casos (por ejemplo, un árbol sesgado), la complejidad espacial puede ser O(n), donde n es el número de elementos en el arreglo.</a:t>
            </a:r>
          </a:p>
          <a:p>
            <a:pPr algn="l" marL="0" indent="0" lvl="0">
              <a:lnSpc>
                <a:spcPts val="2259"/>
              </a:lnSpc>
              <a:spcBef>
                <a:spcPct val="0"/>
              </a:spcBef>
            </a:pPr>
            <a:r>
              <a:rPr lang="en-US" sz="1738" spc="-8">
                <a:solidFill>
                  <a:srgbClr val="343434"/>
                </a:solidFill>
                <a:latin typeface="HK Grotesk"/>
                <a:ea typeface="HK Grotesk"/>
                <a:cs typeface="HK Grotesk"/>
                <a:sym typeface="HK Grotesk"/>
              </a:rPr>
              <a:t>Explicación: Las estructuras Node y el árbol construido a partir de ellas consumen memoria proporcional al número de elementos que se están ordenando. La función printTree también asigna memoria para un canvas.</a:t>
            </a:r>
          </a:p>
          <a:p>
            <a:pPr algn="l" marL="0" indent="0" lvl="0">
              <a:lnSpc>
                <a:spcPts val="2259"/>
              </a:lnSpc>
              <a:spcBef>
                <a:spcPct val="0"/>
              </a:spcBef>
            </a:pPr>
          </a:p>
        </p:txBody>
      </p:sp>
      <p:grpSp>
        <p:nvGrpSpPr>
          <p:cNvPr name="Group 13" id="13"/>
          <p:cNvGrpSpPr/>
          <p:nvPr/>
        </p:nvGrpSpPr>
        <p:grpSpPr>
          <a:xfrm rot="0">
            <a:off x="11996060" y="2106002"/>
            <a:ext cx="4014702" cy="1449597"/>
            <a:chOff x="0" y="0"/>
            <a:chExt cx="1362618" cy="492003"/>
          </a:xfrm>
        </p:grpSpPr>
        <p:sp>
          <p:nvSpPr>
            <p:cNvPr name="Freeform 14" id="14"/>
            <p:cNvSpPr/>
            <p:nvPr/>
          </p:nvSpPr>
          <p:spPr>
            <a:xfrm flipH="false" flipV="false" rot="0">
              <a:off x="0" y="0"/>
              <a:ext cx="1362618" cy="492003"/>
            </a:xfrm>
            <a:custGeom>
              <a:avLst/>
              <a:gdLst/>
              <a:ahLst/>
              <a:cxnLst/>
              <a:rect r="r" b="b" t="t" l="l"/>
              <a:pathLst>
                <a:path h="492003" w="1362618">
                  <a:moveTo>
                    <a:pt x="17356" y="0"/>
                  </a:moveTo>
                  <a:lnTo>
                    <a:pt x="1345262" y="0"/>
                  </a:lnTo>
                  <a:cubicBezTo>
                    <a:pt x="1354847" y="0"/>
                    <a:pt x="1362618" y="7770"/>
                    <a:pt x="1362618" y="17356"/>
                  </a:cubicBezTo>
                  <a:lnTo>
                    <a:pt x="1362618" y="474648"/>
                  </a:lnTo>
                  <a:cubicBezTo>
                    <a:pt x="1362618" y="479251"/>
                    <a:pt x="1360789" y="483665"/>
                    <a:pt x="1357534" y="486920"/>
                  </a:cubicBezTo>
                  <a:cubicBezTo>
                    <a:pt x="1354280" y="490175"/>
                    <a:pt x="1349865" y="492003"/>
                    <a:pt x="1345262" y="492003"/>
                  </a:cubicBezTo>
                  <a:lnTo>
                    <a:pt x="17356" y="492003"/>
                  </a:lnTo>
                  <a:cubicBezTo>
                    <a:pt x="7770" y="492003"/>
                    <a:pt x="0" y="484233"/>
                    <a:pt x="0" y="474648"/>
                  </a:cubicBezTo>
                  <a:lnTo>
                    <a:pt x="0" y="17356"/>
                  </a:lnTo>
                  <a:cubicBezTo>
                    <a:pt x="0" y="7770"/>
                    <a:pt x="7770" y="0"/>
                    <a:pt x="17356"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5" id="15"/>
            <p:cNvSpPr txBox="true"/>
            <p:nvPr/>
          </p:nvSpPr>
          <p:spPr>
            <a:xfrm>
              <a:off x="0" y="-57150"/>
              <a:ext cx="1362618" cy="54915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16" id="16"/>
          <p:cNvSpPr txBox="true"/>
          <p:nvPr/>
        </p:nvSpPr>
        <p:spPr>
          <a:xfrm rot="0">
            <a:off x="12130410" y="2349534"/>
            <a:ext cx="4014702" cy="953008"/>
          </a:xfrm>
          <a:prstGeom prst="rect">
            <a:avLst/>
          </a:prstGeom>
        </p:spPr>
        <p:txBody>
          <a:bodyPr anchor="t" rtlCol="false" tIns="0" lIns="0" bIns="0" rIns="0">
            <a:spAutoFit/>
          </a:bodyPr>
          <a:lstStyle/>
          <a:p>
            <a:pPr algn="l">
              <a:lnSpc>
                <a:spcPts val="2485"/>
              </a:lnSpc>
            </a:pPr>
            <a:r>
              <a:rPr lang="en-US" sz="2199">
                <a:solidFill>
                  <a:srgbClr val="FFFFFF"/>
                </a:solidFill>
                <a:latin typeface="Archivo Black"/>
                <a:ea typeface="Archivo Black"/>
                <a:cs typeface="Archivo Black"/>
                <a:sym typeface="Archivo Black"/>
              </a:rPr>
              <a:t> Adaptabilidad: ¿Se beneficia de listas parcialmente ordenadas? </a:t>
            </a:r>
          </a:p>
        </p:txBody>
      </p:sp>
      <p:sp>
        <p:nvSpPr>
          <p:cNvPr name="TextBox 17" id="17"/>
          <p:cNvSpPr txBox="true"/>
          <p:nvPr/>
        </p:nvSpPr>
        <p:spPr>
          <a:xfrm rot="0">
            <a:off x="11570176" y="3730715"/>
            <a:ext cx="5398940" cy="6061527"/>
          </a:xfrm>
          <a:prstGeom prst="rect">
            <a:avLst/>
          </a:prstGeom>
        </p:spPr>
        <p:txBody>
          <a:bodyPr anchor="t" rtlCol="false" tIns="0" lIns="0" bIns="0" rIns="0">
            <a:spAutoFit/>
          </a:bodyPr>
          <a:lstStyle/>
          <a:p>
            <a:pPr algn="l">
              <a:lnSpc>
                <a:spcPts val="2084"/>
              </a:lnSpc>
            </a:pPr>
            <a:r>
              <a:rPr lang="en-US" sz="1603" spc="-8">
                <a:solidFill>
                  <a:srgbClr val="343434"/>
                </a:solidFill>
                <a:latin typeface="HK Grotesk"/>
                <a:ea typeface="HK Grotesk"/>
                <a:cs typeface="HK Grotesk"/>
                <a:sym typeface="HK Grotesk"/>
              </a:rPr>
              <a:t>Descripción: Un algoritmo de ordenamiento adaptable aprovecha cualquier orden existente en los datos de entrada. Si el arreglo de entrada ya está parcialmente ordenado, un algoritmo adaptable funcionará mejor (por ejemplo, se ejecutará más rápido) que un algoritmo no adaptable.</a:t>
            </a:r>
          </a:p>
          <a:p>
            <a:pPr algn="l">
              <a:lnSpc>
                <a:spcPts val="2084"/>
              </a:lnSpc>
            </a:pPr>
            <a:r>
              <a:rPr lang="en-US" sz="1603" spc="-8">
                <a:solidFill>
                  <a:srgbClr val="343434"/>
                </a:solidFill>
                <a:latin typeface="HK Grotesk"/>
                <a:ea typeface="HK Grotesk"/>
                <a:cs typeface="HK Grotesk"/>
                <a:sym typeface="HK Grotesk"/>
              </a:rPr>
              <a:t>Cómo lo maneja Tree Sort: Tree Sort tiene adaptabilidad limitada. Si bien es cierto que si el arreglo de entrada ya está ordenado, la inserción en el árbol resultará en un árbol sesgado (ya sea todos los hijos izquierdos o todos los hijos derechos). Esto significa que la altura del árbol estará cerca de n, y las operaciones de inserción y recorrido tomarán más tiempo, negando cualquier beneficio potencial de la naturaleza pre-ordenada de los datos.</a:t>
            </a:r>
          </a:p>
          <a:p>
            <a:pPr algn="l">
              <a:lnSpc>
                <a:spcPts val="2084"/>
              </a:lnSpc>
            </a:pPr>
            <a:r>
              <a:rPr lang="en-US" sz="1603" spc="-8">
                <a:solidFill>
                  <a:srgbClr val="343434"/>
                </a:solidFill>
                <a:latin typeface="HK Grotesk"/>
                <a:ea typeface="HK Grotesk"/>
                <a:cs typeface="HK Grotesk"/>
                <a:sym typeface="HK Grotesk"/>
              </a:rPr>
              <a:t>Explicación:</a:t>
            </a:r>
          </a:p>
          <a:p>
            <a:pPr algn="l" marL="346227" indent="-173114" lvl="1">
              <a:lnSpc>
                <a:spcPts val="2084"/>
              </a:lnSpc>
              <a:buFont typeface="Arial"/>
              <a:buChar char="•"/>
            </a:pPr>
            <a:r>
              <a:rPr lang="en-US" sz="1603" spc="-8">
                <a:solidFill>
                  <a:srgbClr val="343434"/>
                </a:solidFill>
                <a:latin typeface="HK Grotesk"/>
                <a:ea typeface="HK Grotesk"/>
                <a:cs typeface="HK Grotesk"/>
                <a:sym typeface="HK Grotesk"/>
              </a:rPr>
              <a:t>Mejor Caso: Si la entrada es tal que crea un árbol equilibrado, el rendimiento es mejor, pero esto no está directamente relacionado con que la entrada esté parcialmente ordenada.</a:t>
            </a:r>
          </a:p>
          <a:p>
            <a:pPr algn="l" marL="346227" indent="-173114" lvl="1">
              <a:lnSpc>
                <a:spcPts val="2084"/>
              </a:lnSpc>
              <a:spcBef>
                <a:spcPct val="0"/>
              </a:spcBef>
              <a:buFont typeface="Arial"/>
              <a:buChar char="•"/>
            </a:pPr>
            <a:r>
              <a:rPr lang="en-US" sz="1603" spc="-8">
                <a:solidFill>
                  <a:srgbClr val="343434"/>
                </a:solidFill>
                <a:latin typeface="HK Grotesk"/>
                <a:ea typeface="HK Grotesk"/>
                <a:cs typeface="HK Grotesk"/>
                <a:sym typeface="HK Grotesk"/>
              </a:rPr>
              <a:t>Peor Caso: Si la entrada está ordenada o invertida, el árbol se convierte en una lista enlazada, lo que lleva a un tiempo de inserción de O(n) para cada elemento y una complejidad general de O(n^2).</a:t>
            </a:r>
          </a:p>
          <a:p>
            <a:pPr algn="l" marL="0" indent="0" lvl="0">
              <a:lnSpc>
                <a:spcPts val="2084"/>
              </a:lnSpc>
              <a:spcBef>
                <a:spcPct val="0"/>
              </a:spcBef>
            </a:pPr>
          </a:p>
        </p:txBody>
      </p:sp>
      <p:grpSp>
        <p:nvGrpSpPr>
          <p:cNvPr name="Group 18" id="18"/>
          <p:cNvGrpSpPr/>
          <p:nvPr/>
        </p:nvGrpSpPr>
        <p:grpSpPr>
          <a:xfrm rot="0">
            <a:off x="17259300" y="0"/>
            <a:ext cx="1028700" cy="10287000"/>
            <a:chOff x="0" y="0"/>
            <a:chExt cx="270933" cy="2709333"/>
          </a:xfrm>
        </p:grpSpPr>
        <p:sp>
          <p:nvSpPr>
            <p:cNvPr name="Freeform 19" id="19"/>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20" id="20"/>
            <p:cNvSpPr txBox="true"/>
            <p:nvPr/>
          </p:nvSpPr>
          <p:spPr>
            <a:xfrm>
              <a:off x="0" y="-57150"/>
              <a:ext cx="270933" cy="2766483"/>
            </a:xfrm>
            <a:prstGeom prst="rect">
              <a:avLst/>
            </a:prstGeom>
          </p:spPr>
          <p:txBody>
            <a:bodyPr anchor="ctr" rtlCol="false" tIns="50800" lIns="50800" bIns="50800" rIns="50800"/>
            <a:lstStyle/>
            <a:p>
              <a:pPr algn="ctr" marL="0" indent="0" lvl="0">
                <a:lnSpc>
                  <a:spcPts val="3447"/>
                </a:lnSpc>
                <a:spcBef>
                  <a:spcPct val="0"/>
                </a:spcBef>
              </a:pPr>
            </a:p>
          </p:txBody>
        </p:sp>
      </p:gr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8629914"/>
            <a:ext cx="18277775" cy="1657086"/>
            <a:chOff x="0" y="0"/>
            <a:chExt cx="4813900" cy="436434"/>
          </a:xfrm>
        </p:grpSpPr>
        <p:sp>
          <p:nvSpPr>
            <p:cNvPr name="Freeform 3" id="3"/>
            <p:cNvSpPr/>
            <p:nvPr/>
          </p:nvSpPr>
          <p:spPr>
            <a:xfrm flipH="false" flipV="false" rot="0">
              <a:off x="0" y="0"/>
              <a:ext cx="4813900" cy="436434"/>
            </a:xfrm>
            <a:custGeom>
              <a:avLst/>
              <a:gdLst/>
              <a:ahLst/>
              <a:cxnLst/>
              <a:rect r="r" b="b" t="t" l="l"/>
              <a:pathLst>
                <a:path h="436434" w="4813900">
                  <a:moveTo>
                    <a:pt x="0" y="0"/>
                  </a:moveTo>
                  <a:lnTo>
                    <a:pt x="4813900" y="0"/>
                  </a:lnTo>
                  <a:lnTo>
                    <a:pt x="4813900" y="436434"/>
                  </a:lnTo>
                  <a:lnTo>
                    <a:pt x="0" y="436434"/>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493584"/>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1028700" y="877900"/>
            <a:ext cx="8773902" cy="759822"/>
          </a:xfrm>
          <a:prstGeom prst="rect">
            <a:avLst/>
          </a:prstGeom>
        </p:spPr>
        <p:txBody>
          <a:bodyPr anchor="t" rtlCol="false" tIns="0" lIns="0" bIns="0" rIns="0">
            <a:spAutoFit/>
          </a:bodyPr>
          <a:lstStyle/>
          <a:p>
            <a:pPr algn="l">
              <a:lnSpc>
                <a:spcPts val="5776"/>
              </a:lnSpc>
            </a:pPr>
            <a:r>
              <a:rPr lang="en-US" sz="5112">
                <a:solidFill>
                  <a:srgbClr val="000000"/>
                </a:solidFill>
                <a:latin typeface="Archivo Black"/>
                <a:ea typeface="Archivo Black"/>
                <a:cs typeface="Archivo Black"/>
                <a:sym typeface="Archivo Black"/>
              </a:rPr>
              <a:t>4. Eficiencia</a:t>
            </a:r>
          </a:p>
        </p:txBody>
      </p:sp>
      <p:grpSp>
        <p:nvGrpSpPr>
          <p:cNvPr name="Group 6" id="6"/>
          <p:cNvGrpSpPr/>
          <p:nvPr/>
        </p:nvGrpSpPr>
        <p:grpSpPr>
          <a:xfrm rot="0">
            <a:off x="1629672" y="1951220"/>
            <a:ext cx="9834995" cy="694309"/>
            <a:chOff x="0" y="0"/>
            <a:chExt cx="3338065" cy="235653"/>
          </a:xfrm>
        </p:grpSpPr>
        <p:sp>
          <p:nvSpPr>
            <p:cNvPr name="Freeform 7" id="7"/>
            <p:cNvSpPr/>
            <p:nvPr/>
          </p:nvSpPr>
          <p:spPr>
            <a:xfrm flipH="false" flipV="false" rot="0">
              <a:off x="0" y="0"/>
              <a:ext cx="3338065" cy="235653"/>
            </a:xfrm>
            <a:custGeom>
              <a:avLst/>
              <a:gdLst/>
              <a:ahLst/>
              <a:cxnLst/>
              <a:rect r="r" b="b" t="t" l="l"/>
              <a:pathLst>
                <a:path h="235653" w="3338065">
                  <a:moveTo>
                    <a:pt x="7085" y="0"/>
                  </a:moveTo>
                  <a:lnTo>
                    <a:pt x="3330980" y="0"/>
                  </a:lnTo>
                  <a:cubicBezTo>
                    <a:pt x="3332859" y="0"/>
                    <a:pt x="3334661" y="746"/>
                    <a:pt x="3335990" y="2075"/>
                  </a:cubicBezTo>
                  <a:cubicBezTo>
                    <a:pt x="3337318" y="3404"/>
                    <a:pt x="3338065" y="5206"/>
                    <a:pt x="3338065" y="7085"/>
                  </a:cubicBezTo>
                  <a:lnTo>
                    <a:pt x="3338065" y="228569"/>
                  </a:lnTo>
                  <a:cubicBezTo>
                    <a:pt x="3338065" y="230448"/>
                    <a:pt x="3337318" y="232250"/>
                    <a:pt x="3335990" y="233578"/>
                  </a:cubicBezTo>
                  <a:cubicBezTo>
                    <a:pt x="3334661" y="234907"/>
                    <a:pt x="3332859" y="235653"/>
                    <a:pt x="3330980" y="235653"/>
                  </a:cubicBezTo>
                  <a:lnTo>
                    <a:pt x="7085" y="235653"/>
                  </a:lnTo>
                  <a:cubicBezTo>
                    <a:pt x="3172" y="235653"/>
                    <a:pt x="0" y="232481"/>
                    <a:pt x="0" y="228569"/>
                  </a:cubicBezTo>
                  <a:lnTo>
                    <a:pt x="0" y="7085"/>
                  </a:lnTo>
                  <a:cubicBezTo>
                    <a:pt x="0" y="5206"/>
                    <a:pt x="746" y="3404"/>
                    <a:pt x="2075" y="2075"/>
                  </a:cubicBezTo>
                  <a:cubicBezTo>
                    <a:pt x="3404" y="746"/>
                    <a:pt x="5206" y="0"/>
                    <a:pt x="7085"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8" id="8"/>
            <p:cNvSpPr txBox="true"/>
            <p:nvPr/>
          </p:nvSpPr>
          <p:spPr>
            <a:xfrm>
              <a:off x="0" y="-47625"/>
              <a:ext cx="3338065" cy="283278"/>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9" id="9"/>
          <p:cNvGrpSpPr/>
          <p:nvPr/>
        </p:nvGrpSpPr>
        <p:grpSpPr>
          <a:xfrm rot="0">
            <a:off x="1629672" y="2959854"/>
            <a:ext cx="9834995" cy="5386606"/>
            <a:chOff x="0" y="0"/>
            <a:chExt cx="3338065" cy="1828251"/>
          </a:xfrm>
        </p:grpSpPr>
        <p:sp>
          <p:nvSpPr>
            <p:cNvPr name="Freeform 10" id="10"/>
            <p:cNvSpPr/>
            <p:nvPr/>
          </p:nvSpPr>
          <p:spPr>
            <a:xfrm flipH="false" flipV="false" rot="0">
              <a:off x="0" y="0"/>
              <a:ext cx="3338065" cy="1828251"/>
            </a:xfrm>
            <a:custGeom>
              <a:avLst/>
              <a:gdLst/>
              <a:ahLst/>
              <a:cxnLst/>
              <a:rect r="r" b="b" t="t" l="l"/>
              <a:pathLst>
                <a:path h="1828251" w="3338065">
                  <a:moveTo>
                    <a:pt x="7085" y="0"/>
                  </a:moveTo>
                  <a:lnTo>
                    <a:pt x="3330980" y="0"/>
                  </a:lnTo>
                  <a:cubicBezTo>
                    <a:pt x="3332859" y="0"/>
                    <a:pt x="3334661" y="746"/>
                    <a:pt x="3335990" y="2075"/>
                  </a:cubicBezTo>
                  <a:cubicBezTo>
                    <a:pt x="3337318" y="3404"/>
                    <a:pt x="3338065" y="5206"/>
                    <a:pt x="3338065" y="7085"/>
                  </a:cubicBezTo>
                  <a:lnTo>
                    <a:pt x="3338065" y="1821166"/>
                  </a:lnTo>
                  <a:cubicBezTo>
                    <a:pt x="3338065" y="1825079"/>
                    <a:pt x="3334893" y="1828251"/>
                    <a:pt x="3330980" y="1828251"/>
                  </a:cubicBezTo>
                  <a:lnTo>
                    <a:pt x="7085" y="1828251"/>
                  </a:lnTo>
                  <a:cubicBezTo>
                    <a:pt x="5206" y="1828251"/>
                    <a:pt x="3404" y="1827505"/>
                    <a:pt x="2075" y="1826176"/>
                  </a:cubicBezTo>
                  <a:cubicBezTo>
                    <a:pt x="746" y="1824847"/>
                    <a:pt x="0" y="1823045"/>
                    <a:pt x="0" y="1821166"/>
                  </a:cubicBezTo>
                  <a:lnTo>
                    <a:pt x="0" y="7085"/>
                  </a:lnTo>
                  <a:cubicBezTo>
                    <a:pt x="0" y="5206"/>
                    <a:pt x="746" y="3404"/>
                    <a:pt x="2075" y="2075"/>
                  </a:cubicBezTo>
                  <a:cubicBezTo>
                    <a:pt x="3404" y="746"/>
                    <a:pt x="5206" y="0"/>
                    <a:pt x="7085"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1" id="11"/>
            <p:cNvSpPr txBox="true"/>
            <p:nvPr/>
          </p:nvSpPr>
          <p:spPr>
            <a:xfrm>
              <a:off x="0" y="-47625"/>
              <a:ext cx="3338065" cy="1875876"/>
            </a:xfrm>
            <a:prstGeom prst="rect">
              <a:avLst/>
            </a:prstGeom>
          </p:spPr>
          <p:txBody>
            <a:bodyPr anchor="ctr" rtlCol="false" tIns="50800" lIns="50800" bIns="50800" rIns="50800"/>
            <a:lstStyle/>
            <a:p>
              <a:pPr algn="ctr" marL="0" indent="0" lvl="0">
                <a:lnSpc>
                  <a:spcPts val="3587"/>
                </a:lnSpc>
                <a:spcBef>
                  <a:spcPct val="0"/>
                </a:spcBef>
              </a:pPr>
            </a:p>
          </p:txBody>
        </p:sp>
      </p:grpSp>
      <p:sp>
        <p:nvSpPr>
          <p:cNvPr name="TextBox 12" id="12"/>
          <p:cNvSpPr txBox="true"/>
          <p:nvPr/>
        </p:nvSpPr>
        <p:spPr>
          <a:xfrm rot="0">
            <a:off x="1919494" y="2123342"/>
            <a:ext cx="3813386" cy="294095"/>
          </a:xfrm>
          <a:prstGeom prst="rect">
            <a:avLst/>
          </a:prstGeom>
        </p:spPr>
        <p:txBody>
          <a:bodyPr anchor="t" rtlCol="false" tIns="0" lIns="0" bIns="0" rIns="0">
            <a:spAutoFit/>
          </a:bodyPr>
          <a:lstStyle/>
          <a:p>
            <a:pPr algn="l">
              <a:lnSpc>
                <a:spcPts val="2271"/>
              </a:lnSpc>
            </a:pPr>
            <a:r>
              <a:rPr lang="en-US" sz="2010">
                <a:solidFill>
                  <a:srgbClr val="000000"/>
                </a:solidFill>
                <a:latin typeface="Archivo Black"/>
                <a:ea typeface="Archivo Black"/>
                <a:cs typeface="Archivo Black"/>
                <a:sym typeface="Archivo Black"/>
              </a:rPr>
              <a:t>Complejidad</a:t>
            </a:r>
          </a:p>
        </p:txBody>
      </p:sp>
      <p:sp>
        <p:nvSpPr>
          <p:cNvPr name="TextBox 13" id="13"/>
          <p:cNvSpPr txBox="true"/>
          <p:nvPr/>
        </p:nvSpPr>
        <p:spPr>
          <a:xfrm rot="0">
            <a:off x="2048822" y="4677037"/>
            <a:ext cx="2756111" cy="294095"/>
          </a:xfrm>
          <a:prstGeom prst="rect">
            <a:avLst/>
          </a:prstGeom>
        </p:spPr>
        <p:txBody>
          <a:bodyPr anchor="t" rtlCol="false" tIns="0" lIns="0" bIns="0" rIns="0">
            <a:spAutoFit/>
          </a:bodyPr>
          <a:lstStyle/>
          <a:p>
            <a:pPr algn="l">
              <a:lnSpc>
                <a:spcPts val="2271"/>
              </a:lnSpc>
            </a:pPr>
            <a:r>
              <a:rPr lang="en-US" sz="2010">
                <a:solidFill>
                  <a:srgbClr val="000000"/>
                </a:solidFill>
                <a:latin typeface="Archivo Black"/>
                <a:ea typeface="Archivo Black"/>
                <a:cs typeface="Archivo Black"/>
                <a:sym typeface="Archivo Black"/>
              </a:rPr>
              <a:t>Temporal </a:t>
            </a:r>
          </a:p>
        </p:txBody>
      </p:sp>
      <p:sp>
        <p:nvSpPr>
          <p:cNvPr name="TextBox 14" id="14"/>
          <p:cNvSpPr txBox="true"/>
          <p:nvPr/>
        </p:nvSpPr>
        <p:spPr>
          <a:xfrm rot="0">
            <a:off x="2048822" y="7481810"/>
            <a:ext cx="2756111" cy="294095"/>
          </a:xfrm>
          <a:prstGeom prst="rect">
            <a:avLst/>
          </a:prstGeom>
        </p:spPr>
        <p:txBody>
          <a:bodyPr anchor="t" rtlCol="false" tIns="0" lIns="0" bIns="0" rIns="0">
            <a:spAutoFit/>
          </a:bodyPr>
          <a:lstStyle/>
          <a:p>
            <a:pPr algn="l">
              <a:lnSpc>
                <a:spcPts val="2271"/>
              </a:lnSpc>
            </a:pPr>
            <a:r>
              <a:rPr lang="en-US" sz="2010">
                <a:solidFill>
                  <a:srgbClr val="000000"/>
                </a:solidFill>
                <a:latin typeface="Archivo Black"/>
                <a:ea typeface="Archivo Black"/>
                <a:cs typeface="Archivo Black"/>
                <a:sym typeface="Archivo Black"/>
              </a:rPr>
              <a:t>Espacial</a:t>
            </a:r>
          </a:p>
        </p:txBody>
      </p:sp>
      <p:sp>
        <p:nvSpPr>
          <p:cNvPr name="TextBox 15" id="15"/>
          <p:cNvSpPr txBox="true"/>
          <p:nvPr/>
        </p:nvSpPr>
        <p:spPr>
          <a:xfrm rot="0">
            <a:off x="5058504" y="3231710"/>
            <a:ext cx="5352102" cy="243803"/>
          </a:xfrm>
          <a:prstGeom prst="rect">
            <a:avLst/>
          </a:prstGeom>
        </p:spPr>
        <p:txBody>
          <a:bodyPr anchor="t" rtlCol="false" tIns="0" lIns="0" bIns="0" rIns="0">
            <a:spAutoFit/>
          </a:bodyPr>
          <a:lstStyle/>
          <a:p>
            <a:pPr algn="l">
              <a:lnSpc>
                <a:spcPts val="1932"/>
              </a:lnSpc>
            </a:pPr>
            <a:r>
              <a:rPr lang="en-US" sz="1710" b="true">
                <a:solidFill>
                  <a:srgbClr val="FFFFFF"/>
                </a:solidFill>
                <a:latin typeface="HK Grotesk Bold"/>
                <a:ea typeface="HK Grotesk Bold"/>
                <a:cs typeface="HK Grotesk Bold"/>
                <a:sym typeface="HK Grotesk Bold"/>
              </a:rPr>
              <a:t>Mejor caso:</a:t>
            </a:r>
          </a:p>
        </p:txBody>
      </p:sp>
      <p:grpSp>
        <p:nvGrpSpPr>
          <p:cNvPr name="Group 16" id="16"/>
          <p:cNvGrpSpPr/>
          <p:nvPr/>
        </p:nvGrpSpPr>
        <p:grpSpPr>
          <a:xfrm rot="0">
            <a:off x="12012930" y="1445485"/>
            <a:ext cx="5246370" cy="7812815"/>
            <a:chOff x="0" y="0"/>
            <a:chExt cx="812800" cy="1210409"/>
          </a:xfrm>
        </p:grpSpPr>
        <p:sp>
          <p:nvSpPr>
            <p:cNvPr name="Freeform 17" id="17"/>
            <p:cNvSpPr/>
            <p:nvPr/>
          </p:nvSpPr>
          <p:spPr>
            <a:xfrm flipH="false" flipV="false" rot="0">
              <a:off x="0" y="0"/>
              <a:ext cx="812800" cy="1210409"/>
            </a:xfrm>
            <a:custGeom>
              <a:avLst/>
              <a:gdLst/>
              <a:ahLst/>
              <a:cxnLst/>
              <a:rect r="r" b="b" t="t" l="l"/>
              <a:pathLst>
                <a:path h="1210409" w="812800">
                  <a:moveTo>
                    <a:pt x="87065" y="0"/>
                  </a:moveTo>
                  <a:lnTo>
                    <a:pt x="725735" y="0"/>
                  </a:lnTo>
                  <a:cubicBezTo>
                    <a:pt x="748826" y="0"/>
                    <a:pt x="770972" y="9173"/>
                    <a:pt x="787299" y="25501"/>
                  </a:cubicBezTo>
                  <a:cubicBezTo>
                    <a:pt x="803627" y="41828"/>
                    <a:pt x="812800" y="63974"/>
                    <a:pt x="812800" y="87065"/>
                  </a:cubicBezTo>
                  <a:lnTo>
                    <a:pt x="812800" y="1123345"/>
                  </a:lnTo>
                  <a:cubicBezTo>
                    <a:pt x="812800" y="1146436"/>
                    <a:pt x="803627" y="1168581"/>
                    <a:pt x="787299" y="1184909"/>
                  </a:cubicBezTo>
                  <a:cubicBezTo>
                    <a:pt x="770972" y="1201237"/>
                    <a:pt x="748826" y="1210409"/>
                    <a:pt x="725735" y="1210409"/>
                  </a:cubicBezTo>
                  <a:lnTo>
                    <a:pt x="87065" y="1210409"/>
                  </a:lnTo>
                  <a:cubicBezTo>
                    <a:pt x="63974" y="1210409"/>
                    <a:pt x="41828" y="1201237"/>
                    <a:pt x="25501" y="1184909"/>
                  </a:cubicBezTo>
                  <a:cubicBezTo>
                    <a:pt x="9173" y="1168581"/>
                    <a:pt x="0" y="1146436"/>
                    <a:pt x="0" y="1123345"/>
                  </a:cubicBezTo>
                  <a:lnTo>
                    <a:pt x="0" y="87065"/>
                  </a:lnTo>
                  <a:cubicBezTo>
                    <a:pt x="0" y="63974"/>
                    <a:pt x="9173" y="41828"/>
                    <a:pt x="25501" y="25501"/>
                  </a:cubicBezTo>
                  <a:cubicBezTo>
                    <a:pt x="41828" y="9173"/>
                    <a:pt x="63974" y="0"/>
                    <a:pt x="87065" y="0"/>
                  </a:cubicBezTo>
                  <a:close/>
                </a:path>
              </a:pathLst>
            </a:custGeom>
            <a:blipFill>
              <a:blip r:embed="rId2"/>
              <a:stretch>
                <a:fillRect l="-61758" t="0" r="-61758" b="0"/>
              </a:stretch>
            </a:blipFill>
          </p:spPr>
        </p:sp>
      </p:grpSp>
      <p:sp>
        <p:nvSpPr>
          <p:cNvPr name="AutoShape 18" id="18"/>
          <p:cNvSpPr/>
          <p:nvPr/>
        </p:nvSpPr>
        <p:spPr>
          <a:xfrm>
            <a:off x="5058504" y="3475513"/>
            <a:ext cx="5414889" cy="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grpSp>
        <p:nvGrpSpPr>
          <p:cNvPr name="Group 19" id="19"/>
          <p:cNvGrpSpPr/>
          <p:nvPr/>
        </p:nvGrpSpPr>
        <p:grpSpPr>
          <a:xfrm rot="0">
            <a:off x="9767587" y="3306304"/>
            <a:ext cx="1411613" cy="338418"/>
            <a:chOff x="0" y="0"/>
            <a:chExt cx="465702" cy="111647"/>
          </a:xfrm>
        </p:grpSpPr>
        <p:sp>
          <p:nvSpPr>
            <p:cNvPr name="Freeform 20" id="20"/>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000000">
                    <a:alpha val="100000"/>
                  </a:srgbClr>
                </a:gs>
              </a:gsLst>
              <a:lin ang="2700000"/>
            </a:gradFill>
          </p:spPr>
        </p:sp>
        <p:sp>
          <p:nvSpPr>
            <p:cNvPr name="TextBox 21" id="21"/>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TextBox 22" id="22"/>
          <p:cNvSpPr txBox="true"/>
          <p:nvPr/>
        </p:nvSpPr>
        <p:spPr>
          <a:xfrm rot="0">
            <a:off x="5161224" y="3611701"/>
            <a:ext cx="4187913" cy="203036"/>
          </a:xfrm>
          <a:prstGeom prst="rect">
            <a:avLst/>
          </a:prstGeom>
        </p:spPr>
        <p:txBody>
          <a:bodyPr anchor="t" rtlCol="false" tIns="0" lIns="0" bIns="0" rIns="0">
            <a:spAutoFit/>
          </a:bodyPr>
          <a:lstStyle/>
          <a:p>
            <a:pPr algn="l">
              <a:lnSpc>
                <a:spcPts val="1593"/>
              </a:lnSpc>
            </a:pPr>
            <a:r>
              <a:rPr lang="en-US" sz="1410">
                <a:solidFill>
                  <a:srgbClr val="FFFFFF"/>
                </a:solidFill>
                <a:latin typeface="HK Grotesk"/>
                <a:ea typeface="HK Grotesk"/>
                <a:cs typeface="HK Grotesk"/>
                <a:sym typeface="HK Grotesk"/>
              </a:rPr>
              <a:t> → Ocurre cuando el árbol está balanceado</a:t>
            </a:r>
          </a:p>
        </p:txBody>
      </p:sp>
      <p:sp>
        <p:nvSpPr>
          <p:cNvPr name="TextBox 23" id="23"/>
          <p:cNvSpPr txBox="true"/>
          <p:nvPr/>
        </p:nvSpPr>
        <p:spPr>
          <a:xfrm rot="0">
            <a:off x="9984915" y="3358374"/>
            <a:ext cx="1068681" cy="243803"/>
          </a:xfrm>
          <a:prstGeom prst="rect">
            <a:avLst/>
          </a:prstGeom>
        </p:spPr>
        <p:txBody>
          <a:bodyPr anchor="t" rtlCol="false" tIns="0" lIns="0" bIns="0" rIns="0">
            <a:spAutoFit/>
          </a:bodyPr>
          <a:lstStyle/>
          <a:p>
            <a:pPr algn="l">
              <a:lnSpc>
                <a:spcPts val="1932"/>
              </a:lnSpc>
            </a:pPr>
            <a:r>
              <a:rPr lang="en-US" sz="1710" b="true">
                <a:solidFill>
                  <a:srgbClr val="FFFFFF"/>
                </a:solidFill>
                <a:latin typeface="HK Grotesk Bold"/>
                <a:ea typeface="HK Grotesk Bold"/>
                <a:cs typeface="HK Grotesk Bold"/>
                <a:sym typeface="HK Grotesk Bold"/>
              </a:rPr>
              <a:t>O(n log n)</a:t>
            </a:r>
          </a:p>
        </p:txBody>
      </p:sp>
      <p:sp>
        <p:nvSpPr>
          <p:cNvPr name="TextBox 24" id="24"/>
          <p:cNvSpPr txBox="true"/>
          <p:nvPr/>
        </p:nvSpPr>
        <p:spPr>
          <a:xfrm rot="0">
            <a:off x="5058504" y="4017637"/>
            <a:ext cx="5352102" cy="243803"/>
          </a:xfrm>
          <a:prstGeom prst="rect">
            <a:avLst/>
          </a:prstGeom>
        </p:spPr>
        <p:txBody>
          <a:bodyPr anchor="t" rtlCol="false" tIns="0" lIns="0" bIns="0" rIns="0">
            <a:spAutoFit/>
          </a:bodyPr>
          <a:lstStyle/>
          <a:p>
            <a:pPr algn="l">
              <a:lnSpc>
                <a:spcPts val="1932"/>
              </a:lnSpc>
            </a:pPr>
            <a:r>
              <a:rPr lang="en-US" sz="1710" b="true">
                <a:solidFill>
                  <a:srgbClr val="FFFFFF"/>
                </a:solidFill>
                <a:latin typeface="HK Grotesk Bold"/>
                <a:ea typeface="HK Grotesk Bold"/>
                <a:cs typeface="HK Grotesk Bold"/>
                <a:sym typeface="HK Grotesk Bold"/>
              </a:rPr>
              <a:t>Promedio:</a:t>
            </a:r>
          </a:p>
        </p:txBody>
      </p:sp>
      <p:sp>
        <p:nvSpPr>
          <p:cNvPr name="AutoShape 25" id="25"/>
          <p:cNvSpPr/>
          <p:nvPr/>
        </p:nvSpPr>
        <p:spPr>
          <a:xfrm>
            <a:off x="5058504" y="4261439"/>
            <a:ext cx="5414889" cy="1905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grpSp>
        <p:nvGrpSpPr>
          <p:cNvPr name="Group 26" id="26"/>
          <p:cNvGrpSpPr/>
          <p:nvPr/>
        </p:nvGrpSpPr>
        <p:grpSpPr>
          <a:xfrm rot="0">
            <a:off x="9767587" y="4111280"/>
            <a:ext cx="1411613" cy="338418"/>
            <a:chOff x="0" y="0"/>
            <a:chExt cx="465702" cy="111647"/>
          </a:xfrm>
        </p:grpSpPr>
        <p:sp>
          <p:nvSpPr>
            <p:cNvPr name="Freeform 27" id="27"/>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000000">
                    <a:alpha val="100000"/>
                  </a:srgbClr>
                </a:gs>
              </a:gsLst>
              <a:lin ang="2700000"/>
            </a:gradFill>
          </p:spPr>
        </p:sp>
        <p:sp>
          <p:nvSpPr>
            <p:cNvPr name="TextBox 28" id="28"/>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TextBox 29" id="29"/>
          <p:cNvSpPr txBox="true"/>
          <p:nvPr/>
        </p:nvSpPr>
        <p:spPr>
          <a:xfrm rot="0">
            <a:off x="5161224" y="4370732"/>
            <a:ext cx="4606363" cy="603086"/>
          </a:xfrm>
          <a:prstGeom prst="rect">
            <a:avLst/>
          </a:prstGeom>
        </p:spPr>
        <p:txBody>
          <a:bodyPr anchor="t" rtlCol="false" tIns="0" lIns="0" bIns="0" rIns="0">
            <a:spAutoFit/>
          </a:bodyPr>
          <a:lstStyle/>
          <a:p>
            <a:pPr algn="l">
              <a:lnSpc>
                <a:spcPts val="1593"/>
              </a:lnSpc>
            </a:pPr>
            <a:r>
              <a:rPr lang="en-US" sz="1410">
                <a:solidFill>
                  <a:srgbClr val="FFFFFF"/>
                </a:solidFill>
                <a:latin typeface="HK Grotesk"/>
                <a:ea typeface="HK Grotesk"/>
                <a:cs typeface="HK Grotesk"/>
                <a:sym typeface="HK Grotesk"/>
              </a:rPr>
              <a:t>→ En la mayoría de los casos, las inserciones generan un árbol con una altura cercana a log(n), lo que mantiene la eficiencia del recorrido in-orden.</a:t>
            </a:r>
          </a:p>
        </p:txBody>
      </p:sp>
      <p:sp>
        <p:nvSpPr>
          <p:cNvPr name="TextBox 30" id="30"/>
          <p:cNvSpPr txBox="true"/>
          <p:nvPr/>
        </p:nvSpPr>
        <p:spPr>
          <a:xfrm rot="0">
            <a:off x="9984915" y="4163350"/>
            <a:ext cx="1068681" cy="243803"/>
          </a:xfrm>
          <a:prstGeom prst="rect">
            <a:avLst/>
          </a:prstGeom>
        </p:spPr>
        <p:txBody>
          <a:bodyPr anchor="t" rtlCol="false" tIns="0" lIns="0" bIns="0" rIns="0">
            <a:spAutoFit/>
          </a:bodyPr>
          <a:lstStyle/>
          <a:p>
            <a:pPr algn="l">
              <a:lnSpc>
                <a:spcPts val="1932"/>
              </a:lnSpc>
            </a:pPr>
            <a:r>
              <a:rPr lang="en-US" sz="1710" b="true">
                <a:solidFill>
                  <a:srgbClr val="FFFFFF"/>
                </a:solidFill>
                <a:latin typeface="HK Grotesk Bold"/>
                <a:ea typeface="HK Grotesk Bold"/>
                <a:cs typeface="HK Grotesk Bold"/>
                <a:sym typeface="HK Grotesk Bold"/>
              </a:rPr>
              <a:t>O(n log n)</a:t>
            </a:r>
          </a:p>
        </p:txBody>
      </p:sp>
      <p:sp>
        <p:nvSpPr>
          <p:cNvPr name="TextBox 31" id="31"/>
          <p:cNvSpPr txBox="true"/>
          <p:nvPr/>
        </p:nvSpPr>
        <p:spPr>
          <a:xfrm rot="0">
            <a:off x="5058504" y="5335768"/>
            <a:ext cx="5352102" cy="243803"/>
          </a:xfrm>
          <a:prstGeom prst="rect">
            <a:avLst/>
          </a:prstGeom>
        </p:spPr>
        <p:txBody>
          <a:bodyPr anchor="t" rtlCol="false" tIns="0" lIns="0" bIns="0" rIns="0">
            <a:spAutoFit/>
          </a:bodyPr>
          <a:lstStyle/>
          <a:p>
            <a:pPr algn="l">
              <a:lnSpc>
                <a:spcPts val="1932"/>
              </a:lnSpc>
            </a:pPr>
            <a:r>
              <a:rPr lang="en-US" sz="1710" b="true">
                <a:solidFill>
                  <a:srgbClr val="FFFFFF"/>
                </a:solidFill>
                <a:latin typeface="HK Grotesk Bold"/>
                <a:ea typeface="HK Grotesk Bold"/>
                <a:cs typeface="HK Grotesk Bold"/>
                <a:sym typeface="HK Grotesk Bold"/>
              </a:rPr>
              <a:t>Peor caso:</a:t>
            </a:r>
          </a:p>
        </p:txBody>
      </p:sp>
      <p:sp>
        <p:nvSpPr>
          <p:cNvPr name="AutoShape 32" id="32"/>
          <p:cNvSpPr/>
          <p:nvPr/>
        </p:nvSpPr>
        <p:spPr>
          <a:xfrm flipV="true">
            <a:off x="5058504" y="5569801"/>
            <a:ext cx="5352102" cy="977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grpSp>
        <p:nvGrpSpPr>
          <p:cNvPr name="Group 33" id="33"/>
          <p:cNvGrpSpPr/>
          <p:nvPr/>
        </p:nvGrpSpPr>
        <p:grpSpPr>
          <a:xfrm rot="0">
            <a:off x="9704799" y="5400592"/>
            <a:ext cx="1411613" cy="338418"/>
            <a:chOff x="0" y="0"/>
            <a:chExt cx="465702" cy="111647"/>
          </a:xfrm>
        </p:grpSpPr>
        <p:sp>
          <p:nvSpPr>
            <p:cNvPr name="Freeform 34" id="34"/>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000000">
                    <a:alpha val="100000"/>
                  </a:srgbClr>
                </a:gs>
              </a:gsLst>
              <a:lin ang="2700000"/>
            </a:gradFill>
          </p:spPr>
        </p:sp>
        <p:sp>
          <p:nvSpPr>
            <p:cNvPr name="TextBox 35" id="35"/>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TextBox 36" id="36"/>
          <p:cNvSpPr txBox="true"/>
          <p:nvPr/>
        </p:nvSpPr>
        <p:spPr>
          <a:xfrm rot="0">
            <a:off x="5161224" y="5727208"/>
            <a:ext cx="4543576" cy="603086"/>
          </a:xfrm>
          <a:prstGeom prst="rect">
            <a:avLst/>
          </a:prstGeom>
        </p:spPr>
        <p:txBody>
          <a:bodyPr anchor="t" rtlCol="false" tIns="0" lIns="0" bIns="0" rIns="0">
            <a:spAutoFit/>
          </a:bodyPr>
          <a:lstStyle/>
          <a:p>
            <a:pPr algn="l">
              <a:lnSpc>
                <a:spcPts val="1593"/>
              </a:lnSpc>
            </a:pPr>
            <a:r>
              <a:rPr lang="en-US" sz="1410">
                <a:solidFill>
                  <a:srgbClr val="FFFFFF"/>
                </a:solidFill>
                <a:latin typeface="HK Grotesk"/>
                <a:ea typeface="HK Grotesk"/>
                <a:cs typeface="HK Grotesk"/>
                <a:sym typeface="HK Grotesk"/>
              </a:rPr>
              <a:t>→ Cuando los datos están ordenados o casi ordenados antes de insertarse, lo que produce un árbol totalmente desbalanceado (similar a una lista lineal).</a:t>
            </a:r>
          </a:p>
        </p:txBody>
      </p:sp>
      <p:sp>
        <p:nvSpPr>
          <p:cNvPr name="TextBox 37" id="37"/>
          <p:cNvSpPr txBox="true"/>
          <p:nvPr/>
        </p:nvSpPr>
        <p:spPr>
          <a:xfrm rot="0">
            <a:off x="9876265" y="5462432"/>
            <a:ext cx="1068681" cy="243803"/>
          </a:xfrm>
          <a:prstGeom prst="rect">
            <a:avLst/>
          </a:prstGeom>
        </p:spPr>
        <p:txBody>
          <a:bodyPr anchor="t" rtlCol="false" tIns="0" lIns="0" bIns="0" rIns="0">
            <a:spAutoFit/>
          </a:bodyPr>
          <a:lstStyle/>
          <a:p>
            <a:pPr algn="ctr">
              <a:lnSpc>
                <a:spcPts val="1932"/>
              </a:lnSpc>
            </a:pPr>
            <a:r>
              <a:rPr lang="en-US" sz="1710" b="true">
                <a:solidFill>
                  <a:srgbClr val="FFFFFF"/>
                </a:solidFill>
                <a:latin typeface="HK Grotesk Bold"/>
                <a:ea typeface="HK Grotesk Bold"/>
                <a:cs typeface="HK Grotesk Bold"/>
                <a:sym typeface="HK Grotesk Bold"/>
              </a:rPr>
              <a:t>O(n²)</a:t>
            </a:r>
          </a:p>
        </p:txBody>
      </p:sp>
      <p:sp>
        <p:nvSpPr>
          <p:cNvPr name="TextBox 38" id="38"/>
          <p:cNvSpPr txBox="true"/>
          <p:nvPr/>
        </p:nvSpPr>
        <p:spPr>
          <a:xfrm rot="0">
            <a:off x="5058504" y="7101819"/>
            <a:ext cx="5352102" cy="243803"/>
          </a:xfrm>
          <a:prstGeom prst="rect">
            <a:avLst/>
          </a:prstGeom>
        </p:spPr>
        <p:txBody>
          <a:bodyPr anchor="t" rtlCol="false" tIns="0" lIns="0" bIns="0" rIns="0">
            <a:spAutoFit/>
          </a:bodyPr>
          <a:lstStyle/>
          <a:p>
            <a:pPr algn="l">
              <a:lnSpc>
                <a:spcPts val="1932"/>
              </a:lnSpc>
            </a:pPr>
            <a:r>
              <a:rPr lang="en-US" sz="1710" b="true">
                <a:solidFill>
                  <a:srgbClr val="FFFFFF"/>
                </a:solidFill>
                <a:latin typeface="HK Grotesk Bold"/>
                <a:ea typeface="HK Grotesk Bold"/>
                <a:cs typeface="HK Grotesk Bold"/>
                <a:sym typeface="HK Grotesk Bold"/>
              </a:rPr>
              <a:t>Memoria utilizada</a:t>
            </a:r>
          </a:p>
        </p:txBody>
      </p:sp>
      <p:sp>
        <p:nvSpPr>
          <p:cNvPr name="AutoShape 39" id="39"/>
          <p:cNvSpPr/>
          <p:nvPr/>
        </p:nvSpPr>
        <p:spPr>
          <a:xfrm flipV="true">
            <a:off x="5058478" y="7350139"/>
            <a:ext cx="5352102" cy="9770"/>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grpSp>
        <p:nvGrpSpPr>
          <p:cNvPr name="Group 40" id="40"/>
          <p:cNvGrpSpPr/>
          <p:nvPr/>
        </p:nvGrpSpPr>
        <p:grpSpPr>
          <a:xfrm rot="0">
            <a:off x="9704799" y="7166643"/>
            <a:ext cx="1411613" cy="338418"/>
            <a:chOff x="0" y="0"/>
            <a:chExt cx="465702" cy="111647"/>
          </a:xfrm>
        </p:grpSpPr>
        <p:sp>
          <p:nvSpPr>
            <p:cNvPr name="Freeform 41" id="41"/>
            <p:cNvSpPr/>
            <p:nvPr/>
          </p:nvSpPr>
          <p:spPr>
            <a:xfrm flipH="false" flipV="false" rot="0">
              <a:off x="0" y="0"/>
              <a:ext cx="465702" cy="111647"/>
            </a:xfrm>
            <a:custGeom>
              <a:avLst/>
              <a:gdLst/>
              <a:ahLst/>
              <a:cxnLst/>
              <a:rect r="r" b="b" t="t" l="l"/>
              <a:pathLst>
                <a:path h="111647" w="465702">
                  <a:moveTo>
                    <a:pt x="55823" y="0"/>
                  </a:moveTo>
                  <a:lnTo>
                    <a:pt x="409879" y="0"/>
                  </a:lnTo>
                  <a:cubicBezTo>
                    <a:pt x="440709" y="0"/>
                    <a:pt x="465702" y="24993"/>
                    <a:pt x="465702" y="55823"/>
                  </a:cubicBezTo>
                  <a:lnTo>
                    <a:pt x="465702" y="55823"/>
                  </a:lnTo>
                  <a:cubicBezTo>
                    <a:pt x="465702" y="70629"/>
                    <a:pt x="459821" y="84828"/>
                    <a:pt x="449352" y="95296"/>
                  </a:cubicBezTo>
                  <a:cubicBezTo>
                    <a:pt x="438883" y="105765"/>
                    <a:pt x="424684" y="111647"/>
                    <a:pt x="409879" y="111647"/>
                  </a:cubicBezTo>
                  <a:lnTo>
                    <a:pt x="55823" y="111647"/>
                  </a:lnTo>
                  <a:cubicBezTo>
                    <a:pt x="24993" y="111647"/>
                    <a:pt x="0" y="86654"/>
                    <a:pt x="0" y="55823"/>
                  </a:cubicBezTo>
                  <a:lnTo>
                    <a:pt x="0" y="55823"/>
                  </a:lnTo>
                  <a:cubicBezTo>
                    <a:pt x="0" y="24993"/>
                    <a:pt x="24993" y="0"/>
                    <a:pt x="55823" y="0"/>
                  </a:cubicBezTo>
                  <a:close/>
                </a:path>
              </a:pathLst>
            </a:custGeom>
            <a:gradFill rotWithShape="true">
              <a:gsLst>
                <a:gs pos="0">
                  <a:srgbClr val="65CED1">
                    <a:alpha val="100000"/>
                  </a:srgbClr>
                </a:gs>
                <a:gs pos="100000">
                  <a:srgbClr val="000000">
                    <a:alpha val="100000"/>
                  </a:srgbClr>
                </a:gs>
              </a:gsLst>
              <a:lin ang="2700000"/>
            </a:gradFill>
          </p:spPr>
        </p:sp>
        <p:sp>
          <p:nvSpPr>
            <p:cNvPr name="TextBox 42" id="42"/>
            <p:cNvSpPr txBox="true"/>
            <p:nvPr/>
          </p:nvSpPr>
          <p:spPr>
            <a:xfrm>
              <a:off x="0" y="-57150"/>
              <a:ext cx="465702" cy="168797"/>
            </a:xfrm>
            <a:prstGeom prst="rect">
              <a:avLst/>
            </a:prstGeom>
          </p:spPr>
          <p:txBody>
            <a:bodyPr anchor="ctr" rtlCol="false" tIns="50800" lIns="50800" bIns="50800" rIns="50800"/>
            <a:lstStyle/>
            <a:p>
              <a:pPr algn="ctr">
                <a:lnSpc>
                  <a:spcPts val="3447"/>
                </a:lnSpc>
              </a:pPr>
            </a:p>
          </p:txBody>
        </p:sp>
      </p:grpSp>
      <p:sp>
        <p:nvSpPr>
          <p:cNvPr name="TextBox 43" id="43"/>
          <p:cNvSpPr txBox="true"/>
          <p:nvPr/>
        </p:nvSpPr>
        <p:spPr>
          <a:xfrm rot="0">
            <a:off x="5161224" y="7493259"/>
            <a:ext cx="4543576" cy="403061"/>
          </a:xfrm>
          <a:prstGeom prst="rect">
            <a:avLst/>
          </a:prstGeom>
        </p:spPr>
        <p:txBody>
          <a:bodyPr anchor="t" rtlCol="false" tIns="0" lIns="0" bIns="0" rIns="0">
            <a:spAutoFit/>
          </a:bodyPr>
          <a:lstStyle/>
          <a:p>
            <a:pPr algn="l">
              <a:lnSpc>
                <a:spcPts val="1593"/>
              </a:lnSpc>
            </a:pPr>
            <a:r>
              <a:rPr lang="en-US" sz="1410">
                <a:solidFill>
                  <a:srgbClr val="FFFFFF"/>
                </a:solidFill>
                <a:latin typeface="HK Grotesk"/>
                <a:ea typeface="HK Grotesk"/>
                <a:cs typeface="HK Grotesk"/>
                <a:sym typeface="HK Grotesk"/>
              </a:rPr>
              <a:t>→ Se necesita espacio para almacenar los nodos del árbol binario y la recursión durante el recorrido in-orden.</a:t>
            </a:r>
          </a:p>
        </p:txBody>
      </p:sp>
      <p:sp>
        <p:nvSpPr>
          <p:cNvPr name="TextBox 44" id="44"/>
          <p:cNvSpPr txBox="true"/>
          <p:nvPr/>
        </p:nvSpPr>
        <p:spPr>
          <a:xfrm rot="0">
            <a:off x="9876265" y="7228482"/>
            <a:ext cx="1068681" cy="243803"/>
          </a:xfrm>
          <a:prstGeom prst="rect">
            <a:avLst/>
          </a:prstGeom>
        </p:spPr>
        <p:txBody>
          <a:bodyPr anchor="t" rtlCol="false" tIns="0" lIns="0" bIns="0" rIns="0">
            <a:spAutoFit/>
          </a:bodyPr>
          <a:lstStyle/>
          <a:p>
            <a:pPr algn="ctr">
              <a:lnSpc>
                <a:spcPts val="1932"/>
              </a:lnSpc>
            </a:pPr>
            <a:r>
              <a:rPr lang="en-US" sz="1710" b="true">
                <a:solidFill>
                  <a:srgbClr val="FFFFFF"/>
                </a:solidFill>
                <a:latin typeface="HK Grotesk Bold"/>
                <a:ea typeface="HK Grotesk Bold"/>
                <a:cs typeface="HK Grotesk Bold"/>
                <a:sym typeface="HK Grotesk Bold"/>
              </a:rPr>
              <a:t>O(n)</a:t>
            </a:r>
          </a:p>
        </p:txBody>
      </p:sp>
      <p:sp>
        <p:nvSpPr>
          <p:cNvPr name="AutoShape 45" id="45"/>
          <p:cNvSpPr/>
          <p:nvPr/>
        </p:nvSpPr>
        <p:spPr>
          <a:xfrm flipV="true">
            <a:off x="2485172" y="6716178"/>
            <a:ext cx="8568424" cy="0"/>
          </a:xfrm>
          <a:prstGeom prst="line">
            <a:avLst/>
          </a:prstGeom>
          <a:ln cap="flat" w="28575">
            <a:gradFill>
              <a:gsLst>
                <a:gs pos="0">
                  <a:srgbClr val="000000">
                    <a:alpha val="7000"/>
                  </a:srgbClr>
                </a:gs>
                <a:gs pos="50000">
                  <a:srgbClr val="082D2F">
                    <a:alpha val="7000"/>
                  </a:srgbClr>
                </a:gs>
                <a:gs pos="100000">
                  <a:srgbClr val="28949C">
                    <a:alpha val="7000"/>
                  </a:srgbClr>
                </a:gs>
              </a:gsLst>
              <a:path path="circle">
                <a:fillToRect l="50000" r="50000" t="50000" b="50000"/>
              </a:path>
            </a:gradFill>
            <a:prstDash val="solid"/>
            <a:headEnd type="none" len="sm" w="sm"/>
            <a:tailEnd type="none" len="sm" w="sm"/>
          </a:ln>
        </p:spPr>
      </p:sp>
      <p:sp>
        <p:nvSpPr>
          <p:cNvPr name="TextBox 46" id="46"/>
          <p:cNvSpPr txBox="true"/>
          <p:nvPr/>
        </p:nvSpPr>
        <p:spPr>
          <a:xfrm rot="0">
            <a:off x="7365814" y="2160934"/>
            <a:ext cx="3368566" cy="294095"/>
          </a:xfrm>
          <a:prstGeom prst="rect">
            <a:avLst/>
          </a:prstGeom>
        </p:spPr>
        <p:txBody>
          <a:bodyPr anchor="t" rtlCol="false" tIns="0" lIns="0" bIns="0" rIns="0">
            <a:spAutoFit/>
          </a:bodyPr>
          <a:lstStyle/>
          <a:p>
            <a:pPr algn="r">
              <a:lnSpc>
                <a:spcPts val="2271"/>
              </a:lnSpc>
            </a:pPr>
            <a:r>
              <a:rPr lang="en-US" sz="2010">
                <a:solidFill>
                  <a:srgbClr val="FFFFFF">
                    <a:alpha val="40784"/>
                  </a:srgbClr>
                </a:solidFill>
                <a:latin typeface="Archivo Black"/>
                <a:ea typeface="Archivo Black"/>
                <a:cs typeface="Archivo Black"/>
                <a:sym typeface="Archivo Black"/>
              </a:rPr>
              <a:t>Tipo</a:t>
            </a:r>
          </a:p>
        </p:txBody>
      </p:sp>
    </p:spTree>
  </p:cSld>
  <p:clrMapOvr>
    <a:masterClrMapping/>
  </p:clrMapOvr>
</p:sld>
</file>

<file path=ppt/slides/slide11.xml><?xml version="1.0" encoding="utf-8"?>
<p:sld xmlns:p="http://schemas.openxmlformats.org/presentationml/2006/main" xmlns:a="http://schemas.openxmlformats.org/drawingml/2006/main">
  <p:cSld>
    <p:bg>
      <p:bgPr>
        <a:gradFill rotWithShape="true">
          <a:gsLst>
            <a:gs pos="0">
              <a:srgbClr val="65CED1">
                <a:alpha val="100000"/>
              </a:srgbClr>
            </a:gs>
            <a:gs pos="100000">
              <a:srgbClr val="1F4E4F">
                <a:alpha val="100000"/>
              </a:srgbClr>
            </a:gs>
          </a:gsLst>
          <a:lin ang="2700000"/>
        </a:gradFill>
      </p:bgPr>
    </p:bg>
    <p:spTree>
      <p:nvGrpSpPr>
        <p:cNvPr id="1" name=""/>
        <p:cNvGrpSpPr/>
        <p:nvPr/>
      </p:nvGrpSpPr>
      <p:grpSpPr>
        <a:xfrm>
          <a:off x="0" y="0"/>
          <a:ext cx="0" cy="0"/>
          <a:chOff x="0" y="0"/>
          <a:chExt cx="0" cy="0"/>
        </a:xfrm>
      </p:grpSpPr>
      <p:sp>
        <p:nvSpPr>
          <p:cNvPr name="TextBox 2" id="2"/>
          <p:cNvSpPr txBox="true"/>
          <p:nvPr/>
        </p:nvSpPr>
        <p:spPr>
          <a:xfrm rot="0">
            <a:off x="1028700" y="814897"/>
            <a:ext cx="16230600" cy="750025"/>
          </a:xfrm>
          <a:prstGeom prst="rect">
            <a:avLst/>
          </a:prstGeom>
        </p:spPr>
        <p:txBody>
          <a:bodyPr anchor="t" rtlCol="false" tIns="0" lIns="0" bIns="0" rIns="0">
            <a:spAutoFit/>
          </a:bodyPr>
          <a:lstStyle/>
          <a:p>
            <a:pPr algn="ctr">
              <a:lnSpc>
                <a:spcPts val="5742"/>
              </a:lnSpc>
            </a:pPr>
            <a:r>
              <a:rPr lang="en-US" sz="5081">
                <a:solidFill>
                  <a:srgbClr val="000000"/>
                </a:solidFill>
                <a:latin typeface="Archivo Black"/>
                <a:ea typeface="Archivo Black"/>
                <a:cs typeface="Archivo Black"/>
                <a:sym typeface="Archivo Black"/>
              </a:rPr>
              <a:t>Comparación </a:t>
            </a:r>
          </a:p>
        </p:txBody>
      </p:sp>
      <p:grpSp>
        <p:nvGrpSpPr>
          <p:cNvPr name="Group 3" id="3"/>
          <p:cNvGrpSpPr/>
          <p:nvPr/>
        </p:nvGrpSpPr>
        <p:grpSpPr>
          <a:xfrm rot="0">
            <a:off x="-802703" y="9553585"/>
            <a:ext cx="19839463" cy="1575744"/>
            <a:chOff x="0" y="0"/>
            <a:chExt cx="5225208" cy="415011"/>
          </a:xfrm>
        </p:grpSpPr>
        <p:sp>
          <p:nvSpPr>
            <p:cNvPr name="Freeform 4" id="4"/>
            <p:cNvSpPr/>
            <p:nvPr/>
          </p:nvSpPr>
          <p:spPr>
            <a:xfrm flipH="false" flipV="false" rot="0">
              <a:off x="0" y="0"/>
              <a:ext cx="5225209" cy="415011"/>
            </a:xfrm>
            <a:custGeom>
              <a:avLst/>
              <a:gdLst/>
              <a:ahLst/>
              <a:cxnLst/>
              <a:rect r="r" b="b" t="t" l="l"/>
              <a:pathLst>
                <a:path h="415011" w="5225209">
                  <a:moveTo>
                    <a:pt x="0" y="0"/>
                  </a:moveTo>
                  <a:lnTo>
                    <a:pt x="5225209" y="0"/>
                  </a:lnTo>
                  <a:lnTo>
                    <a:pt x="5225209" y="415011"/>
                  </a:lnTo>
                  <a:lnTo>
                    <a:pt x="0" y="415011"/>
                  </a:lnTo>
                  <a:close/>
                </a:path>
              </a:pathLst>
            </a:custGeom>
            <a:gradFill rotWithShape="true">
              <a:gsLst>
                <a:gs pos="0">
                  <a:srgbClr val="000000">
                    <a:alpha val="100000"/>
                  </a:srgbClr>
                </a:gs>
                <a:gs pos="50000">
                  <a:srgbClr val="082D2F">
                    <a:alpha val="100000"/>
                  </a:srgbClr>
                </a:gs>
                <a:gs pos="100000">
                  <a:srgbClr val="28949C">
                    <a:alpha val="100000"/>
                  </a:srgbClr>
                </a:gs>
              </a:gsLst>
              <a:path path="circle">
                <a:fillToRect l="50000" r="50000" t="50000" b="50000"/>
              </a:path>
            </a:gradFill>
            <a:ln cap="sq">
              <a:noFill/>
              <a:prstDash val="solid"/>
              <a:miter/>
            </a:ln>
          </p:spPr>
        </p:sp>
        <p:sp>
          <p:nvSpPr>
            <p:cNvPr name="TextBox 5" id="5"/>
            <p:cNvSpPr txBox="true"/>
            <p:nvPr/>
          </p:nvSpPr>
          <p:spPr>
            <a:xfrm>
              <a:off x="0" y="-57150"/>
              <a:ext cx="5225208" cy="472161"/>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6" id="6"/>
          <p:cNvGrpSpPr/>
          <p:nvPr/>
        </p:nvGrpSpPr>
        <p:grpSpPr>
          <a:xfrm rot="-10800000">
            <a:off x="1028700" y="2288822"/>
            <a:ext cx="2224355" cy="699422"/>
            <a:chOff x="0" y="0"/>
            <a:chExt cx="664549" cy="208960"/>
          </a:xfrm>
        </p:grpSpPr>
        <p:sp>
          <p:nvSpPr>
            <p:cNvPr name="Freeform 7" id="7"/>
            <p:cNvSpPr/>
            <p:nvPr/>
          </p:nvSpPr>
          <p:spPr>
            <a:xfrm flipH="false" flipV="false" rot="0">
              <a:off x="0" y="0"/>
              <a:ext cx="664549" cy="208960"/>
            </a:xfrm>
            <a:custGeom>
              <a:avLst/>
              <a:gdLst/>
              <a:ahLst/>
              <a:cxnLst/>
              <a:rect r="r" b="b" t="t" l="l"/>
              <a:pathLst>
                <a:path h="208960" w="664549">
                  <a:moveTo>
                    <a:pt x="104480" y="0"/>
                  </a:moveTo>
                  <a:lnTo>
                    <a:pt x="560069" y="0"/>
                  </a:lnTo>
                  <a:cubicBezTo>
                    <a:pt x="617772" y="0"/>
                    <a:pt x="664549" y="46777"/>
                    <a:pt x="664549" y="104480"/>
                  </a:cubicBezTo>
                  <a:lnTo>
                    <a:pt x="664549" y="104480"/>
                  </a:lnTo>
                  <a:cubicBezTo>
                    <a:pt x="664549" y="162182"/>
                    <a:pt x="617772" y="208960"/>
                    <a:pt x="560069" y="208960"/>
                  </a:cubicBezTo>
                  <a:lnTo>
                    <a:pt x="104480" y="208960"/>
                  </a:lnTo>
                  <a:cubicBezTo>
                    <a:pt x="46777" y="208960"/>
                    <a:pt x="0" y="162182"/>
                    <a:pt x="0" y="104480"/>
                  </a:cubicBezTo>
                  <a:lnTo>
                    <a:pt x="0" y="104480"/>
                  </a:lnTo>
                  <a:cubicBezTo>
                    <a:pt x="0" y="46777"/>
                    <a:pt x="46777" y="0"/>
                    <a:pt x="104480" y="0"/>
                  </a:cubicBezTo>
                  <a:close/>
                </a:path>
              </a:pathLst>
            </a:custGeom>
            <a:gradFill rotWithShape="true">
              <a:gsLst>
                <a:gs pos="0">
                  <a:srgbClr val="65CED1">
                    <a:alpha val="100000"/>
                  </a:srgbClr>
                </a:gs>
                <a:gs pos="100000">
                  <a:srgbClr val="1F4E4F">
                    <a:alpha val="100000"/>
                  </a:srgbClr>
                </a:gs>
              </a:gsLst>
              <a:lin ang="2700000"/>
            </a:gradFill>
          </p:spPr>
        </p:sp>
        <p:sp>
          <p:nvSpPr>
            <p:cNvPr name="TextBox 8" id="8"/>
            <p:cNvSpPr txBox="true"/>
            <p:nvPr/>
          </p:nvSpPr>
          <p:spPr>
            <a:xfrm>
              <a:off x="0" y="-57150"/>
              <a:ext cx="664549" cy="266110"/>
            </a:xfrm>
            <a:prstGeom prst="rect">
              <a:avLst/>
            </a:prstGeom>
          </p:spPr>
          <p:txBody>
            <a:bodyPr anchor="ctr" rtlCol="false" tIns="50800" lIns="50800" bIns="50800" rIns="50800"/>
            <a:lstStyle/>
            <a:p>
              <a:pPr algn="ctr">
                <a:lnSpc>
                  <a:spcPts val="3447"/>
                </a:lnSpc>
              </a:pPr>
            </a:p>
          </p:txBody>
        </p:sp>
      </p:grpSp>
      <p:sp>
        <p:nvSpPr>
          <p:cNvPr name="TextBox 9" id="9"/>
          <p:cNvSpPr txBox="true"/>
          <p:nvPr/>
        </p:nvSpPr>
        <p:spPr>
          <a:xfrm rot="0">
            <a:off x="1029190" y="2497793"/>
            <a:ext cx="2223374" cy="300531"/>
          </a:xfrm>
          <a:prstGeom prst="rect">
            <a:avLst/>
          </a:prstGeom>
        </p:spPr>
        <p:txBody>
          <a:bodyPr anchor="t" rtlCol="false" tIns="0" lIns="0" bIns="0" rIns="0">
            <a:spAutoFit/>
          </a:bodyPr>
          <a:lstStyle/>
          <a:p>
            <a:pPr algn="ctr">
              <a:lnSpc>
                <a:spcPts val="2390"/>
              </a:lnSpc>
            </a:pPr>
            <a:r>
              <a:rPr lang="en-US" b="true" sz="2115">
                <a:solidFill>
                  <a:srgbClr val="000000"/>
                </a:solidFill>
                <a:latin typeface="HK Grotesk Bold"/>
                <a:ea typeface="HK Grotesk Bold"/>
                <a:cs typeface="HK Grotesk Bold"/>
                <a:sym typeface="HK Grotesk Bold"/>
              </a:rPr>
              <a:t>Algoritmo</a:t>
            </a:r>
          </a:p>
        </p:txBody>
      </p:sp>
      <p:grpSp>
        <p:nvGrpSpPr>
          <p:cNvPr name="Group 10" id="10"/>
          <p:cNvGrpSpPr/>
          <p:nvPr/>
        </p:nvGrpSpPr>
        <p:grpSpPr>
          <a:xfrm rot="-10800000">
            <a:off x="3601916" y="2303634"/>
            <a:ext cx="2224355" cy="699422"/>
            <a:chOff x="0" y="0"/>
            <a:chExt cx="664549" cy="208960"/>
          </a:xfrm>
        </p:grpSpPr>
        <p:sp>
          <p:nvSpPr>
            <p:cNvPr name="Freeform 11" id="11"/>
            <p:cNvSpPr/>
            <p:nvPr/>
          </p:nvSpPr>
          <p:spPr>
            <a:xfrm flipH="false" flipV="false" rot="0">
              <a:off x="0" y="0"/>
              <a:ext cx="664549" cy="208960"/>
            </a:xfrm>
            <a:custGeom>
              <a:avLst/>
              <a:gdLst/>
              <a:ahLst/>
              <a:cxnLst/>
              <a:rect r="r" b="b" t="t" l="l"/>
              <a:pathLst>
                <a:path h="208960" w="664549">
                  <a:moveTo>
                    <a:pt x="104480" y="0"/>
                  </a:moveTo>
                  <a:lnTo>
                    <a:pt x="560069" y="0"/>
                  </a:lnTo>
                  <a:cubicBezTo>
                    <a:pt x="617772" y="0"/>
                    <a:pt x="664549" y="46777"/>
                    <a:pt x="664549" y="104480"/>
                  </a:cubicBezTo>
                  <a:lnTo>
                    <a:pt x="664549" y="104480"/>
                  </a:lnTo>
                  <a:cubicBezTo>
                    <a:pt x="664549" y="162182"/>
                    <a:pt x="617772" y="208960"/>
                    <a:pt x="560069" y="208960"/>
                  </a:cubicBezTo>
                  <a:lnTo>
                    <a:pt x="104480" y="208960"/>
                  </a:lnTo>
                  <a:cubicBezTo>
                    <a:pt x="46777" y="208960"/>
                    <a:pt x="0" y="162182"/>
                    <a:pt x="0" y="104480"/>
                  </a:cubicBezTo>
                  <a:lnTo>
                    <a:pt x="0" y="104480"/>
                  </a:lnTo>
                  <a:cubicBezTo>
                    <a:pt x="0" y="46777"/>
                    <a:pt x="46777" y="0"/>
                    <a:pt x="104480" y="0"/>
                  </a:cubicBezTo>
                  <a:close/>
                </a:path>
              </a:pathLst>
            </a:custGeom>
            <a:gradFill rotWithShape="true">
              <a:gsLst>
                <a:gs pos="0">
                  <a:srgbClr val="65CED1">
                    <a:alpha val="100000"/>
                  </a:srgbClr>
                </a:gs>
                <a:gs pos="100000">
                  <a:srgbClr val="1F4E4F">
                    <a:alpha val="100000"/>
                  </a:srgbClr>
                </a:gs>
              </a:gsLst>
              <a:lin ang="2700000"/>
            </a:gradFill>
          </p:spPr>
        </p:sp>
        <p:sp>
          <p:nvSpPr>
            <p:cNvPr name="TextBox 12" id="12"/>
            <p:cNvSpPr txBox="true"/>
            <p:nvPr/>
          </p:nvSpPr>
          <p:spPr>
            <a:xfrm>
              <a:off x="0" y="-57150"/>
              <a:ext cx="664549" cy="266110"/>
            </a:xfrm>
            <a:prstGeom prst="rect">
              <a:avLst/>
            </a:prstGeom>
          </p:spPr>
          <p:txBody>
            <a:bodyPr anchor="ctr" rtlCol="false" tIns="50800" lIns="50800" bIns="50800" rIns="50800"/>
            <a:lstStyle/>
            <a:p>
              <a:pPr algn="ctr">
                <a:lnSpc>
                  <a:spcPts val="3447"/>
                </a:lnSpc>
              </a:pPr>
            </a:p>
          </p:txBody>
        </p:sp>
      </p:grpSp>
      <p:grpSp>
        <p:nvGrpSpPr>
          <p:cNvPr name="Group 13" id="13"/>
          <p:cNvGrpSpPr/>
          <p:nvPr/>
        </p:nvGrpSpPr>
        <p:grpSpPr>
          <a:xfrm rot="-10800000">
            <a:off x="6537608" y="2307745"/>
            <a:ext cx="2224355" cy="699422"/>
            <a:chOff x="0" y="0"/>
            <a:chExt cx="664549" cy="208960"/>
          </a:xfrm>
        </p:grpSpPr>
        <p:sp>
          <p:nvSpPr>
            <p:cNvPr name="Freeform 14" id="14"/>
            <p:cNvSpPr/>
            <p:nvPr/>
          </p:nvSpPr>
          <p:spPr>
            <a:xfrm flipH="false" flipV="false" rot="0">
              <a:off x="0" y="0"/>
              <a:ext cx="664549" cy="208960"/>
            </a:xfrm>
            <a:custGeom>
              <a:avLst/>
              <a:gdLst/>
              <a:ahLst/>
              <a:cxnLst/>
              <a:rect r="r" b="b" t="t" l="l"/>
              <a:pathLst>
                <a:path h="208960" w="664549">
                  <a:moveTo>
                    <a:pt x="104480" y="0"/>
                  </a:moveTo>
                  <a:lnTo>
                    <a:pt x="560069" y="0"/>
                  </a:lnTo>
                  <a:cubicBezTo>
                    <a:pt x="617772" y="0"/>
                    <a:pt x="664549" y="46777"/>
                    <a:pt x="664549" y="104480"/>
                  </a:cubicBezTo>
                  <a:lnTo>
                    <a:pt x="664549" y="104480"/>
                  </a:lnTo>
                  <a:cubicBezTo>
                    <a:pt x="664549" y="162182"/>
                    <a:pt x="617772" y="208960"/>
                    <a:pt x="560069" y="208960"/>
                  </a:cubicBezTo>
                  <a:lnTo>
                    <a:pt x="104480" y="208960"/>
                  </a:lnTo>
                  <a:cubicBezTo>
                    <a:pt x="46777" y="208960"/>
                    <a:pt x="0" y="162182"/>
                    <a:pt x="0" y="104480"/>
                  </a:cubicBezTo>
                  <a:lnTo>
                    <a:pt x="0" y="104480"/>
                  </a:lnTo>
                  <a:cubicBezTo>
                    <a:pt x="0" y="46777"/>
                    <a:pt x="46777" y="0"/>
                    <a:pt x="104480" y="0"/>
                  </a:cubicBezTo>
                  <a:close/>
                </a:path>
              </a:pathLst>
            </a:custGeom>
            <a:gradFill rotWithShape="true">
              <a:gsLst>
                <a:gs pos="0">
                  <a:srgbClr val="65CED1">
                    <a:alpha val="100000"/>
                  </a:srgbClr>
                </a:gs>
                <a:gs pos="100000">
                  <a:srgbClr val="1F4E4F">
                    <a:alpha val="100000"/>
                  </a:srgbClr>
                </a:gs>
              </a:gsLst>
              <a:lin ang="2700000"/>
            </a:gradFill>
          </p:spPr>
        </p:sp>
        <p:sp>
          <p:nvSpPr>
            <p:cNvPr name="TextBox 15" id="15"/>
            <p:cNvSpPr txBox="true"/>
            <p:nvPr/>
          </p:nvSpPr>
          <p:spPr>
            <a:xfrm>
              <a:off x="0" y="-57150"/>
              <a:ext cx="664549" cy="266110"/>
            </a:xfrm>
            <a:prstGeom prst="rect">
              <a:avLst/>
            </a:prstGeom>
          </p:spPr>
          <p:txBody>
            <a:bodyPr anchor="ctr" rtlCol="false" tIns="50800" lIns="50800" bIns="50800" rIns="50800"/>
            <a:lstStyle/>
            <a:p>
              <a:pPr algn="ctr">
                <a:lnSpc>
                  <a:spcPts val="3447"/>
                </a:lnSpc>
              </a:pPr>
            </a:p>
          </p:txBody>
        </p:sp>
      </p:grpSp>
      <p:grpSp>
        <p:nvGrpSpPr>
          <p:cNvPr name="Group 16" id="16"/>
          <p:cNvGrpSpPr/>
          <p:nvPr/>
        </p:nvGrpSpPr>
        <p:grpSpPr>
          <a:xfrm rot="-10800000">
            <a:off x="9319431" y="2333483"/>
            <a:ext cx="2224355" cy="699422"/>
            <a:chOff x="0" y="0"/>
            <a:chExt cx="664549" cy="208960"/>
          </a:xfrm>
        </p:grpSpPr>
        <p:sp>
          <p:nvSpPr>
            <p:cNvPr name="Freeform 17" id="17"/>
            <p:cNvSpPr/>
            <p:nvPr/>
          </p:nvSpPr>
          <p:spPr>
            <a:xfrm flipH="false" flipV="false" rot="0">
              <a:off x="0" y="0"/>
              <a:ext cx="664549" cy="208960"/>
            </a:xfrm>
            <a:custGeom>
              <a:avLst/>
              <a:gdLst/>
              <a:ahLst/>
              <a:cxnLst/>
              <a:rect r="r" b="b" t="t" l="l"/>
              <a:pathLst>
                <a:path h="208960" w="664549">
                  <a:moveTo>
                    <a:pt x="104480" y="0"/>
                  </a:moveTo>
                  <a:lnTo>
                    <a:pt x="560069" y="0"/>
                  </a:lnTo>
                  <a:cubicBezTo>
                    <a:pt x="617772" y="0"/>
                    <a:pt x="664549" y="46777"/>
                    <a:pt x="664549" y="104480"/>
                  </a:cubicBezTo>
                  <a:lnTo>
                    <a:pt x="664549" y="104480"/>
                  </a:lnTo>
                  <a:cubicBezTo>
                    <a:pt x="664549" y="162182"/>
                    <a:pt x="617772" y="208960"/>
                    <a:pt x="560069" y="208960"/>
                  </a:cubicBezTo>
                  <a:lnTo>
                    <a:pt x="104480" y="208960"/>
                  </a:lnTo>
                  <a:cubicBezTo>
                    <a:pt x="46777" y="208960"/>
                    <a:pt x="0" y="162182"/>
                    <a:pt x="0" y="104480"/>
                  </a:cubicBezTo>
                  <a:lnTo>
                    <a:pt x="0" y="104480"/>
                  </a:lnTo>
                  <a:cubicBezTo>
                    <a:pt x="0" y="46777"/>
                    <a:pt x="46777" y="0"/>
                    <a:pt x="104480" y="0"/>
                  </a:cubicBezTo>
                  <a:close/>
                </a:path>
              </a:pathLst>
            </a:custGeom>
            <a:gradFill rotWithShape="true">
              <a:gsLst>
                <a:gs pos="0">
                  <a:srgbClr val="65CED1">
                    <a:alpha val="100000"/>
                  </a:srgbClr>
                </a:gs>
                <a:gs pos="100000">
                  <a:srgbClr val="1F4E4F">
                    <a:alpha val="100000"/>
                  </a:srgbClr>
                </a:gs>
              </a:gsLst>
              <a:lin ang="2700000"/>
            </a:gradFill>
          </p:spPr>
        </p:sp>
        <p:sp>
          <p:nvSpPr>
            <p:cNvPr name="TextBox 18" id="18"/>
            <p:cNvSpPr txBox="true"/>
            <p:nvPr/>
          </p:nvSpPr>
          <p:spPr>
            <a:xfrm>
              <a:off x="0" y="-57150"/>
              <a:ext cx="664549" cy="266110"/>
            </a:xfrm>
            <a:prstGeom prst="rect">
              <a:avLst/>
            </a:prstGeom>
          </p:spPr>
          <p:txBody>
            <a:bodyPr anchor="ctr" rtlCol="false" tIns="50800" lIns="50800" bIns="50800" rIns="50800"/>
            <a:lstStyle/>
            <a:p>
              <a:pPr algn="ctr">
                <a:lnSpc>
                  <a:spcPts val="3447"/>
                </a:lnSpc>
              </a:pPr>
            </a:p>
          </p:txBody>
        </p:sp>
      </p:grpSp>
      <p:grpSp>
        <p:nvGrpSpPr>
          <p:cNvPr name="Group 19" id="19"/>
          <p:cNvGrpSpPr/>
          <p:nvPr/>
        </p:nvGrpSpPr>
        <p:grpSpPr>
          <a:xfrm rot="-10800000">
            <a:off x="12077186" y="2333483"/>
            <a:ext cx="2224355" cy="699422"/>
            <a:chOff x="0" y="0"/>
            <a:chExt cx="664549" cy="208960"/>
          </a:xfrm>
        </p:grpSpPr>
        <p:sp>
          <p:nvSpPr>
            <p:cNvPr name="Freeform 20" id="20"/>
            <p:cNvSpPr/>
            <p:nvPr/>
          </p:nvSpPr>
          <p:spPr>
            <a:xfrm flipH="false" flipV="false" rot="0">
              <a:off x="0" y="0"/>
              <a:ext cx="664549" cy="208960"/>
            </a:xfrm>
            <a:custGeom>
              <a:avLst/>
              <a:gdLst/>
              <a:ahLst/>
              <a:cxnLst/>
              <a:rect r="r" b="b" t="t" l="l"/>
              <a:pathLst>
                <a:path h="208960" w="664549">
                  <a:moveTo>
                    <a:pt x="104480" y="0"/>
                  </a:moveTo>
                  <a:lnTo>
                    <a:pt x="560069" y="0"/>
                  </a:lnTo>
                  <a:cubicBezTo>
                    <a:pt x="617772" y="0"/>
                    <a:pt x="664549" y="46777"/>
                    <a:pt x="664549" y="104480"/>
                  </a:cubicBezTo>
                  <a:lnTo>
                    <a:pt x="664549" y="104480"/>
                  </a:lnTo>
                  <a:cubicBezTo>
                    <a:pt x="664549" y="162182"/>
                    <a:pt x="617772" y="208960"/>
                    <a:pt x="560069" y="208960"/>
                  </a:cubicBezTo>
                  <a:lnTo>
                    <a:pt x="104480" y="208960"/>
                  </a:lnTo>
                  <a:cubicBezTo>
                    <a:pt x="46777" y="208960"/>
                    <a:pt x="0" y="162182"/>
                    <a:pt x="0" y="104480"/>
                  </a:cubicBezTo>
                  <a:lnTo>
                    <a:pt x="0" y="104480"/>
                  </a:lnTo>
                  <a:cubicBezTo>
                    <a:pt x="0" y="46777"/>
                    <a:pt x="46777" y="0"/>
                    <a:pt x="104480" y="0"/>
                  </a:cubicBezTo>
                  <a:close/>
                </a:path>
              </a:pathLst>
            </a:custGeom>
            <a:gradFill rotWithShape="true">
              <a:gsLst>
                <a:gs pos="0">
                  <a:srgbClr val="65CED1">
                    <a:alpha val="100000"/>
                  </a:srgbClr>
                </a:gs>
                <a:gs pos="100000">
                  <a:srgbClr val="1F4E4F">
                    <a:alpha val="100000"/>
                  </a:srgbClr>
                </a:gs>
              </a:gsLst>
              <a:lin ang="2700000"/>
            </a:gradFill>
          </p:spPr>
        </p:sp>
        <p:sp>
          <p:nvSpPr>
            <p:cNvPr name="TextBox 21" id="21"/>
            <p:cNvSpPr txBox="true"/>
            <p:nvPr/>
          </p:nvSpPr>
          <p:spPr>
            <a:xfrm>
              <a:off x="0" y="-57150"/>
              <a:ext cx="664549" cy="266110"/>
            </a:xfrm>
            <a:prstGeom prst="rect">
              <a:avLst/>
            </a:prstGeom>
          </p:spPr>
          <p:txBody>
            <a:bodyPr anchor="ctr" rtlCol="false" tIns="50800" lIns="50800" bIns="50800" rIns="50800"/>
            <a:lstStyle/>
            <a:p>
              <a:pPr algn="ctr">
                <a:lnSpc>
                  <a:spcPts val="3447"/>
                </a:lnSpc>
              </a:pPr>
            </a:p>
          </p:txBody>
        </p:sp>
      </p:grpSp>
      <p:grpSp>
        <p:nvGrpSpPr>
          <p:cNvPr name="Group 22" id="22"/>
          <p:cNvGrpSpPr/>
          <p:nvPr/>
        </p:nvGrpSpPr>
        <p:grpSpPr>
          <a:xfrm rot="-10800000">
            <a:off x="14911141" y="2333483"/>
            <a:ext cx="2224355" cy="699422"/>
            <a:chOff x="0" y="0"/>
            <a:chExt cx="664549" cy="208960"/>
          </a:xfrm>
        </p:grpSpPr>
        <p:sp>
          <p:nvSpPr>
            <p:cNvPr name="Freeform 23" id="23"/>
            <p:cNvSpPr/>
            <p:nvPr/>
          </p:nvSpPr>
          <p:spPr>
            <a:xfrm flipH="false" flipV="false" rot="0">
              <a:off x="0" y="0"/>
              <a:ext cx="664549" cy="208960"/>
            </a:xfrm>
            <a:custGeom>
              <a:avLst/>
              <a:gdLst/>
              <a:ahLst/>
              <a:cxnLst/>
              <a:rect r="r" b="b" t="t" l="l"/>
              <a:pathLst>
                <a:path h="208960" w="664549">
                  <a:moveTo>
                    <a:pt x="104480" y="0"/>
                  </a:moveTo>
                  <a:lnTo>
                    <a:pt x="560069" y="0"/>
                  </a:lnTo>
                  <a:cubicBezTo>
                    <a:pt x="617772" y="0"/>
                    <a:pt x="664549" y="46777"/>
                    <a:pt x="664549" y="104480"/>
                  </a:cubicBezTo>
                  <a:lnTo>
                    <a:pt x="664549" y="104480"/>
                  </a:lnTo>
                  <a:cubicBezTo>
                    <a:pt x="664549" y="162182"/>
                    <a:pt x="617772" y="208960"/>
                    <a:pt x="560069" y="208960"/>
                  </a:cubicBezTo>
                  <a:lnTo>
                    <a:pt x="104480" y="208960"/>
                  </a:lnTo>
                  <a:cubicBezTo>
                    <a:pt x="46777" y="208960"/>
                    <a:pt x="0" y="162182"/>
                    <a:pt x="0" y="104480"/>
                  </a:cubicBezTo>
                  <a:lnTo>
                    <a:pt x="0" y="104480"/>
                  </a:lnTo>
                  <a:cubicBezTo>
                    <a:pt x="0" y="46777"/>
                    <a:pt x="46777" y="0"/>
                    <a:pt x="104480" y="0"/>
                  </a:cubicBezTo>
                  <a:close/>
                </a:path>
              </a:pathLst>
            </a:custGeom>
            <a:gradFill rotWithShape="true">
              <a:gsLst>
                <a:gs pos="0">
                  <a:srgbClr val="65CED1">
                    <a:alpha val="100000"/>
                  </a:srgbClr>
                </a:gs>
                <a:gs pos="100000">
                  <a:srgbClr val="1F4E4F">
                    <a:alpha val="100000"/>
                  </a:srgbClr>
                </a:gs>
              </a:gsLst>
              <a:lin ang="2700000"/>
            </a:gradFill>
          </p:spPr>
        </p:sp>
        <p:sp>
          <p:nvSpPr>
            <p:cNvPr name="TextBox 24" id="24"/>
            <p:cNvSpPr txBox="true"/>
            <p:nvPr/>
          </p:nvSpPr>
          <p:spPr>
            <a:xfrm>
              <a:off x="0" y="-57150"/>
              <a:ext cx="664549" cy="266110"/>
            </a:xfrm>
            <a:prstGeom prst="rect">
              <a:avLst/>
            </a:prstGeom>
          </p:spPr>
          <p:txBody>
            <a:bodyPr anchor="ctr" rtlCol="false" tIns="50800" lIns="50800" bIns="50800" rIns="50800"/>
            <a:lstStyle/>
            <a:p>
              <a:pPr algn="ctr">
                <a:lnSpc>
                  <a:spcPts val="3447"/>
                </a:lnSpc>
              </a:pPr>
            </a:p>
          </p:txBody>
        </p:sp>
      </p:grpSp>
      <p:sp>
        <p:nvSpPr>
          <p:cNvPr name="TextBox 25" id="25"/>
          <p:cNvSpPr txBox="true"/>
          <p:nvPr/>
        </p:nvSpPr>
        <p:spPr>
          <a:xfrm rot="0">
            <a:off x="3785929" y="2465107"/>
            <a:ext cx="1991427" cy="300531"/>
          </a:xfrm>
          <a:prstGeom prst="rect">
            <a:avLst/>
          </a:prstGeom>
        </p:spPr>
        <p:txBody>
          <a:bodyPr anchor="t" rtlCol="false" tIns="0" lIns="0" bIns="0" rIns="0">
            <a:spAutoFit/>
          </a:bodyPr>
          <a:lstStyle/>
          <a:p>
            <a:pPr algn="ctr">
              <a:lnSpc>
                <a:spcPts val="2390"/>
              </a:lnSpc>
            </a:pPr>
            <a:r>
              <a:rPr lang="en-US" sz="2115" b="true">
                <a:solidFill>
                  <a:srgbClr val="000000"/>
                </a:solidFill>
                <a:latin typeface="HK Grotesk Bold"/>
                <a:ea typeface="HK Grotesk Bold"/>
                <a:cs typeface="HK Grotesk Bold"/>
                <a:sym typeface="HK Grotesk Bold"/>
              </a:rPr>
              <a:t>Funcionamiento</a:t>
            </a:r>
          </a:p>
        </p:txBody>
      </p:sp>
      <p:sp>
        <p:nvSpPr>
          <p:cNvPr name="TextBox 26" id="26"/>
          <p:cNvSpPr txBox="true"/>
          <p:nvPr/>
        </p:nvSpPr>
        <p:spPr>
          <a:xfrm rot="0">
            <a:off x="3785929" y="3651621"/>
            <a:ext cx="2223865" cy="1689771"/>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Convierte el arreglo en un árbol heap (máximo o mínimo) y extrae repetidamente el elemento raíz reestructurando el heap.</a:t>
            </a:r>
          </a:p>
        </p:txBody>
      </p:sp>
      <p:sp>
        <p:nvSpPr>
          <p:cNvPr name="TextBox 27" id="27"/>
          <p:cNvSpPr txBox="true"/>
          <p:nvPr/>
        </p:nvSpPr>
        <p:spPr>
          <a:xfrm rot="0">
            <a:off x="3785929" y="5651688"/>
            <a:ext cx="2223865" cy="1208535"/>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Inserta los elementos en un BST y realiza un recorrido in-orden para obtener los datos ordenados.</a:t>
            </a:r>
          </a:p>
        </p:txBody>
      </p:sp>
      <p:sp>
        <p:nvSpPr>
          <p:cNvPr name="TextBox 28" id="28"/>
          <p:cNvSpPr txBox="true"/>
          <p:nvPr/>
        </p:nvSpPr>
        <p:spPr>
          <a:xfrm rot="0">
            <a:off x="3785929" y="7228886"/>
            <a:ext cx="2223865" cy="1689771"/>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Simula una competencia entre elementos, donde cada comparación elimina un perdedor hasta hallar el mínimo o máximo; luego se repite.</a:t>
            </a:r>
          </a:p>
        </p:txBody>
      </p:sp>
      <p:sp>
        <p:nvSpPr>
          <p:cNvPr name="TextBox 29" id="29"/>
          <p:cNvSpPr txBox="true"/>
          <p:nvPr/>
        </p:nvSpPr>
        <p:spPr>
          <a:xfrm rot="0">
            <a:off x="6721621" y="2497793"/>
            <a:ext cx="1991427" cy="300531"/>
          </a:xfrm>
          <a:prstGeom prst="rect">
            <a:avLst/>
          </a:prstGeom>
        </p:spPr>
        <p:txBody>
          <a:bodyPr anchor="t" rtlCol="false" tIns="0" lIns="0" bIns="0" rIns="0">
            <a:spAutoFit/>
          </a:bodyPr>
          <a:lstStyle/>
          <a:p>
            <a:pPr algn="ctr">
              <a:lnSpc>
                <a:spcPts val="2390"/>
              </a:lnSpc>
            </a:pPr>
            <a:r>
              <a:rPr lang="en-US" sz="2115" b="true">
                <a:solidFill>
                  <a:srgbClr val="000000"/>
                </a:solidFill>
                <a:latin typeface="HK Grotesk Bold"/>
                <a:ea typeface="HK Grotesk Bold"/>
                <a:cs typeface="HK Grotesk Bold"/>
                <a:sym typeface="HK Grotesk Bold"/>
              </a:rPr>
              <a:t>Temporal</a:t>
            </a:r>
          </a:p>
        </p:txBody>
      </p:sp>
      <p:sp>
        <p:nvSpPr>
          <p:cNvPr name="TextBox 30" id="30"/>
          <p:cNvSpPr txBox="true"/>
          <p:nvPr/>
        </p:nvSpPr>
        <p:spPr>
          <a:xfrm rot="0">
            <a:off x="6721621" y="3684307"/>
            <a:ext cx="2223865" cy="727300"/>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Mejor: O(n log n)</a:t>
            </a:r>
          </a:p>
          <a:p>
            <a:pPr algn="l">
              <a:lnSpc>
                <a:spcPts val="1903"/>
              </a:lnSpc>
            </a:pPr>
            <a:r>
              <a:rPr lang="en-US" sz="1684">
                <a:solidFill>
                  <a:srgbClr val="FFFFFF"/>
                </a:solidFill>
                <a:latin typeface="HK Grotesk"/>
                <a:ea typeface="HK Grotesk"/>
                <a:cs typeface="HK Grotesk"/>
                <a:sym typeface="HK Grotesk"/>
              </a:rPr>
              <a:t>Promedio: O(n log n)</a:t>
            </a:r>
          </a:p>
          <a:p>
            <a:pPr algn="l">
              <a:lnSpc>
                <a:spcPts val="1903"/>
              </a:lnSpc>
            </a:pPr>
            <a:r>
              <a:rPr lang="en-US" sz="1684">
                <a:solidFill>
                  <a:srgbClr val="FFFFFF"/>
                </a:solidFill>
                <a:latin typeface="HK Grotesk"/>
                <a:ea typeface="HK Grotesk"/>
                <a:cs typeface="HK Grotesk"/>
                <a:sym typeface="HK Grotesk"/>
              </a:rPr>
              <a:t>Peor: O(n log n)</a:t>
            </a:r>
          </a:p>
        </p:txBody>
      </p:sp>
      <p:sp>
        <p:nvSpPr>
          <p:cNvPr name="TextBox 31" id="31"/>
          <p:cNvSpPr txBox="true"/>
          <p:nvPr/>
        </p:nvSpPr>
        <p:spPr>
          <a:xfrm rot="0">
            <a:off x="6721621" y="5684374"/>
            <a:ext cx="2223865" cy="967918"/>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Mejor: O(n log n)</a:t>
            </a:r>
          </a:p>
          <a:p>
            <a:pPr algn="l">
              <a:lnSpc>
                <a:spcPts val="1903"/>
              </a:lnSpc>
            </a:pPr>
            <a:r>
              <a:rPr lang="en-US" sz="1684">
                <a:solidFill>
                  <a:srgbClr val="FFFFFF"/>
                </a:solidFill>
                <a:latin typeface="HK Grotesk"/>
                <a:ea typeface="HK Grotesk"/>
                <a:cs typeface="HK Grotesk"/>
                <a:sym typeface="HK Grotesk"/>
              </a:rPr>
              <a:t>Promedio: O(n log n)</a:t>
            </a:r>
          </a:p>
          <a:p>
            <a:pPr algn="l">
              <a:lnSpc>
                <a:spcPts val="1903"/>
              </a:lnSpc>
            </a:pPr>
            <a:r>
              <a:rPr lang="en-US" sz="1684">
                <a:solidFill>
                  <a:srgbClr val="FFFFFF"/>
                </a:solidFill>
                <a:latin typeface="HK Grotesk"/>
                <a:ea typeface="HK Grotesk"/>
                <a:cs typeface="HK Grotesk"/>
                <a:sym typeface="HK Grotesk"/>
              </a:rPr>
              <a:t>Peor: O(n²) (si el árbol se desbalancea)</a:t>
            </a:r>
          </a:p>
        </p:txBody>
      </p:sp>
      <p:sp>
        <p:nvSpPr>
          <p:cNvPr name="TextBox 32" id="32"/>
          <p:cNvSpPr txBox="true"/>
          <p:nvPr/>
        </p:nvSpPr>
        <p:spPr>
          <a:xfrm rot="0">
            <a:off x="6721621" y="7261572"/>
            <a:ext cx="2223865" cy="727300"/>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Mejor: O(n log n)</a:t>
            </a:r>
          </a:p>
          <a:p>
            <a:pPr algn="l">
              <a:lnSpc>
                <a:spcPts val="1903"/>
              </a:lnSpc>
            </a:pPr>
            <a:r>
              <a:rPr lang="en-US" sz="1684">
                <a:solidFill>
                  <a:srgbClr val="FFFFFF"/>
                </a:solidFill>
                <a:latin typeface="HK Grotesk"/>
                <a:ea typeface="HK Grotesk"/>
                <a:cs typeface="HK Grotesk"/>
                <a:sym typeface="HK Grotesk"/>
              </a:rPr>
              <a:t>Promedio: O(n log n)</a:t>
            </a:r>
          </a:p>
          <a:p>
            <a:pPr algn="l">
              <a:lnSpc>
                <a:spcPts val="1903"/>
              </a:lnSpc>
            </a:pPr>
            <a:r>
              <a:rPr lang="en-US" sz="1684">
                <a:solidFill>
                  <a:srgbClr val="FFFFFF"/>
                </a:solidFill>
                <a:latin typeface="HK Grotesk"/>
                <a:ea typeface="HK Grotesk"/>
                <a:cs typeface="HK Grotesk"/>
                <a:sym typeface="HK Grotesk"/>
              </a:rPr>
              <a:t>Peor: O(n log n)</a:t>
            </a:r>
          </a:p>
        </p:txBody>
      </p:sp>
      <p:sp>
        <p:nvSpPr>
          <p:cNvPr name="TextBox 33" id="33"/>
          <p:cNvSpPr txBox="true"/>
          <p:nvPr/>
        </p:nvSpPr>
        <p:spPr>
          <a:xfrm rot="0">
            <a:off x="9657313" y="2497793"/>
            <a:ext cx="1548591" cy="300531"/>
          </a:xfrm>
          <a:prstGeom prst="rect">
            <a:avLst/>
          </a:prstGeom>
        </p:spPr>
        <p:txBody>
          <a:bodyPr anchor="t" rtlCol="false" tIns="0" lIns="0" bIns="0" rIns="0">
            <a:spAutoFit/>
          </a:bodyPr>
          <a:lstStyle/>
          <a:p>
            <a:pPr algn="ctr">
              <a:lnSpc>
                <a:spcPts val="2390"/>
              </a:lnSpc>
            </a:pPr>
            <a:r>
              <a:rPr lang="en-US" sz="2115" b="true">
                <a:solidFill>
                  <a:srgbClr val="000000"/>
                </a:solidFill>
                <a:latin typeface="HK Grotesk Bold"/>
                <a:ea typeface="HK Grotesk Bold"/>
                <a:cs typeface="HK Grotesk Bold"/>
                <a:sym typeface="HK Grotesk Bold"/>
              </a:rPr>
              <a:t>Espacial</a:t>
            </a:r>
          </a:p>
        </p:txBody>
      </p:sp>
      <p:sp>
        <p:nvSpPr>
          <p:cNvPr name="TextBox 34" id="34"/>
          <p:cNvSpPr txBox="true"/>
          <p:nvPr/>
        </p:nvSpPr>
        <p:spPr>
          <a:xfrm rot="0">
            <a:off x="9657313" y="3684307"/>
            <a:ext cx="1729341" cy="246064"/>
          </a:xfrm>
          <a:prstGeom prst="rect">
            <a:avLst/>
          </a:prstGeom>
        </p:spPr>
        <p:txBody>
          <a:bodyPr anchor="t" rtlCol="false" tIns="0" lIns="0" bIns="0" rIns="0">
            <a:spAutoFit/>
          </a:bodyPr>
          <a:lstStyle/>
          <a:p>
            <a:pPr algn="ctr">
              <a:lnSpc>
                <a:spcPts val="1903"/>
              </a:lnSpc>
            </a:pPr>
            <a:r>
              <a:rPr lang="en-US" sz="1684">
                <a:solidFill>
                  <a:srgbClr val="FFFFFF"/>
                </a:solidFill>
                <a:latin typeface="HK Grotesk"/>
                <a:ea typeface="HK Grotesk"/>
                <a:cs typeface="HK Grotesk"/>
                <a:sym typeface="HK Grotesk"/>
              </a:rPr>
              <a:t>O(1) (in-place)</a:t>
            </a:r>
          </a:p>
        </p:txBody>
      </p:sp>
      <p:sp>
        <p:nvSpPr>
          <p:cNvPr name="TextBox 35" id="35"/>
          <p:cNvSpPr txBox="true"/>
          <p:nvPr/>
        </p:nvSpPr>
        <p:spPr>
          <a:xfrm rot="0">
            <a:off x="9657313" y="5684374"/>
            <a:ext cx="1729341" cy="246064"/>
          </a:xfrm>
          <a:prstGeom prst="rect">
            <a:avLst/>
          </a:prstGeom>
        </p:spPr>
        <p:txBody>
          <a:bodyPr anchor="t" rtlCol="false" tIns="0" lIns="0" bIns="0" rIns="0">
            <a:spAutoFit/>
          </a:bodyPr>
          <a:lstStyle/>
          <a:p>
            <a:pPr algn="ctr">
              <a:lnSpc>
                <a:spcPts val="1903"/>
              </a:lnSpc>
            </a:pPr>
            <a:r>
              <a:rPr lang="en-US" sz="1684">
                <a:solidFill>
                  <a:srgbClr val="FFFFFF"/>
                </a:solidFill>
                <a:latin typeface="HK Grotesk"/>
                <a:ea typeface="HK Grotesk"/>
                <a:cs typeface="HK Grotesk"/>
                <a:sym typeface="HK Grotesk"/>
              </a:rPr>
              <a:t>O(n)</a:t>
            </a:r>
          </a:p>
        </p:txBody>
      </p:sp>
      <p:sp>
        <p:nvSpPr>
          <p:cNvPr name="TextBox 36" id="36"/>
          <p:cNvSpPr txBox="true"/>
          <p:nvPr/>
        </p:nvSpPr>
        <p:spPr>
          <a:xfrm rot="0">
            <a:off x="9657313" y="7261572"/>
            <a:ext cx="1729341" cy="246064"/>
          </a:xfrm>
          <a:prstGeom prst="rect">
            <a:avLst/>
          </a:prstGeom>
        </p:spPr>
        <p:txBody>
          <a:bodyPr anchor="t" rtlCol="false" tIns="0" lIns="0" bIns="0" rIns="0">
            <a:spAutoFit/>
          </a:bodyPr>
          <a:lstStyle/>
          <a:p>
            <a:pPr algn="ctr">
              <a:lnSpc>
                <a:spcPts val="1903"/>
              </a:lnSpc>
            </a:pPr>
            <a:r>
              <a:rPr lang="en-US" sz="1684">
                <a:solidFill>
                  <a:srgbClr val="FFFFFF"/>
                </a:solidFill>
                <a:latin typeface="HK Grotesk"/>
                <a:ea typeface="HK Grotesk"/>
                <a:cs typeface="HK Grotesk"/>
                <a:sym typeface="HK Grotesk"/>
              </a:rPr>
              <a:t>O(n)</a:t>
            </a:r>
          </a:p>
        </p:txBody>
      </p:sp>
      <p:sp>
        <p:nvSpPr>
          <p:cNvPr name="TextBox 37" id="37"/>
          <p:cNvSpPr txBox="true"/>
          <p:nvPr/>
        </p:nvSpPr>
        <p:spPr>
          <a:xfrm rot="0">
            <a:off x="12098482" y="2497793"/>
            <a:ext cx="1991427" cy="300531"/>
          </a:xfrm>
          <a:prstGeom prst="rect">
            <a:avLst/>
          </a:prstGeom>
        </p:spPr>
        <p:txBody>
          <a:bodyPr anchor="t" rtlCol="false" tIns="0" lIns="0" bIns="0" rIns="0">
            <a:spAutoFit/>
          </a:bodyPr>
          <a:lstStyle/>
          <a:p>
            <a:pPr algn="ctr">
              <a:lnSpc>
                <a:spcPts val="2390"/>
              </a:lnSpc>
            </a:pPr>
            <a:r>
              <a:rPr lang="en-US" sz="2115" b="true">
                <a:solidFill>
                  <a:srgbClr val="000000"/>
                </a:solidFill>
                <a:latin typeface="HK Grotesk Bold"/>
                <a:ea typeface="HK Grotesk Bold"/>
                <a:cs typeface="HK Grotesk Bold"/>
                <a:sym typeface="HK Grotesk Bold"/>
              </a:rPr>
              <a:t>Ventajas</a:t>
            </a:r>
          </a:p>
        </p:txBody>
      </p:sp>
      <p:sp>
        <p:nvSpPr>
          <p:cNvPr name="TextBox 38" id="38"/>
          <p:cNvSpPr txBox="true"/>
          <p:nvPr/>
        </p:nvSpPr>
        <p:spPr>
          <a:xfrm rot="0">
            <a:off x="12098482" y="3684307"/>
            <a:ext cx="2223865" cy="967918"/>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Eficiente y constante en rendimiento; no necesita estructura adicional.</a:t>
            </a:r>
          </a:p>
        </p:txBody>
      </p:sp>
      <p:sp>
        <p:nvSpPr>
          <p:cNvPr name="TextBox 39" id="39"/>
          <p:cNvSpPr txBox="true"/>
          <p:nvPr/>
        </p:nvSpPr>
        <p:spPr>
          <a:xfrm rot="0">
            <a:off x="12098482" y="5684374"/>
            <a:ext cx="2223865" cy="727300"/>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Ordenamiento natural, fácil de entender y reutilizable para</a:t>
            </a:r>
          </a:p>
        </p:txBody>
      </p:sp>
      <p:sp>
        <p:nvSpPr>
          <p:cNvPr name="TextBox 40" id="40"/>
          <p:cNvSpPr txBox="true"/>
          <p:nvPr/>
        </p:nvSpPr>
        <p:spPr>
          <a:xfrm rot="0">
            <a:off x="12098482" y="7261572"/>
            <a:ext cx="2223865" cy="727300"/>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Ordenamiento natural, fácil de entender y reutilizable para</a:t>
            </a:r>
          </a:p>
        </p:txBody>
      </p:sp>
      <p:sp>
        <p:nvSpPr>
          <p:cNvPr name="TextBox 41" id="41"/>
          <p:cNvSpPr txBox="true"/>
          <p:nvPr/>
        </p:nvSpPr>
        <p:spPr>
          <a:xfrm rot="0">
            <a:off x="15035435" y="2542454"/>
            <a:ext cx="1991427" cy="300531"/>
          </a:xfrm>
          <a:prstGeom prst="rect">
            <a:avLst/>
          </a:prstGeom>
        </p:spPr>
        <p:txBody>
          <a:bodyPr anchor="t" rtlCol="false" tIns="0" lIns="0" bIns="0" rIns="0">
            <a:spAutoFit/>
          </a:bodyPr>
          <a:lstStyle/>
          <a:p>
            <a:pPr algn="ctr">
              <a:lnSpc>
                <a:spcPts val="2390"/>
              </a:lnSpc>
            </a:pPr>
            <a:r>
              <a:rPr lang="en-US" sz="2115" b="true">
                <a:solidFill>
                  <a:srgbClr val="000000"/>
                </a:solidFill>
                <a:latin typeface="HK Grotesk Bold"/>
                <a:ea typeface="HK Grotesk Bold"/>
                <a:cs typeface="HK Grotesk Bold"/>
                <a:sym typeface="HK Grotesk Bold"/>
              </a:rPr>
              <a:t>Desventajas</a:t>
            </a:r>
          </a:p>
        </p:txBody>
      </p:sp>
      <p:sp>
        <p:nvSpPr>
          <p:cNvPr name="TextBox 42" id="42"/>
          <p:cNvSpPr txBox="true"/>
          <p:nvPr/>
        </p:nvSpPr>
        <p:spPr>
          <a:xfrm rot="0">
            <a:off x="15035435" y="3728967"/>
            <a:ext cx="2223865" cy="727300"/>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No es estable (pierde el orden relativo de elementos iguales).</a:t>
            </a:r>
          </a:p>
        </p:txBody>
      </p:sp>
      <p:sp>
        <p:nvSpPr>
          <p:cNvPr name="TextBox 43" id="43"/>
          <p:cNvSpPr txBox="true"/>
          <p:nvPr/>
        </p:nvSpPr>
        <p:spPr>
          <a:xfrm rot="0">
            <a:off x="15035435" y="5729035"/>
            <a:ext cx="2223865" cy="967918"/>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Sensible al orden inicial; puede degradarse si no se usa un árbol balanceado.</a:t>
            </a:r>
          </a:p>
        </p:txBody>
      </p:sp>
      <p:sp>
        <p:nvSpPr>
          <p:cNvPr name="TextBox 44" id="44"/>
          <p:cNvSpPr txBox="true"/>
          <p:nvPr/>
        </p:nvSpPr>
        <p:spPr>
          <a:xfrm rot="0">
            <a:off x="15035435" y="7306232"/>
            <a:ext cx="2223865" cy="727300"/>
          </a:xfrm>
          <a:prstGeom prst="rect">
            <a:avLst/>
          </a:prstGeom>
        </p:spPr>
        <p:txBody>
          <a:bodyPr anchor="t" rtlCol="false" tIns="0" lIns="0" bIns="0" rIns="0">
            <a:spAutoFit/>
          </a:bodyPr>
          <a:lstStyle/>
          <a:p>
            <a:pPr algn="l">
              <a:lnSpc>
                <a:spcPts val="1903"/>
              </a:lnSpc>
            </a:pPr>
            <a:r>
              <a:rPr lang="en-US" sz="1684">
                <a:solidFill>
                  <a:srgbClr val="FFFFFF"/>
                </a:solidFill>
                <a:latin typeface="HK Grotesk"/>
                <a:ea typeface="HK Grotesk"/>
                <a:cs typeface="HK Grotesk"/>
                <a:sym typeface="HK Grotesk"/>
              </a:rPr>
              <a:t>No es estable (pierde el orden relativo de elementos iguales).</a:t>
            </a:r>
          </a:p>
        </p:txBody>
      </p:sp>
      <p:sp>
        <p:nvSpPr>
          <p:cNvPr name="TextBox 45" id="45"/>
          <p:cNvSpPr txBox="true"/>
          <p:nvPr/>
        </p:nvSpPr>
        <p:spPr>
          <a:xfrm rot="0">
            <a:off x="1028700" y="4261388"/>
            <a:ext cx="2223865" cy="309962"/>
          </a:xfrm>
          <a:prstGeom prst="rect">
            <a:avLst/>
          </a:prstGeom>
        </p:spPr>
        <p:txBody>
          <a:bodyPr anchor="t" rtlCol="false" tIns="0" lIns="0" bIns="0" rIns="0">
            <a:spAutoFit/>
          </a:bodyPr>
          <a:lstStyle/>
          <a:p>
            <a:pPr algn="l">
              <a:lnSpc>
                <a:spcPts val="2378"/>
              </a:lnSpc>
            </a:pPr>
            <a:r>
              <a:rPr lang="en-US" sz="2105">
                <a:solidFill>
                  <a:srgbClr val="FFFFFF"/>
                </a:solidFill>
                <a:latin typeface="HK Grotesk"/>
                <a:ea typeface="HK Grotesk"/>
                <a:cs typeface="HK Grotesk"/>
                <a:sym typeface="HK Grotesk"/>
              </a:rPr>
              <a:t>Heap Sort</a:t>
            </a:r>
          </a:p>
        </p:txBody>
      </p:sp>
      <p:sp>
        <p:nvSpPr>
          <p:cNvPr name="TextBox 46" id="46"/>
          <p:cNvSpPr txBox="true"/>
          <p:nvPr/>
        </p:nvSpPr>
        <p:spPr>
          <a:xfrm rot="0">
            <a:off x="1029190" y="6173096"/>
            <a:ext cx="2223865" cy="309962"/>
          </a:xfrm>
          <a:prstGeom prst="rect">
            <a:avLst/>
          </a:prstGeom>
        </p:spPr>
        <p:txBody>
          <a:bodyPr anchor="t" rtlCol="false" tIns="0" lIns="0" bIns="0" rIns="0">
            <a:spAutoFit/>
          </a:bodyPr>
          <a:lstStyle/>
          <a:p>
            <a:pPr algn="l">
              <a:lnSpc>
                <a:spcPts val="2378"/>
              </a:lnSpc>
            </a:pPr>
            <a:r>
              <a:rPr lang="en-US" sz="2105">
                <a:solidFill>
                  <a:srgbClr val="FFFFFF"/>
                </a:solidFill>
                <a:latin typeface="HK Grotesk"/>
                <a:ea typeface="HK Grotesk"/>
                <a:cs typeface="HK Grotesk"/>
                <a:sym typeface="HK Grotesk"/>
              </a:rPr>
              <a:t>Tree Sort</a:t>
            </a:r>
          </a:p>
        </p:txBody>
      </p:sp>
      <p:sp>
        <p:nvSpPr>
          <p:cNvPr name="TextBox 47" id="47"/>
          <p:cNvSpPr txBox="true"/>
          <p:nvPr/>
        </p:nvSpPr>
        <p:spPr>
          <a:xfrm rot="0">
            <a:off x="1028700" y="7883314"/>
            <a:ext cx="2223865" cy="309962"/>
          </a:xfrm>
          <a:prstGeom prst="rect">
            <a:avLst/>
          </a:prstGeom>
        </p:spPr>
        <p:txBody>
          <a:bodyPr anchor="t" rtlCol="false" tIns="0" lIns="0" bIns="0" rIns="0">
            <a:spAutoFit/>
          </a:bodyPr>
          <a:lstStyle/>
          <a:p>
            <a:pPr algn="l">
              <a:lnSpc>
                <a:spcPts val="2378"/>
              </a:lnSpc>
            </a:pPr>
            <a:r>
              <a:rPr lang="en-US" sz="2105">
                <a:solidFill>
                  <a:srgbClr val="FFFFFF"/>
                </a:solidFill>
                <a:latin typeface="HK Grotesk"/>
                <a:ea typeface="HK Grotesk"/>
                <a:cs typeface="HK Grotesk"/>
                <a:sym typeface="HK Grotesk"/>
              </a:rPr>
              <a:t>Tournament Sort</a:t>
            </a:r>
          </a:p>
        </p:txBody>
      </p:sp>
      <p:grpSp>
        <p:nvGrpSpPr>
          <p:cNvPr name="Group 48" id="48"/>
          <p:cNvGrpSpPr/>
          <p:nvPr/>
        </p:nvGrpSpPr>
        <p:grpSpPr>
          <a:xfrm rot="0">
            <a:off x="1028700" y="5421902"/>
            <a:ext cx="16230600" cy="1658582"/>
            <a:chOff x="0" y="0"/>
            <a:chExt cx="4061224" cy="415011"/>
          </a:xfrm>
        </p:grpSpPr>
        <p:sp>
          <p:nvSpPr>
            <p:cNvPr name="Freeform 49" id="49"/>
            <p:cNvSpPr/>
            <p:nvPr/>
          </p:nvSpPr>
          <p:spPr>
            <a:xfrm flipH="false" flipV="false" rot="0">
              <a:off x="0" y="0"/>
              <a:ext cx="4061224" cy="415011"/>
            </a:xfrm>
            <a:custGeom>
              <a:avLst/>
              <a:gdLst/>
              <a:ahLst/>
              <a:cxnLst/>
              <a:rect r="r" b="b" t="t" l="l"/>
              <a:pathLst>
                <a:path h="415011" w="4061224">
                  <a:moveTo>
                    <a:pt x="0" y="0"/>
                  </a:moveTo>
                  <a:lnTo>
                    <a:pt x="4061224" y="0"/>
                  </a:lnTo>
                  <a:lnTo>
                    <a:pt x="4061224" y="415011"/>
                  </a:lnTo>
                  <a:lnTo>
                    <a:pt x="0" y="415011"/>
                  </a:lnTo>
                  <a:close/>
                </a:path>
              </a:pathLst>
            </a:custGeom>
            <a:solidFill>
              <a:srgbClr val="FFFFFF">
                <a:alpha val="29804"/>
              </a:srgbClr>
            </a:solidFill>
            <a:ln cap="sq">
              <a:noFill/>
              <a:prstDash val="solid"/>
              <a:miter/>
            </a:ln>
          </p:spPr>
        </p:sp>
        <p:sp>
          <p:nvSpPr>
            <p:cNvPr name="TextBox 50" id="50"/>
            <p:cNvSpPr txBox="true"/>
            <p:nvPr/>
          </p:nvSpPr>
          <p:spPr>
            <a:xfrm>
              <a:off x="0" y="-57150"/>
              <a:ext cx="4061224" cy="472161"/>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AutoShape 51" id="51"/>
          <p:cNvSpPr/>
          <p:nvPr/>
        </p:nvSpPr>
        <p:spPr>
          <a:xfrm flipH="true">
            <a:off x="3252565" y="3930371"/>
            <a:ext cx="490" cy="4988285"/>
          </a:xfrm>
          <a:prstGeom prst="line">
            <a:avLst/>
          </a:prstGeom>
          <a:ln cap="flat" w="28575">
            <a:gradFill>
              <a:gsLst>
                <a:gs pos="0">
                  <a:srgbClr val="000000">
                    <a:alpha val="28000"/>
                  </a:srgbClr>
                </a:gs>
                <a:gs pos="50000">
                  <a:srgbClr val="082D2F">
                    <a:alpha val="28000"/>
                  </a:srgbClr>
                </a:gs>
                <a:gs pos="100000">
                  <a:srgbClr val="28949C">
                    <a:alpha val="28000"/>
                  </a:srgbClr>
                </a:gs>
              </a:gsLst>
              <a:path path="circle">
                <a:fillToRect l="50000" r="50000" t="50000" b="50000"/>
              </a:path>
            </a:gradFill>
            <a:prstDash val="solid"/>
            <a:headEnd type="none" len="sm" w="sm"/>
            <a:tailEnd type="none" len="sm" w="sm"/>
          </a:ln>
        </p:spPr>
      </p:sp>
      <p:sp>
        <p:nvSpPr>
          <p:cNvPr name="AutoShape 52" id="52"/>
          <p:cNvSpPr/>
          <p:nvPr/>
        </p:nvSpPr>
        <p:spPr>
          <a:xfrm flipH="true">
            <a:off x="6365463" y="3829171"/>
            <a:ext cx="490" cy="4988285"/>
          </a:xfrm>
          <a:prstGeom prst="line">
            <a:avLst/>
          </a:prstGeom>
          <a:ln cap="flat" w="28575">
            <a:gradFill>
              <a:gsLst>
                <a:gs pos="0">
                  <a:srgbClr val="000000">
                    <a:alpha val="28000"/>
                  </a:srgbClr>
                </a:gs>
                <a:gs pos="50000">
                  <a:srgbClr val="082D2F">
                    <a:alpha val="28000"/>
                  </a:srgbClr>
                </a:gs>
                <a:gs pos="100000">
                  <a:srgbClr val="28949C">
                    <a:alpha val="28000"/>
                  </a:srgbClr>
                </a:gs>
              </a:gsLst>
              <a:path path="circle">
                <a:fillToRect l="50000" r="50000" t="50000" b="50000"/>
              </a:path>
            </a:gradFill>
            <a:prstDash val="solid"/>
            <a:headEnd type="none" len="sm" w="sm"/>
            <a:tailEnd type="none" len="sm" w="sm"/>
          </a:ln>
        </p:spPr>
      </p:sp>
      <p:sp>
        <p:nvSpPr>
          <p:cNvPr name="AutoShape 53" id="53"/>
          <p:cNvSpPr/>
          <p:nvPr/>
        </p:nvSpPr>
        <p:spPr>
          <a:xfrm flipH="true">
            <a:off x="9478360" y="3727972"/>
            <a:ext cx="490" cy="4988285"/>
          </a:xfrm>
          <a:prstGeom prst="line">
            <a:avLst/>
          </a:prstGeom>
          <a:ln cap="flat" w="28575">
            <a:gradFill>
              <a:gsLst>
                <a:gs pos="0">
                  <a:srgbClr val="000000">
                    <a:alpha val="28000"/>
                  </a:srgbClr>
                </a:gs>
                <a:gs pos="50000">
                  <a:srgbClr val="082D2F">
                    <a:alpha val="28000"/>
                  </a:srgbClr>
                </a:gs>
                <a:gs pos="100000">
                  <a:srgbClr val="28949C">
                    <a:alpha val="28000"/>
                  </a:srgbClr>
                </a:gs>
              </a:gsLst>
              <a:path path="circle">
                <a:fillToRect l="50000" r="50000" t="50000" b="50000"/>
              </a:path>
            </a:gradFill>
            <a:prstDash val="solid"/>
            <a:headEnd type="none" len="sm" w="sm"/>
            <a:tailEnd type="none" len="sm" w="sm"/>
          </a:ln>
        </p:spPr>
      </p:sp>
      <p:sp>
        <p:nvSpPr>
          <p:cNvPr name="AutoShape 54" id="54"/>
          <p:cNvSpPr/>
          <p:nvPr/>
        </p:nvSpPr>
        <p:spPr>
          <a:xfrm flipH="true">
            <a:off x="11743842" y="3642097"/>
            <a:ext cx="490" cy="4988285"/>
          </a:xfrm>
          <a:prstGeom prst="line">
            <a:avLst/>
          </a:prstGeom>
          <a:ln cap="flat" w="28575">
            <a:gradFill>
              <a:gsLst>
                <a:gs pos="0">
                  <a:srgbClr val="000000">
                    <a:alpha val="28000"/>
                  </a:srgbClr>
                </a:gs>
                <a:gs pos="50000">
                  <a:srgbClr val="082D2F">
                    <a:alpha val="28000"/>
                  </a:srgbClr>
                </a:gs>
                <a:gs pos="100000">
                  <a:srgbClr val="28949C">
                    <a:alpha val="28000"/>
                  </a:srgbClr>
                </a:gs>
              </a:gsLst>
              <a:path path="circle">
                <a:fillToRect l="50000" r="50000" t="50000" b="50000"/>
              </a:path>
            </a:gradFill>
            <a:prstDash val="solid"/>
            <a:headEnd type="none" len="sm" w="sm"/>
            <a:tailEnd type="none" len="sm" w="sm"/>
          </a:ln>
        </p:spPr>
      </p:sp>
      <p:sp>
        <p:nvSpPr>
          <p:cNvPr name="AutoShape 55" id="55"/>
          <p:cNvSpPr/>
          <p:nvPr/>
        </p:nvSpPr>
        <p:spPr>
          <a:xfrm flipH="true">
            <a:off x="14679534" y="3549119"/>
            <a:ext cx="490" cy="4988285"/>
          </a:xfrm>
          <a:prstGeom prst="line">
            <a:avLst/>
          </a:prstGeom>
          <a:ln cap="flat" w="28575">
            <a:gradFill>
              <a:gsLst>
                <a:gs pos="0">
                  <a:srgbClr val="000000">
                    <a:alpha val="28000"/>
                  </a:srgbClr>
                </a:gs>
                <a:gs pos="50000">
                  <a:srgbClr val="082D2F">
                    <a:alpha val="28000"/>
                  </a:srgbClr>
                </a:gs>
                <a:gs pos="100000">
                  <a:srgbClr val="28949C">
                    <a:alpha val="28000"/>
                  </a:srgbClr>
                </a:gs>
              </a:gsLst>
              <a:path path="circle">
                <a:fillToRect l="50000" r="50000" t="50000" b="50000"/>
              </a:path>
            </a:gradFill>
            <a:prstDash val="solid"/>
            <a:headEnd type="none" len="sm" w="sm"/>
            <a:tailEnd type="none" len="sm" w="sm"/>
          </a:ln>
        </p:spPr>
      </p:sp>
      <p:grpSp>
        <p:nvGrpSpPr>
          <p:cNvPr name="Group 56" id="56"/>
          <p:cNvGrpSpPr/>
          <p:nvPr/>
        </p:nvGrpSpPr>
        <p:grpSpPr>
          <a:xfrm rot="0">
            <a:off x="15008637" y="41353"/>
            <a:ext cx="3222602" cy="3856549"/>
            <a:chOff x="0" y="0"/>
            <a:chExt cx="4296802" cy="5142065"/>
          </a:xfrm>
        </p:grpSpPr>
        <p:grpSp>
          <p:nvGrpSpPr>
            <p:cNvPr name="Group 57" id="57"/>
            <p:cNvGrpSpPr/>
            <p:nvPr/>
          </p:nvGrpSpPr>
          <p:grpSpPr>
            <a:xfrm rot="0">
              <a:off x="2226115" y="0"/>
              <a:ext cx="793338" cy="793338"/>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59" id="59"/>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60" id="60"/>
            <p:cNvSpPr txBox="true"/>
            <p:nvPr/>
          </p:nvSpPr>
          <p:spPr>
            <a:xfrm rot="0">
              <a:off x="1217009" y="-38100"/>
              <a:ext cx="205522" cy="465711"/>
            </a:xfrm>
            <a:prstGeom prst="rect">
              <a:avLst/>
            </a:prstGeom>
          </p:spPr>
          <p:txBody>
            <a:bodyPr anchor="t" rtlCol="false" tIns="0" lIns="0" bIns="0" rIns="0">
              <a:spAutoFit/>
            </a:bodyPr>
            <a:lstStyle/>
            <a:p>
              <a:pPr algn="ctr">
                <a:lnSpc>
                  <a:spcPts val="2971"/>
                </a:lnSpc>
              </a:pPr>
            </a:p>
          </p:txBody>
        </p:sp>
        <p:grpSp>
          <p:nvGrpSpPr>
            <p:cNvPr name="Group 61" id="61"/>
            <p:cNvGrpSpPr/>
            <p:nvPr/>
          </p:nvGrpSpPr>
          <p:grpSpPr>
            <a:xfrm rot="0">
              <a:off x="970310" y="1345101"/>
              <a:ext cx="793338" cy="793338"/>
              <a:chOff x="0" y="0"/>
              <a:chExt cx="812800" cy="812800"/>
            </a:xfrm>
          </p:grpSpPr>
          <p:sp>
            <p:nvSpPr>
              <p:cNvPr name="Freeform 62" id="6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63" id="63"/>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grpSp>
          <p:nvGrpSpPr>
            <p:cNvPr name="Group 64" id="64"/>
            <p:cNvGrpSpPr/>
            <p:nvPr/>
          </p:nvGrpSpPr>
          <p:grpSpPr>
            <a:xfrm rot="0">
              <a:off x="3503464" y="1345101"/>
              <a:ext cx="793338" cy="793338"/>
              <a:chOff x="0" y="0"/>
              <a:chExt cx="812800" cy="812800"/>
            </a:xfrm>
          </p:grpSpPr>
          <p:sp>
            <p:nvSpPr>
              <p:cNvPr name="Freeform 65" id="6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66" id="66"/>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67" id="67"/>
            <p:cNvSpPr txBox="true"/>
            <p:nvPr/>
          </p:nvSpPr>
          <p:spPr>
            <a:xfrm rot="0">
              <a:off x="3797372" y="1489864"/>
              <a:ext cx="205522" cy="465711"/>
            </a:xfrm>
            <a:prstGeom prst="rect">
              <a:avLst/>
            </a:prstGeom>
          </p:spPr>
          <p:txBody>
            <a:bodyPr anchor="t" rtlCol="false" tIns="0" lIns="0" bIns="0" rIns="0">
              <a:spAutoFit/>
            </a:bodyPr>
            <a:lstStyle/>
            <a:p>
              <a:pPr algn="ctr">
                <a:lnSpc>
                  <a:spcPts val="2971"/>
                </a:lnSpc>
              </a:pPr>
            </a:p>
          </p:txBody>
        </p:sp>
        <p:grpSp>
          <p:nvGrpSpPr>
            <p:cNvPr name="Group 68" id="68"/>
            <p:cNvGrpSpPr/>
            <p:nvPr/>
          </p:nvGrpSpPr>
          <p:grpSpPr>
            <a:xfrm rot="0">
              <a:off x="1763647" y="2837094"/>
              <a:ext cx="793338" cy="793338"/>
              <a:chOff x="0" y="0"/>
              <a:chExt cx="812800" cy="812800"/>
            </a:xfrm>
          </p:grpSpPr>
          <p:sp>
            <p:nvSpPr>
              <p:cNvPr name="Freeform 69" id="6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70" id="70"/>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71" id="71"/>
            <p:cNvSpPr txBox="true"/>
            <p:nvPr/>
          </p:nvSpPr>
          <p:spPr>
            <a:xfrm rot="0">
              <a:off x="2057555" y="2981857"/>
              <a:ext cx="205522" cy="465711"/>
            </a:xfrm>
            <a:prstGeom prst="rect">
              <a:avLst/>
            </a:prstGeom>
          </p:spPr>
          <p:txBody>
            <a:bodyPr anchor="t" rtlCol="false" tIns="0" lIns="0" bIns="0" rIns="0">
              <a:spAutoFit/>
            </a:bodyPr>
            <a:lstStyle/>
            <a:p>
              <a:pPr algn="ctr">
                <a:lnSpc>
                  <a:spcPts val="2971"/>
                </a:lnSpc>
              </a:pPr>
            </a:p>
          </p:txBody>
        </p:sp>
        <p:grpSp>
          <p:nvGrpSpPr>
            <p:cNvPr name="Group 72" id="72"/>
            <p:cNvGrpSpPr/>
            <p:nvPr/>
          </p:nvGrpSpPr>
          <p:grpSpPr>
            <a:xfrm rot="0">
              <a:off x="0" y="2837094"/>
              <a:ext cx="793338" cy="793338"/>
              <a:chOff x="0" y="0"/>
              <a:chExt cx="812800" cy="812800"/>
            </a:xfrm>
          </p:grpSpPr>
          <p:sp>
            <p:nvSpPr>
              <p:cNvPr name="Freeform 73" id="7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74" id="74"/>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grpSp>
          <p:nvGrpSpPr>
            <p:cNvPr name="Group 75" id="75"/>
            <p:cNvGrpSpPr/>
            <p:nvPr/>
          </p:nvGrpSpPr>
          <p:grpSpPr>
            <a:xfrm rot="0">
              <a:off x="973224" y="4348728"/>
              <a:ext cx="793338" cy="793338"/>
              <a:chOff x="0" y="0"/>
              <a:chExt cx="812800" cy="812800"/>
            </a:xfrm>
          </p:grpSpPr>
          <p:sp>
            <p:nvSpPr>
              <p:cNvPr name="Freeform 76" id="7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77" id="77"/>
              <p:cNvSpPr txBox="true"/>
              <p:nvPr/>
            </p:nvSpPr>
            <p:spPr>
              <a:xfrm>
                <a:off x="76200" y="19050"/>
                <a:ext cx="660400" cy="717550"/>
              </a:xfrm>
              <a:prstGeom prst="rect">
                <a:avLst/>
              </a:prstGeom>
            </p:spPr>
            <p:txBody>
              <a:bodyPr anchor="ctr" rtlCol="false" tIns="79209" lIns="79209" bIns="79209" rIns="79209"/>
              <a:lstStyle/>
              <a:p>
                <a:pPr algn="ctr">
                  <a:lnSpc>
                    <a:spcPts val="3447"/>
                  </a:lnSpc>
                </a:pPr>
              </a:p>
            </p:txBody>
          </p:sp>
        </p:grpSp>
        <p:sp>
          <p:nvSpPr>
            <p:cNvPr name="TextBox 78" id="78"/>
            <p:cNvSpPr txBox="true"/>
            <p:nvPr/>
          </p:nvSpPr>
          <p:spPr>
            <a:xfrm rot="0">
              <a:off x="1405352" y="4279685"/>
              <a:ext cx="205522" cy="465711"/>
            </a:xfrm>
            <a:prstGeom prst="rect">
              <a:avLst/>
            </a:prstGeom>
          </p:spPr>
          <p:txBody>
            <a:bodyPr anchor="t" rtlCol="false" tIns="0" lIns="0" bIns="0" rIns="0">
              <a:spAutoFit/>
            </a:bodyPr>
            <a:lstStyle/>
            <a:p>
              <a:pPr algn="ctr">
                <a:lnSpc>
                  <a:spcPts val="2971"/>
                </a:lnSpc>
              </a:pPr>
            </a:p>
          </p:txBody>
        </p:sp>
        <p:sp>
          <p:nvSpPr>
            <p:cNvPr name="AutoShape 79" id="79"/>
            <p:cNvSpPr/>
            <p:nvPr/>
          </p:nvSpPr>
          <p:spPr>
            <a:xfrm flipH="true">
              <a:off x="1366978" y="692601"/>
              <a:ext cx="982376" cy="652500"/>
            </a:xfrm>
            <a:prstGeom prst="line">
              <a:avLst/>
            </a:prstGeom>
            <a:ln cap="flat" w="25400">
              <a:solidFill>
                <a:srgbClr val="000000">
                  <a:alpha val="25882"/>
                </a:srgbClr>
              </a:solidFill>
              <a:prstDash val="solid"/>
              <a:headEnd type="none" len="sm" w="sm"/>
              <a:tailEnd type="none" len="sm" w="sm"/>
            </a:ln>
          </p:spPr>
        </p:sp>
        <p:sp>
          <p:nvSpPr>
            <p:cNvPr name="AutoShape 80" id="80"/>
            <p:cNvSpPr/>
            <p:nvPr/>
          </p:nvSpPr>
          <p:spPr>
            <a:xfrm>
              <a:off x="2924995" y="687990"/>
              <a:ext cx="975138" cy="657111"/>
            </a:xfrm>
            <a:prstGeom prst="line">
              <a:avLst/>
            </a:prstGeom>
            <a:ln cap="flat" w="25400">
              <a:solidFill>
                <a:srgbClr val="000000">
                  <a:alpha val="25882"/>
                </a:srgbClr>
              </a:solidFill>
              <a:prstDash val="solid"/>
              <a:headEnd type="none" len="sm" w="sm"/>
              <a:tailEnd type="none" len="sm" w="sm"/>
            </a:ln>
          </p:spPr>
        </p:sp>
        <p:sp>
          <p:nvSpPr>
            <p:cNvPr name="AutoShape 81" id="81"/>
            <p:cNvSpPr/>
            <p:nvPr/>
          </p:nvSpPr>
          <p:spPr>
            <a:xfrm flipH="true">
              <a:off x="396669" y="2138439"/>
              <a:ext cx="714775" cy="698655"/>
            </a:xfrm>
            <a:prstGeom prst="line">
              <a:avLst/>
            </a:prstGeom>
            <a:ln cap="flat" w="25400">
              <a:solidFill>
                <a:srgbClr val="000000">
                  <a:alpha val="25882"/>
                </a:srgbClr>
              </a:solidFill>
              <a:prstDash val="solid"/>
              <a:headEnd type="none" len="sm" w="sm"/>
              <a:tailEnd type="none" len="sm" w="sm"/>
            </a:ln>
          </p:spPr>
        </p:sp>
        <p:sp>
          <p:nvSpPr>
            <p:cNvPr name="AutoShape 82" id="82"/>
            <p:cNvSpPr/>
            <p:nvPr/>
          </p:nvSpPr>
          <p:spPr>
            <a:xfrm>
              <a:off x="1651385" y="2018282"/>
              <a:ext cx="508931" cy="773066"/>
            </a:xfrm>
            <a:prstGeom prst="line">
              <a:avLst/>
            </a:prstGeom>
            <a:ln cap="flat" w="25400">
              <a:solidFill>
                <a:srgbClr val="000000">
                  <a:alpha val="25882"/>
                </a:srgbClr>
              </a:solidFill>
              <a:prstDash val="solid"/>
              <a:headEnd type="none" len="sm" w="sm"/>
              <a:tailEnd type="none" len="sm" w="sm"/>
            </a:ln>
          </p:spPr>
        </p:sp>
        <p:sp>
          <p:nvSpPr>
            <p:cNvPr name="AutoShape 83" id="83"/>
            <p:cNvSpPr/>
            <p:nvPr/>
          </p:nvSpPr>
          <p:spPr>
            <a:xfrm flipH="true">
              <a:off x="1369893" y="3521863"/>
              <a:ext cx="517760" cy="826865"/>
            </a:xfrm>
            <a:prstGeom prst="line">
              <a:avLst/>
            </a:prstGeom>
            <a:ln cap="flat" w="25400">
              <a:solidFill>
                <a:srgbClr val="000000">
                  <a:alpha val="25882"/>
                </a:srgbClr>
              </a:solidFill>
              <a:prstDash val="solid"/>
              <a:headEnd type="none" len="sm" w="sm"/>
              <a:tailEnd type="none" len="sm" w="sm"/>
            </a:ln>
          </p:spPr>
        </p:sp>
      </p:grpSp>
      <p:grpSp>
        <p:nvGrpSpPr>
          <p:cNvPr name="Group 84" id="84"/>
          <p:cNvGrpSpPr/>
          <p:nvPr/>
        </p:nvGrpSpPr>
        <p:grpSpPr>
          <a:xfrm rot="0">
            <a:off x="1028700" y="1658723"/>
            <a:ext cx="1028700" cy="1231065"/>
            <a:chOff x="0" y="0"/>
            <a:chExt cx="1371600" cy="1641420"/>
          </a:xfrm>
        </p:grpSpPr>
        <p:grpSp>
          <p:nvGrpSpPr>
            <p:cNvPr name="Group 85" id="85"/>
            <p:cNvGrpSpPr/>
            <p:nvPr/>
          </p:nvGrpSpPr>
          <p:grpSpPr>
            <a:xfrm rot="0">
              <a:off x="710607" y="0"/>
              <a:ext cx="253245" cy="253245"/>
              <a:chOff x="0" y="0"/>
              <a:chExt cx="812800" cy="812800"/>
            </a:xfrm>
          </p:grpSpPr>
          <p:sp>
            <p:nvSpPr>
              <p:cNvPr name="Freeform 86" id="8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87" id="87"/>
              <p:cNvSpPr txBox="true"/>
              <p:nvPr/>
            </p:nvSpPr>
            <p:spPr>
              <a:xfrm>
                <a:off x="76200" y="19050"/>
                <a:ext cx="660400" cy="717550"/>
              </a:xfrm>
              <a:prstGeom prst="rect">
                <a:avLst/>
              </a:prstGeom>
            </p:spPr>
            <p:txBody>
              <a:bodyPr anchor="ctr" rtlCol="false" tIns="79209" lIns="79209" bIns="79209" rIns="79209"/>
              <a:lstStyle/>
              <a:p>
                <a:pPr algn="ctr">
                  <a:lnSpc>
                    <a:spcPts val="3448"/>
                  </a:lnSpc>
                </a:pPr>
              </a:p>
            </p:txBody>
          </p:sp>
        </p:grpSp>
        <p:sp>
          <p:nvSpPr>
            <p:cNvPr name="TextBox 88" id="88"/>
            <p:cNvSpPr txBox="true"/>
            <p:nvPr/>
          </p:nvSpPr>
          <p:spPr>
            <a:xfrm rot="0">
              <a:off x="388486" y="-19050"/>
              <a:ext cx="65606" cy="155550"/>
            </a:xfrm>
            <a:prstGeom prst="rect">
              <a:avLst/>
            </a:prstGeom>
          </p:spPr>
          <p:txBody>
            <a:bodyPr anchor="t" rtlCol="false" tIns="0" lIns="0" bIns="0" rIns="0">
              <a:spAutoFit/>
            </a:bodyPr>
            <a:lstStyle/>
            <a:p>
              <a:pPr algn="ctr">
                <a:lnSpc>
                  <a:spcPts val="948"/>
                </a:lnSpc>
              </a:pPr>
            </a:p>
          </p:txBody>
        </p:sp>
        <p:grpSp>
          <p:nvGrpSpPr>
            <p:cNvPr name="Group 89" id="89"/>
            <p:cNvGrpSpPr/>
            <p:nvPr/>
          </p:nvGrpSpPr>
          <p:grpSpPr>
            <a:xfrm rot="0">
              <a:off x="309737" y="429375"/>
              <a:ext cx="253245" cy="253245"/>
              <a:chOff x="0" y="0"/>
              <a:chExt cx="812800" cy="812800"/>
            </a:xfrm>
          </p:grpSpPr>
          <p:sp>
            <p:nvSpPr>
              <p:cNvPr name="Freeform 90" id="9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91" id="91"/>
              <p:cNvSpPr txBox="true"/>
              <p:nvPr/>
            </p:nvSpPr>
            <p:spPr>
              <a:xfrm>
                <a:off x="76200" y="19050"/>
                <a:ext cx="660400" cy="717550"/>
              </a:xfrm>
              <a:prstGeom prst="rect">
                <a:avLst/>
              </a:prstGeom>
            </p:spPr>
            <p:txBody>
              <a:bodyPr anchor="ctr" rtlCol="false" tIns="79209" lIns="79209" bIns="79209" rIns="79209"/>
              <a:lstStyle/>
              <a:p>
                <a:pPr algn="ctr">
                  <a:lnSpc>
                    <a:spcPts val="3448"/>
                  </a:lnSpc>
                </a:pPr>
              </a:p>
            </p:txBody>
          </p:sp>
        </p:grpSp>
        <p:grpSp>
          <p:nvGrpSpPr>
            <p:cNvPr name="Group 92" id="92"/>
            <p:cNvGrpSpPr/>
            <p:nvPr/>
          </p:nvGrpSpPr>
          <p:grpSpPr>
            <a:xfrm rot="0">
              <a:off x="1118355" y="429375"/>
              <a:ext cx="253245" cy="253245"/>
              <a:chOff x="0" y="0"/>
              <a:chExt cx="812800" cy="812800"/>
            </a:xfrm>
          </p:grpSpPr>
          <p:sp>
            <p:nvSpPr>
              <p:cNvPr name="Freeform 93" id="9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94" id="94"/>
              <p:cNvSpPr txBox="true"/>
              <p:nvPr/>
            </p:nvSpPr>
            <p:spPr>
              <a:xfrm>
                <a:off x="76200" y="19050"/>
                <a:ext cx="660400" cy="717550"/>
              </a:xfrm>
              <a:prstGeom prst="rect">
                <a:avLst/>
              </a:prstGeom>
            </p:spPr>
            <p:txBody>
              <a:bodyPr anchor="ctr" rtlCol="false" tIns="79209" lIns="79209" bIns="79209" rIns="79209"/>
              <a:lstStyle/>
              <a:p>
                <a:pPr algn="ctr">
                  <a:lnSpc>
                    <a:spcPts val="3448"/>
                  </a:lnSpc>
                </a:pPr>
              </a:p>
            </p:txBody>
          </p:sp>
        </p:grpSp>
        <p:sp>
          <p:nvSpPr>
            <p:cNvPr name="TextBox 95" id="95"/>
            <p:cNvSpPr txBox="true"/>
            <p:nvPr/>
          </p:nvSpPr>
          <p:spPr>
            <a:xfrm rot="0">
              <a:off x="1212175" y="468698"/>
              <a:ext cx="65606" cy="155550"/>
            </a:xfrm>
            <a:prstGeom prst="rect">
              <a:avLst/>
            </a:prstGeom>
          </p:spPr>
          <p:txBody>
            <a:bodyPr anchor="t" rtlCol="false" tIns="0" lIns="0" bIns="0" rIns="0">
              <a:spAutoFit/>
            </a:bodyPr>
            <a:lstStyle/>
            <a:p>
              <a:pPr algn="ctr">
                <a:lnSpc>
                  <a:spcPts val="948"/>
                </a:lnSpc>
              </a:pPr>
            </a:p>
          </p:txBody>
        </p:sp>
        <p:grpSp>
          <p:nvGrpSpPr>
            <p:cNvPr name="Group 96" id="96"/>
            <p:cNvGrpSpPr/>
            <p:nvPr/>
          </p:nvGrpSpPr>
          <p:grpSpPr>
            <a:xfrm rot="0">
              <a:off x="562981" y="905640"/>
              <a:ext cx="253245" cy="253245"/>
              <a:chOff x="0" y="0"/>
              <a:chExt cx="812800" cy="812800"/>
            </a:xfrm>
          </p:grpSpPr>
          <p:sp>
            <p:nvSpPr>
              <p:cNvPr name="Freeform 97" id="9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98" id="98"/>
              <p:cNvSpPr txBox="true"/>
              <p:nvPr/>
            </p:nvSpPr>
            <p:spPr>
              <a:xfrm>
                <a:off x="76200" y="19050"/>
                <a:ext cx="660400" cy="717550"/>
              </a:xfrm>
              <a:prstGeom prst="rect">
                <a:avLst/>
              </a:prstGeom>
            </p:spPr>
            <p:txBody>
              <a:bodyPr anchor="ctr" rtlCol="false" tIns="79209" lIns="79209" bIns="79209" rIns="79209"/>
              <a:lstStyle/>
              <a:p>
                <a:pPr algn="ctr">
                  <a:lnSpc>
                    <a:spcPts val="3448"/>
                  </a:lnSpc>
                </a:pPr>
              </a:p>
            </p:txBody>
          </p:sp>
        </p:grpSp>
        <p:sp>
          <p:nvSpPr>
            <p:cNvPr name="TextBox 99" id="99"/>
            <p:cNvSpPr txBox="true"/>
            <p:nvPr/>
          </p:nvSpPr>
          <p:spPr>
            <a:xfrm rot="0">
              <a:off x="656801" y="944963"/>
              <a:ext cx="65606" cy="155550"/>
            </a:xfrm>
            <a:prstGeom prst="rect">
              <a:avLst/>
            </a:prstGeom>
          </p:spPr>
          <p:txBody>
            <a:bodyPr anchor="t" rtlCol="false" tIns="0" lIns="0" bIns="0" rIns="0">
              <a:spAutoFit/>
            </a:bodyPr>
            <a:lstStyle/>
            <a:p>
              <a:pPr algn="ctr">
                <a:lnSpc>
                  <a:spcPts val="948"/>
                </a:lnSpc>
              </a:pPr>
            </a:p>
          </p:txBody>
        </p:sp>
        <p:grpSp>
          <p:nvGrpSpPr>
            <p:cNvPr name="Group 100" id="100"/>
            <p:cNvGrpSpPr/>
            <p:nvPr/>
          </p:nvGrpSpPr>
          <p:grpSpPr>
            <a:xfrm rot="0">
              <a:off x="0" y="905640"/>
              <a:ext cx="253245" cy="253245"/>
              <a:chOff x="0" y="0"/>
              <a:chExt cx="812800" cy="812800"/>
            </a:xfrm>
          </p:grpSpPr>
          <p:sp>
            <p:nvSpPr>
              <p:cNvPr name="Freeform 101" id="10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102" id="102"/>
              <p:cNvSpPr txBox="true"/>
              <p:nvPr/>
            </p:nvSpPr>
            <p:spPr>
              <a:xfrm>
                <a:off x="76200" y="19050"/>
                <a:ext cx="660400" cy="717550"/>
              </a:xfrm>
              <a:prstGeom prst="rect">
                <a:avLst/>
              </a:prstGeom>
            </p:spPr>
            <p:txBody>
              <a:bodyPr anchor="ctr" rtlCol="false" tIns="79209" lIns="79209" bIns="79209" rIns="79209"/>
              <a:lstStyle/>
              <a:p>
                <a:pPr algn="ctr">
                  <a:lnSpc>
                    <a:spcPts val="3448"/>
                  </a:lnSpc>
                </a:pPr>
              </a:p>
            </p:txBody>
          </p:sp>
        </p:grpSp>
        <p:grpSp>
          <p:nvGrpSpPr>
            <p:cNvPr name="Group 103" id="103"/>
            <p:cNvGrpSpPr/>
            <p:nvPr/>
          </p:nvGrpSpPr>
          <p:grpSpPr>
            <a:xfrm rot="0">
              <a:off x="310667" y="1388175"/>
              <a:ext cx="253245" cy="253245"/>
              <a:chOff x="0" y="0"/>
              <a:chExt cx="812800" cy="812800"/>
            </a:xfrm>
          </p:grpSpPr>
          <p:sp>
            <p:nvSpPr>
              <p:cNvPr name="Freeform 104" id="10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65CED1">
                      <a:alpha val="26000"/>
                    </a:srgbClr>
                  </a:gs>
                  <a:gs pos="100000">
                    <a:srgbClr val="000000">
                      <a:alpha val="26000"/>
                    </a:srgbClr>
                  </a:gs>
                </a:gsLst>
                <a:lin ang="2700000"/>
              </a:gradFill>
              <a:ln w="28575" cap="sq">
                <a:solidFill>
                  <a:srgbClr val="000000">
                    <a:alpha val="25882"/>
                  </a:srgbClr>
                </a:solidFill>
                <a:prstDash val="solid"/>
                <a:miter/>
              </a:ln>
            </p:spPr>
          </p:sp>
          <p:sp>
            <p:nvSpPr>
              <p:cNvPr name="TextBox 105" id="105"/>
              <p:cNvSpPr txBox="true"/>
              <p:nvPr/>
            </p:nvSpPr>
            <p:spPr>
              <a:xfrm>
                <a:off x="76200" y="19050"/>
                <a:ext cx="660400" cy="717550"/>
              </a:xfrm>
              <a:prstGeom prst="rect">
                <a:avLst/>
              </a:prstGeom>
            </p:spPr>
            <p:txBody>
              <a:bodyPr anchor="ctr" rtlCol="false" tIns="79209" lIns="79209" bIns="79209" rIns="79209"/>
              <a:lstStyle/>
              <a:p>
                <a:pPr algn="ctr">
                  <a:lnSpc>
                    <a:spcPts val="3448"/>
                  </a:lnSpc>
                </a:pPr>
              </a:p>
            </p:txBody>
          </p:sp>
        </p:grpSp>
        <p:sp>
          <p:nvSpPr>
            <p:cNvPr name="TextBox 106" id="106"/>
            <p:cNvSpPr txBox="true"/>
            <p:nvPr/>
          </p:nvSpPr>
          <p:spPr>
            <a:xfrm rot="0">
              <a:off x="448608" y="1359248"/>
              <a:ext cx="65606" cy="155550"/>
            </a:xfrm>
            <a:prstGeom prst="rect">
              <a:avLst/>
            </a:prstGeom>
          </p:spPr>
          <p:txBody>
            <a:bodyPr anchor="t" rtlCol="false" tIns="0" lIns="0" bIns="0" rIns="0">
              <a:spAutoFit/>
            </a:bodyPr>
            <a:lstStyle/>
            <a:p>
              <a:pPr algn="ctr">
                <a:lnSpc>
                  <a:spcPts val="948"/>
                </a:lnSpc>
              </a:pPr>
            </a:p>
          </p:txBody>
        </p:sp>
        <p:sp>
          <p:nvSpPr>
            <p:cNvPr name="AutoShape 107" id="107"/>
            <p:cNvSpPr/>
            <p:nvPr/>
          </p:nvSpPr>
          <p:spPr>
            <a:xfrm flipH="true">
              <a:off x="436359" y="221088"/>
              <a:ext cx="313588" cy="208287"/>
            </a:xfrm>
            <a:prstGeom prst="line">
              <a:avLst/>
            </a:prstGeom>
            <a:ln cap="flat" w="8108">
              <a:solidFill>
                <a:srgbClr val="000000">
                  <a:alpha val="25882"/>
                </a:srgbClr>
              </a:solidFill>
              <a:prstDash val="solid"/>
              <a:headEnd type="none" len="sm" w="sm"/>
              <a:tailEnd type="none" len="sm" w="sm"/>
            </a:ln>
          </p:spPr>
        </p:sp>
        <p:sp>
          <p:nvSpPr>
            <p:cNvPr name="AutoShape 108" id="108"/>
            <p:cNvSpPr/>
            <p:nvPr/>
          </p:nvSpPr>
          <p:spPr>
            <a:xfrm>
              <a:off x="933700" y="219616"/>
              <a:ext cx="311278" cy="209759"/>
            </a:xfrm>
            <a:prstGeom prst="line">
              <a:avLst/>
            </a:prstGeom>
            <a:ln cap="flat" w="8108">
              <a:solidFill>
                <a:srgbClr val="000000">
                  <a:alpha val="25882"/>
                </a:srgbClr>
              </a:solidFill>
              <a:prstDash val="solid"/>
              <a:headEnd type="none" len="sm" w="sm"/>
              <a:tailEnd type="none" len="sm" w="sm"/>
            </a:ln>
          </p:spPr>
        </p:sp>
        <p:sp>
          <p:nvSpPr>
            <p:cNvPr name="AutoShape 109" id="109"/>
            <p:cNvSpPr/>
            <p:nvPr/>
          </p:nvSpPr>
          <p:spPr>
            <a:xfrm flipH="true">
              <a:off x="126622" y="682620"/>
              <a:ext cx="228166" cy="223021"/>
            </a:xfrm>
            <a:prstGeom prst="line">
              <a:avLst/>
            </a:prstGeom>
            <a:ln cap="flat" w="8108">
              <a:solidFill>
                <a:srgbClr val="000000">
                  <a:alpha val="25882"/>
                </a:srgbClr>
              </a:solidFill>
              <a:prstDash val="solid"/>
              <a:headEnd type="none" len="sm" w="sm"/>
              <a:tailEnd type="none" len="sm" w="sm"/>
            </a:ln>
          </p:spPr>
        </p:sp>
        <p:sp>
          <p:nvSpPr>
            <p:cNvPr name="AutoShape 110" id="110"/>
            <p:cNvSpPr/>
            <p:nvPr/>
          </p:nvSpPr>
          <p:spPr>
            <a:xfrm>
              <a:off x="527146" y="644264"/>
              <a:ext cx="162458" cy="246774"/>
            </a:xfrm>
            <a:prstGeom prst="line">
              <a:avLst/>
            </a:prstGeom>
            <a:ln cap="flat" w="8108">
              <a:solidFill>
                <a:srgbClr val="000000">
                  <a:alpha val="25882"/>
                </a:srgbClr>
              </a:solidFill>
              <a:prstDash val="solid"/>
              <a:headEnd type="none" len="sm" w="sm"/>
              <a:tailEnd type="none" len="sm" w="sm"/>
            </a:ln>
          </p:spPr>
        </p:sp>
        <p:sp>
          <p:nvSpPr>
            <p:cNvPr name="AutoShape 111" id="111"/>
            <p:cNvSpPr/>
            <p:nvPr/>
          </p:nvSpPr>
          <p:spPr>
            <a:xfrm flipH="true">
              <a:off x="437289" y="1124228"/>
              <a:ext cx="165276" cy="263947"/>
            </a:xfrm>
            <a:prstGeom prst="line">
              <a:avLst/>
            </a:prstGeom>
            <a:ln cap="flat" w="8108">
              <a:solidFill>
                <a:srgbClr val="000000">
                  <a:alpha val="25882"/>
                </a:srgbClr>
              </a:solidFill>
              <a:prstDash val="solid"/>
              <a:headEnd type="none" len="sm" w="sm"/>
              <a:tailEnd type="none" len="sm" w="sm"/>
            </a:ln>
          </p:spPr>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25" y="9772512"/>
            <a:ext cx="18277775" cy="514488"/>
            <a:chOff x="0" y="0"/>
            <a:chExt cx="4813900" cy="135503"/>
          </a:xfrm>
        </p:grpSpPr>
        <p:sp>
          <p:nvSpPr>
            <p:cNvPr name="Freeform 3" id="3"/>
            <p:cNvSpPr/>
            <p:nvPr/>
          </p:nvSpPr>
          <p:spPr>
            <a:xfrm flipH="false" flipV="false" rot="0">
              <a:off x="0" y="0"/>
              <a:ext cx="4813900" cy="135503"/>
            </a:xfrm>
            <a:custGeom>
              <a:avLst/>
              <a:gdLst/>
              <a:ahLst/>
              <a:cxnLst/>
              <a:rect r="r" b="b" t="t" l="l"/>
              <a:pathLst>
                <a:path h="135503" w="4813900">
                  <a:moveTo>
                    <a:pt x="0" y="0"/>
                  </a:moveTo>
                  <a:lnTo>
                    <a:pt x="4813900" y="0"/>
                  </a:lnTo>
                  <a:lnTo>
                    <a:pt x="4813900" y="135503"/>
                  </a:lnTo>
                  <a:lnTo>
                    <a:pt x="0" y="13550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813900" cy="192653"/>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5" id="5"/>
          <p:cNvGrpSpPr/>
          <p:nvPr/>
        </p:nvGrpSpPr>
        <p:grpSpPr>
          <a:xfrm rot="0">
            <a:off x="7562856" y="2055062"/>
            <a:ext cx="9040056" cy="6786453"/>
            <a:chOff x="0" y="0"/>
            <a:chExt cx="1612355" cy="1210409"/>
          </a:xfrm>
        </p:grpSpPr>
        <p:sp>
          <p:nvSpPr>
            <p:cNvPr name="Freeform 6" id="6"/>
            <p:cNvSpPr/>
            <p:nvPr/>
          </p:nvSpPr>
          <p:spPr>
            <a:xfrm flipH="false" flipV="false" rot="0">
              <a:off x="0" y="0"/>
              <a:ext cx="1612355" cy="1210409"/>
            </a:xfrm>
            <a:custGeom>
              <a:avLst/>
              <a:gdLst/>
              <a:ahLst/>
              <a:cxnLst/>
              <a:rect r="r" b="b" t="t" l="l"/>
              <a:pathLst>
                <a:path h="1210409" w="1612355">
                  <a:moveTo>
                    <a:pt x="50528" y="0"/>
                  </a:moveTo>
                  <a:lnTo>
                    <a:pt x="1561827" y="0"/>
                  </a:lnTo>
                  <a:cubicBezTo>
                    <a:pt x="1575228" y="0"/>
                    <a:pt x="1588080" y="5323"/>
                    <a:pt x="1597556" y="14799"/>
                  </a:cubicBezTo>
                  <a:cubicBezTo>
                    <a:pt x="1607031" y="24275"/>
                    <a:pt x="1612355" y="37127"/>
                    <a:pt x="1612355" y="50528"/>
                  </a:cubicBezTo>
                  <a:lnTo>
                    <a:pt x="1612355" y="1159882"/>
                  </a:lnTo>
                  <a:cubicBezTo>
                    <a:pt x="1612355" y="1187787"/>
                    <a:pt x="1589733" y="1210409"/>
                    <a:pt x="1561827" y="1210409"/>
                  </a:cubicBezTo>
                  <a:lnTo>
                    <a:pt x="50528" y="1210409"/>
                  </a:lnTo>
                  <a:cubicBezTo>
                    <a:pt x="22622" y="1210409"/>
                    <a:pt x="0" y="1187787"/>
                    <a:pt x="0" y="1159882"/>
                  </a:cubicBezTo>
                  <a:lnTo>
                    <a:pt x="0" y="50528"/>
                  </a:lnTo>
                  <a:cubicBezTo>
                    <a:pt x="0" y="22622"/>
                    <a:pt x="22622" y="0"/>
                    <a:pt x="50528" y="0"/>
                  </a:cubicBezTo>
                  <a:close/>
                </a:path>
              </a:pathLst>
            </a:custGeom>
            <a:blipFill>
              <a:blip r:embed="rId2"/>
              <a:stretch>
                <a:fillRect l="0" t="-1233" r="0" b="-1233"/>
              </a:stretch>
            </a:blipFill>
          </p:spPr>
        </p:sp>
      </p:grpSp>
      <p:sp>
        <p:nvSpPr>
          <p:cNvPr name="TextBox 7" id="7"/>
          <p:cNvSpPr txBox="true"/>
          <p:nvPr/>
        </p:nvSpPr>
        <p:spPr>
          <a:xfrm rot="0">
            <a:off x="1028700" y="1308048"/>
            <a:ext cx="8773902" cy="1513078"/>
          </a:xfrm>
          <a:prstGeom prst="rect">
            <a:avLst/>
          </a:prstGeom>
        </p:spPr>
        <p:txBody>
          <a:bodyPr anchor="t" rtlCol="false" tIns="0" lIns="0" bIns="0" rIns="0">
            <a:spAutoFit/>
          </a:bodyPr>
          <a:lstStyle/>
          <a:p>
            <a:pPr algn="l">
              <a:lnSpc>
                <a:spcPts val="5875"/>
              </a:lnSpc>
            </a:pPr>
            <a:r>
              <a:rPr lang="en-US" sz="5199">
                <a:solidFill>
                  <a:srgbClr val="000000"/>
                </a:solidFill>
                <a:latin typeface="Archivo Black"/>
                <a:ea typeface="Archivo Black"/>
                <a:cs typeface="Archivo Black"/>
                <a:sym typeface="Archivo Black"/>
              </a:rPr>
              <a:t>5. Casos de Uso  y aplicaciones prácticas</a:t>
            </a:r>
          </a:p>
        </p:txBody>
      </p:sp>
      <p:sp>
        <p:nvSpPr>
          <p:cNvPr name="TextBox 8" id="8"/>
          <p:cNvSpPr txBox="true"/>
          <p:nvPr/>
        </p:nvSpPr>
        <p:spPr>
          <a:xfrm rot="0">
            <a:off x="1028700" y="3654200"/>
            <a:ext cx="6723205" cy="5187315"/>
          </a:xfrm>
          <a:prstGeom prst="rect">
            <a:avLst/>
          </a:prstGeom>
        </p:spPr>
        <p:txBody>
          <a:bodyPr anchor="t" rtlCol="false" tIns="0" lIns="0" bIns="0" rIns="0">
            <a:spAutoFit/>
          </a:bodyPr>
          <a:lstStyle/>
          <a:p>
            <a:pPr algn="l">
              <a:lnSpc>
                <a:spcPts val="3150"/>
              </a:lnSpc>
            </a:pPr>
            <a:r>
              <a:rPr lang="en-US" sz="2100">
                <a:solidFill>
                  <a:srgbClr val="000000"/>
                </a:solidFill>
                <a:latin typeface="HK Grotesk"/>
                <a:ea typeface="HK Grotesk"/>
                <a:cs typeface="HK Grotesk"/>
                <a:sym typeface="HK Grotesk"/>
              </a:rPr>
              <a:t>Se implementa Tree Sort cuando:</a:t>
            </a:r>
          </a:p>
          <a:p>
            <a:pPr algn="l" marL="453390" indent="-226695" lvl="1">
              <a:lnSpc>
                <a:spcPts val="3150"/>
              </a:lnSpc>
              <a:buFont typeface="Arial"/>
              <a:buChar char="•"/>
            </a:pPr>
            <a:r>
              <a:rPr lang="en-US" sz="2100">
                <a:solidFill>
                  <a:srgbClr val="000000"/>
                </a:solidFill>
                <a:latin typeface="HK Grotesk"/>
                <a:ea typeface="HK Grotesk"/>
                <a:cs typeface="HK Grotesk"/>
                <a:sym typeface="HK Grotesk"/>
              </a:rPr>
              <a:t>Se desea </a:t>
            </a:r>
            <a:r>
              <a:rPr lang="en-US" sz="2100">
                <a:solidFill>
                  <a:srgbClr val="000000"/>
                </a:solidFill>
                <a:latin typeface="HK Grotesk"/>
                <a:ea typeface="HK Grotesk"/>
                <a:cs typeface="HK Grotesk"/>
                <a:sym typeface="HK Grotesk"/>
              </a:rPr>
              <a:t>mantener una estructura de datos “ordenada” a medida que se va insertando elementos dinámicamente.</a:t>
            </a:r>
          </a:p>
          <a:p>
            <a:pPr algn="l" marL="453390" indent="-226695" lvl="1">
              <a:lnSpc>
                <a:spcPts val="3150"/>
              </a:lnSpc>
              <a:buFont typeface="Arial"/>
              <a:buChar char="•"/>
            </a:pPr>
            <a:r>
              <a:rPr lang="en-US" sz="2100">
                <a:solidFill>
                  <a:srgbClr val="000000"/>
                </a:solidFill>
                <a:latin typeface="HK Grotesk"/>
                <a:ea typeface="HK Grotesk"/>
                <a:cs typeface="HK Grotesk"/>
                <a:sym typeface="HK Grotesk"/>
              </a:rPr>
              <a:t>Cuando se quiere combinar la inserción con el ordenamiento.</a:t>
            </a:r>
          </a:p>
          <a:p>
            <a:pPr algn="l" marL="453390" indent="-226695" lvl="1">
              <a:lnSpc>
                <a:spcPts val="3150"/>
              </a:lnSpc>
              <a:buFont typeface="Arial"/>
              <a:buChar char="•"/>
            </a:pPr>
            <a:r>
              <a:rPr lang="en-US" sz="2100">
                <a:solidFill>
                  <a:srgbClr val="000000"/>
                </a:solidFill>
                <a:latin typeface="HK Grotesk"/>
                <a:ea typeface="HK Grotesk"/>
                <a:cs typeface="HK Grotesk"/>
                <a:sym typeface="HK Grotesk"/>
              </a:rPr>
              <a:t>Como una estructura más amplia.</a:t>
            </a:r>
          </a:p>
          <a:p>
            <a:pPr algn="l" marL="453390" indent="-226695" lvl="1">
              <a:lnSpc>
                <a:spcPts val="3150"/>
              </a:lnSpc>
              <a:buFont typeface="Arial"/>
              <a:buChar char="•"/>
            </a:pPr>
            <a:r>
              <a:rPr lang="en-US" sz="2100">
                <a:solidFill>
                  <a:srgbClr val="000000"/>
                </a:solidFill>
                <a:latin typeface="HK Grotesk"/>
                <a:ea typeface="HK Grotesk"/>
                <a:cs typeface="HK Grotesk"/>
                <a:sym typeface="HK Grotesk"/>
              </a:rPr>
              <a:t>Puede usarse en ordenamiento adaptativo.</a:t>
            </a:r>
          </a:p>
          <a:p>
            <a:pPr algn="l" marL="453390" indent="-226695" lvl="1">
              <a:lnSpc>
                <a:spcPts val="3150"/>
              </a:lnSpc>
              <a:buFont typeface="Arial"/>
              <a:buChar char="•"/>
            </a:pPr>
            <a:r>
              <a:rPr lang="en-US" sz="2100">
                <a:solidFill>
                  <a:srgbClr val="000000"/>
                </a:solidFill>
                <a:latin typeface="HK Grotesk"/>
                <a:ea typeface="HK Grotesk"/>
                <a:cs typeface="HK Grotesk"/>
                <a:sym typeface="HK Grotesk"/>
              </a:rPr>
              <a:t>En escenarios de datos pequeños o medianos en los que el overhead no sea tan crítico y los beneficios de “ordenamiento incremental” superan el costo del árbol.</a:t>
            </a:r>
          </a:p>
          <a:p>
            <a:pPr algn="l">
              <a:lnSpc>
                <a:spcPts val="3150"/>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543949" y="2887264"/>
            <a:ext cx="3889506" cy="6080894"/>
            <a:chOff x="0" y="0"/>
            <a:chExt cx="1426574" cy="2230320"/>
          </a:xfrm>
        </p:grpSpPr>
        <p:sp>
          <p:nvSpPr>
            <p:cNvPr name="Freeform 3" id="3"/>
            <p:cNvSpPr/>
            <p:nvPr/>
          </p:nvSpPr>
          <p:spPr>
            <a:xfrm flipH="false" flipV="false" rot="0">
              <a:off x="0" y="0"/>
              <a:ext cx="1426574" cy="2230320"/>
            </a:xfrm>
            <a:custGeom>
              <a:avLst/>
              <a:gdLst/>
              <a:ahLst/>
              <a:cxnLst/>
              <a:rect r="r" b="b" t="t" l="l"/>
              <a:pathLst>
                <a:path h="2230320" w="1426574">
                  <a:moveTo>
                    <a:pt x="17914" y="0"/>
                  </a:moveTo>
                  <a:lnTo>
                    <a:pt x="1408660" y="0"/>
                  </a:lnTo>
                  <a:cubicBezTo>
                    <a:pt x="1413411" y="0"/>
                    <a:pt x="1417967" y="1887"/>
                    <a:pt x="1421327" y="5247"/>
                  </a:cubicBezTo>
                  <a:cubicBezTo>
                    <a:pt x="1424686" y="8606"/>
                    <a:pt x="1426574" y="13163"/>
                    <a:pt x="1426574" y="17914"/>
                  </a:cubicBezTo>
                  <a:lnTo>
                    <a:pt x="1426574" y="2212406"/>
                  </a:lnTo>
                  <a:cubicBezTo>
                    <a:pt x="1426574" y="2217157"/>
                    <a:pt x="1424686" y="2221714"/>
                    <a:pt x="1421327" y="2225073"/>
                  </a:cubicBezTo>
                  <a:cubicBezTo>
                    <a:pt x="1417967" y="2228433"/>
                    <a:pt x="1413411" y="2230320"/>
                    <a:pt x="1408660" y="2230320"/>
                  </a:cubicBezTo>
                  <a:lnTo>
                    <a:pt x="17914" y="2230320"/>
                  </a:lnTo>
                  <a:cubicBezTo>
                    <a:pt x="13163" y="2230320"/>
                    <a:pt x="8606" y="2228433"/>
                    <a:pt x="5247" y="2225073"/>
                  </a:cubicBezTo>
                  <a:cubicBezTo>
                    <a:pt x="1887" y="2221714"/>
                    <a:pt x="0" y="2217157"/>
                    <a:pt x="0" y="2212406"/>
                  </a:cubicBezTo>
                  <a:lnTo>
                    <a:pt x="0" y="17914"/>
                  </a:lnTo>
                  <a:cubicBezTo>
                    <a:pt x="0" y="13163"/>
                    <a:pt x="1887" y="8606"/>
                    <a:pt x="5247" y="5247"/>
                  </a:cubicBezTo>
                  <a:cubicBezTo>
                    <a:pt x="8606" y="1887"/>
                    <a:pt x="13163" y="0"/>
                    <a:pt x="17914"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4" id="4"/>
            <p:cNvSpPr txBox="true"/>
            <p:nvPr/>
          </p:nvSpPr>
          <p:spPr>
            <a:xfrm>
              <a:off x="0" y="-47625"/>
              <a:ext cx="1426574" cy="2277945"/>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5" id="5"/>
          <p:cNvGrpSpPr/>
          <p:nvPr/>
        </p:nvGrpSpPr>
        <p:grpSpPr>
          <a:xfrm rot="0">
            <a:off x="5599316" y="2917083"/>
            <a:ext cx="3825961" cy="6051075"/>
            <a:chOff x="0" y="0"/>
            <a:chExt cx="1403267" cy="2219383"/>
          </a:xfrm>
        </p:grpSpPr>
        <p:sp>
          <p:nvSpPr>
            <p:cNvPr name="Freeform 6" id="6"/>
            <p:cNvSpPr/>
            <p:nvPr/>
          </p:nvSpPr>
          <p:spPr>
            <a:xfrm flipH="false" flipV="false" rot="0">
              <a:off x="0" y="0"/>
              <a:ext cx="1403267" cy="2219383"/>
            </a:xfrm>
            <a:custGeom>
              <a:avLst/>
              <a:gdLst/>
              <a:ahLst/>
              <a:cxnLst/>
              <a:rect r="r" b="b" t="t" l="l"/>
              <a:pathLst>
                <a:path h="2219383" w="1403267">
                  <a:moveTo>
                    <a:pt x="18212" y="0"/>
                  </a:moveTo>
                  <a:lnTo>
                    <a:pt x="1385055" y="0"/>
                  </a:lnTo>
                  <a:cubicBezTo>
                    <a:pt x="1395113" y="0"/>
                    <a:pt x="1403267" y="8154"/>
                    <a:pt x="1403267" y="18212"/>
                  </a:cubicBezTo>
                  <a:lnTo>
                    <a:pt x="1403267" y="2201172"/>
                  </a:lnTo>
                  <a:cubicBezTo>
                    <a:pt x="1403267" y="2206002"/>
                    <a:pt x="1401348" y="2210634"/>
                    <a:pt x="1397933" y="2214049"/>
                  </a:cubicBezTo>
                  <a:cubicBezTo>
                    <a:pt x="1394517" y="2217465"/>
                    <a:pt x="1389885" y="2219383"/>
                    <a:pt x="1385055" y="2219383"/>
                  </a:cubicBezTo>
                  <a:lnTo>
                    <a:pt x="18212" y="2219383"/>
                  </a:lnTo>
                  <a:cubicBezTo>
                    <a:pt x="8154" y="2219383"/>
                    <a:pt x="0" y="2211230"/>
                    <a:pt x="0" y="2201172"/>
                  </a:cubicBezTo>
                  <a:lnTo>
                    <a:pt x="0" y="18212"/>
                  </a:lnTo>
                  <a:cubicBezTo>
                    <a:pt x="0" y="8154"/>
                    <a:pt x="8154" y="0"/>
                    <a:pt x="18212"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7" id="7"/>
            <p:cNvSpPr txBox="true"/>
            <p:nvPr/>
          </p:nvSpPr>
          <p:spPr>
            <a:xfrm>
              <a:off x="0" y="-47625"/>
              <a:ext cx="1403267" cy="2267008"/>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8" id="8"/>
          <p:cNvGrpSpPr/>
          <p:nvPr/>
        </p:nvGrpSpPr>
        <p:grpSpPr>
          <a:xfrm rot="0">
            <a:off x="9592748" y="2976720"/>
            <a:ext cx="3575588" cy="5991438"/>
            <a:chOff x="0" y="0"/>
            <a:chExt cx="1311436" cy="2197510"/>
          </a:xfrm>
        </p:grpSpPr>
        <p:sp>
          <p:nvSpPr>
            <p:cNvPr name="Freeform 9" id="9"/>
            <p:cNvSpPr/>
            <p:nvPr/>
          </p:nvSpPr>
          <p:spPr>
            <a:xfrm flipH="false" flipV="false" rot="0">
              <a:off x="0" y="0"/>
              <a:ext cx="1311436" cy="2197510"/>
            </a:xfrm>
            <a:custGeom>
              <a:avLst/>
              <a:gdLst/>
              <a:ahLst/>
              <a:cxnLst/>
              <a:rect r="r" b="b" t="t" l="l"/>
              <a:pathLst>
                <a:path h="2197510" w="1311436">
                  <a:moveTo>
                    <a:pt x="19487" y="0"/>
                  </a:moveTo>
                  <a:lnTo>
                    <a:pt x="1291949" y="0"/>
                  </a:lnTo>
                  <a:cubicBezTo>
                    <a:pt x="1302712" y="0"/>
                    <a:pt x="1311436" y="8725"/>
                    <a:pt x="1311436" y="19487"/>
                  </a:cubicBezTo>
                  <a:lnTo>
                    <a:pt x="1311436" y="2178023"/>
                  </a:lnTo>
                  <a:cubicBezTo>
                    <a:pt x="1311436" y="2188785"/>
                    <a:pt x="1302712" y="2197510"/>
                    <a:pt x="1291949" y="2197510"/>
                  </a:cubicBezTo>
                  <a:lnTo>
                    <a:pt x="19487" y="2197510"/>
                  </a:lnTo>
                  <a:cubicBezTo>
                    <a:pt x="8725" y="2197510"/>
                    <a:pt x="0" y="2188785"/>
                    <a:pt x="0" y="2178023"/>
                  </a:cubicBezTo>
                  <a:lnTo>
                    <a:pt x="0" y="19487"/>
                  </a:lnTo>
                  <a:cubicBezTo>
                    <a:pt x="0" y="8725"/>
                    <a:pt x="8725" y="0"/>
                    <a:pt x="19487"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0" id="10"/>
            <p:cNvSpPr txBox="true"/>
            <p:nvPr/>
          </p:nvSpPr>
          <p:spPr>
            <a:xfrm>
              <a:off x="0" y="-47625"/>
              <a:ext cx="1311436" cy="2245135"/>
            </a:xfrm>
            <a:prstGeom prst="rect">
              <a:avLst/>
            </a:prstGeom>
          </p:spPr>
          <p:txBody>
            <a:bodyPr anchor="ctr" rtlCol="false" tIns="50800" lIns="50800" bIns="50800" rIns="50800"/>
            <a:lstStyle/>
            <a:p>
              <a:pPr algn="ctr" marL="0" indent="0" lvl="0">
                <a:lnSpc>
                  <a:spcPts val="3587"/>
                </a:lnSpc>
                <a:spcBef>
                  <a:spcPct val="0"/>
                </a:spcBef>
              </a:pPr>
            </a:p>
          </p:txBody>
        </p:sp>
      </p:grpSp>
      <p:grpSp>
        <p:nvGrpSpPr>
          <p:cNvPr name="Group 11" id="11"/>
          <p:cNvGrpSpPr/>
          <p:nvPr/>
        </p:nvGrpSpPr>
        <p:grpSpPr>
          <a:xfrm rot="0">
            <a:off x="17259300" y="0"/>
            <a:ext cx="1028700" cy="10287000"/>
            <a:chOff x="0" y="0"/>
            <a:chExt cx="270933" cy="2709333"/>
          </a:xfrm>
        </p:grpSpPr>
        <p:sp>
          <p:nvSpPr>
            <p:cNvPr name="Freeform 12" id="12"/>
            <p:cNvSpPr/>
            <p:nvPr/>
          </p:nvSpPr>
          <p:spPr>
            <a:xfrm flipH="false" flipV="false" rot="0">
              <a:off x="0" y="0"/>
              <a:ext cx="270933" cy="2709333"/>
            </a:xfrm>
            <a:custGeom>
              <a:avLst/>
              <a:gdLst/>
              <a:ahLst/>
              <a:cxnLst/>
              <a:rect r="r" b="b" t="t" l="l"/>
              <a:pathLst>
                <a:path h="2709333" w="270933">
                  <a:moveTo>
                    <a:pt x="0" y="0"/>
                  </a:moveTo>
                  <a:lnTo>
                    <a:pt x="270933" y="0"/>
                  </a:lnTo>
                  <a:lnTo>
                    <a:pt x="270933"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13" id="13"/>
            <p:cNvSpPr txBox="true"/>
            <p:nvPr/>
          </p:nvSpPr>
          <p:spPr>
            <a:xfrm>
              <a:off x="0" y="-57150"/>
              <a:ext cx="270933" cy="2766483"/>
            </a:xfrm>
            <a:prstGeom prst="rect">
              <a:avLst/>
            </a:prstGeom>
          </p:spPr>
          <p:txBody>
            <a:bodyPr anchor="ctr" rtlCol="false" tIns="50800" lIns="50800" bIns="50800" rIns="50800"/>
            <a:lstStyle/>
            <a:p>
              <a:pPr algn="ctr" marL="0" indent="0" lvl="0">
                <a:lnSpc>
                  <a:spcPts val="3447"/>
                </a:lnSpc>
                <a:spcBef>
                  <a:spcPct val="0"/>
                </a:spcBef>
              </a:pPr>
            </a:p>
          </p:txBody>
        </p:sp>
      </p:grpSp>
      <p:grpSp>
        <p:nvGrpSpPr>
          <p:cNvPr name="Group 14" id="14"/>
          <p:cNvGrpSpPr/>
          <p:nvPr/>
        </p:nvGrpSpPr>
        <p:grpSpPr>
          <a:xfrm rot="0">
            <a:off x="13359311" y="2976720"/>
            <a:ext cx="3384740" cy="5991438"/>
            <a:chOff x="0" y="0"/>
            <a:chExt cx="1241438" cy="2197510"/>
          </a:xfrm>
        </p:grpSpPr>
        <p:sp>
          <p:nvSpPr>
            <p:cNvPr name="Freeform 15" id="15"/>
            <p:cNvSpPr/>
            <p:nvPr/>
          </p:nvSpPr>
          <p:spPr>
            <a:xfrm flipH="false" flipV="false" rot="0">
              <a:off x="0" y="0"/>
              <a:ext cx="1241438" cy="2197510"/>
            </a:xfrm>
            <a:custGeom>
              <a:avLst/>
              <a:gdLst/>
              <a:ahLst/>
              <a:cxnLst/>
              <a:rect r="r" b="b" t="t" l="l"/>
              <a:pathLst>
                <a:path h="2197510" w="1241438">
                  <a:moveTo>
                    <a:pt x="20586" y="0"/>
                  </a:moveTo>
                  <a:lnTo>
                    <a:pt x="1220853" y="0"/>
                  </a:lnTo>
                  <a:cubicBezTo>
                    <a:pt x="1226312" y="0"/>
                    <a:pt x="1231548" y="2169"/>
                    <a:pt x="1235409" y="6029"/>
                  </a:cubicBezTo>
                  <a:cubicBezTo>
                    <a:pt x="1239269" y="9890"/>
                    <a:pt x="1241438" y="15126"/>
                    <a:pt x="1241438" y="20586"/>
                  </a:cubicBezTo>
                  <a:lnTo>
                    <a:pt x="1241438" y="2176924"/>
                  </a:lnTo>
                  <a:cubicBezTo>
                    <a:pt x="1241438" y="2188294"/>
                    <a:pt x="1232222" y="2197510"/>
                    <a:pt x="1220853" y="2197510"/>
                  </a:cubicBezTo>
                  <a:lnTo>
                    <a:pt x="20586" y="2197510"/>
                  </a:lnTo>
                  <a:cubicBezTo>
                    <a:pt x="9217" y="2197510"/>
                    <a:pt x="0" y="2188294"/>
                    <a:pt x="0" y="2176924"/>
                  </a:cubicBezTo>
                  <a:lnTo>
                    <a:pt x="0" y="20586"/>
                  </a:lnTo>
                  <a:cubicBezTo>
                    <a:pt x="0" y="9217"/>
                    <a:pt x="9217" y="0"/>
                    <a:pt x="20586" y="0"/>
                  </a:cubicBezTo>
                  <a:close/>
                </a:path>
              </a:pathLst>
            </a:custGeom>
            <a:gradFill rotWithShape="true">
              <a:gsLst>
                <a:gs pos="0">
                  <a:srgbClr val="65CED1">
                    <a:alpha val="100000"/>
                  </a:srgbClr>
                </a:gs>
                <a:gs pos="100000">
                  <a:srgbClr val="1F4E4F">
                    <a:alpha val="100000"/>
                  </a:srgbClr>
                </a:gs>
              </a:gsLst>
              <a:lin ang="2700000"/>
            </a:gradFill>
            <a:ln cap="sq">
              <a:noFill/>
              <a:prstDash val="solid"/>
              <a:miter/>
            </a:ln>
          </p:spPr>
        </p:sp>
        <p:sp>
          <p:nvSpPr>
            <p:cNvPr name="TextBox 16" id="16"/>
            <p:cNvSpPr txBox="true"/>
            <p:nvPr/>
          </p:nvSpPr>
          <p:spPr>
            <a:xfrm>
              <a:off x="0" y="-47625"/>
              <a:ext cx="1241438" cy="2245135"/>
            </a:xfrm>
            <a:prstGeom prst="rect">
              <a:avLst/>
            </a:prstGeom>
          </p:spPr>
          <p:txBody>
            <a:bodyPr anchor="ctr" rtlCol="false" tIns="50800" lIns="50800" bIns="50800" rIns="50800"/>
            <a:lstStyle/>
            <a:p>
              <a:pPr algn="just" marL="0" indent="0" lvl="0">
                <a:lnSpc>
                  <a:spcPts val="3587"/>
                </a:lnSpc>
                <a:spcBef>
                  <a:spcPct val="0"/>
                </a:spcBef>
              </a:pPr>
            </a:p>
          </p:txBody>
        </p:sp>
      </p:grpSp>
      <p:sp>
        <p:nvSpPr>
          <p:cNvPr name="Freeform 17" id="17"/>
          <p:cNvSpPr/>
          <p:nvPr/>
        </p:nvSpPr>
        <p:spPr>
          <a:xfrm flipH="false" flipV="false" rot="0">
            <a:off x="1691909" y="6567700"/>
            <a:ext cx="3590094" cy="1570096"/>
          </a:xfrm>
          <a:custGeom>
            <a:avLst/>
            <a:gdLst/>
            <a:ahLst/>
            <a:cxnLst/>
            <a:rect r="r" b="b" t="t" l="l"/>
            <a:pathLst>
              <a:path h="1570096" w="3590094">
                <a:moveTo>
                  <a:pt x="0" y="0"/>
                </a:moveTo>
                <a:lnTo>
                  <a:pt x="3590094" y="0"/>
                </a:lnTo>
                <a:lnTo>
                  <a:pt x="3590094" y="1570097"/>
                </a:lnTo>
                <a:lnTo>
                  <a:pt x="0" y="1570097"/>
                </a:lnTo>
                <a:lnTo>
                  <a:pt x="0" y="0"/>
                </a:lnTo>
                <a:close/>
              </a:path>
            </a:pathLst>
          </a:custGeom>
          <a:blipFill>
            <a:blip r:embed="rId2"/>
            <a:stretch>
              <a:fillRect l="-17911" t="0" r="-8029" b="-16267"/>
            </a:stretch>
          </a:blipFill>
        </p:spPr>
      </p:sp>
      <p:sp>
        <p:nvSpPr>
          <p:cNvPr name="Freeform 18" id="18"/>
          <p:cNvSpPr/>
          <p:nvPr/>
        </p:nvSpPr>
        <p:spPr>
          <a:xfrm flipH="false" flipV="false" rot="0">
            <a:off x="5744645" y="6567700"/>
            <a:ext cx="3514728" cy="1570096"/>
          </a:xfrm>
          <a:custGeom>
            <a:avLst/>
            <a:gdLst/>
            <a:ahLst/>
            <a:cxnLst/>
            <a:rect r="r" b="b" t="t" l="l"/>
            <a:pathLst>
              <a:path h="1570096" w="3514728">
                <a:moveTo>
                  <a:pt x="0" y="0"/>
                </a:moveTo>
                <a:lnTo>
                  <a:pt x="3514728" y="0"/>
                </a:lnTo>
                <a:lnTo>
                  <a:pt x="3514728" y="1570097"/>
                </a:lnTo>
                <a:lnTo>
                  <a:pt x="0" y="1570097"/>
                </a:lnTo>
                <a:lnTo>
                  <a:pt x="0" y="0"/>
                </a:lnTo>
                <a:close/>
              </a:path>
            </a:pathLst>
          </a:custGeom>
          <a:blipFill>
            <a:blip r:embed="rId3"/>
            <a:stretch>
              <a:fillRect l="-8491" t="-28346" r="-10175" b="-40766"/>
            </a:stretch>
          </a:blipFill>
        </p:spPr>
      </p:sp>
      <p:sp>
        <p:nvSpPr>
          <p:cNvPr name="Freeform 19" id="19"/>
          <p:cNvSpPr/>
          <p:nvPr/>
        </p:nvSpPr>
        <p:spPr>
          <a:xfrm flipH="false" flipV="false" rot="0">
            <a:off x="9760434" y="6567700"/>
            <a:ext cx="3263721" cy="1570096"/>
          </a:xfrm>
          <a:custGeom>
            <a:avLst/>
            <a:gdLst/>
            <a:ahLst/>
            <a:cxnLst/>
            <a:rect r="r" b="b" t="t" l="l"/>
            <a:pathLst>
              <a:path h="1570096" w="3263721">
                <a:moveTo>
                  <a:pt x="0" y="0"/>
                </a:moveTo>
                <a:lnTo>
                  <a:pt x="3263720" y="0"/>
                </a:lnTo>
                <a:lnTo>
                  <a:pt x="3263720" y="1570097"/>
                </a:lnTo>
                <a:lnTo>
                  <a:pt x="0" y="1570097"/>
                </a:lnTo>
                <a:lnTo>
                  <a:pt x="0" y="0"/>
                </a:lnTo>
                <a:close/>
              </a:path>
            </a:pathLst>
          </a:custGeom>
          <a:blipFill>
            <a:blip r:embed="rId4"/>
            <a:stretch>
              <a:fillRect l="0" t="0" r="0" b="-16925"/>
            </a:stretch>
          </a:blipFill>
        </p:spPr>
      </p:sp>
      <p:sp>
        <p:nvSpPr>
          <p:cNvPr name="Freeform 20" id="20"/>
          <p:cNvSpPr/>
          <p:nvPr/>
        </p:nvSpPr>
        <p:spPr>
          <a:xfrm flipH="false" flipV="false" rot="0">
            <a:off x="13482661" y="6567700"/>
            <a:ext cx="3089436" cy="1570096"/>
          </a:xfrm>
          <a:custGeom>
            <a:avLst/>
            <a:gdLst/>
            <a:ahLst/>
            <a:cxnLst/>
            <a:rect r="r" b="b" t="t" l="l"/>
            <a:pathLst>
              <a:path h="1570096" w="3089436">
                <a:moveTo>
                  <a:pt x="0" y="0"/>
                </a:moveTo>
                <a:lnTo>
                  <a:pt x="3089436" y="0"/>
                </a:lnTo>
                <a:lnTo>
                  <a:pt x="3089436" y="1570097"/>
                </a:lnTo>
                <a:lnTo>
                  <a:pt x="0" y="1570097"/>
                </a:lnTo>
                <a:lnTo>
                  <a:pt x="0" y="0"/>
                </a:lnTo>
                <a:close/>
              </a:path>
            </a:pathLst>
          </a:custGeom>
          <a:blipFill>
            <a:blip r:embed="rId5"/>
            <a:stretch>
              <a:fillRect l="0" t="0" r="0" b="-3312"/>
            </a:stretch>
          </a:blipFill>
        </p:spPr>
      </p:sp>
      <p:sp>
        <p:nvSpPr>
          <p:cNvPr name="TextBox 21" id="21"/>
          <p:cNvSpPr txBox="true"/>
          <p:nvPr/>
        </p:nvSpPr>
        <p:spPr>
          <a:xfrm rot="0">
            <a:off x="1028700" y="1381145"/>
            <a:ext cx="9864642" cy="759822"/>
          </a:xfrm>
          <a:prstGeom prst="rect">
            <a:avLst/>
          </a:prstGeom>
        </p:spPr>
        <p:txBody>
          <a:bodyPr anchor="t" rtlCol="false" tIns="0" lIns="0" bIns="0" rIns="0">
            <a:spAutoFit/>
          </a:bodyPr>
          <a:lstStyle/>
          <a:p>
            <a:pPr algn="l">
              <a:lnSpc>
                <a:spcPts val="5776"/>
              </a:lnSpc>
            </a:pPr>
            <a:r>
              <a:rPr lang="en-US" sz="5112">
                <a:solidFill>
                  <a:srgbClr val="000000"/>
                </a:solidFill>
                <a:latin typeface="Archivo Black"/>
                <a:ea typeface="Archivo Black"/>
                <a:cs typeface="Archivo Black"/>
                <a:sym typeface="Archivo Black"/>
              </a:rPr>
              <a:t>Aplicaciones Prácticas</a:t>
            </a:r>
          </a:p>
        </p:txBody>
      </p:sp>
      <p:sp>
        <p:nvSpPr>
          <p:cNvPr name="TextBox 22" id="22"/>
          <p:cNvSpPr txBox="true"/>
          <p:nvPr/>
        </p:nvSpPr>
        <p:spPr>
          <a:xfrm rot="0">
            <a:off x="1761852" y="3375320"/>
            <a:ext cx="3450207" cy="2402549"/>
          </a:xfrm>
          <a:prstGeom prst="rect">
            <a:avLst/>
          </a:prstGeom>
        </p:spPr>
        <p:txBody>
          <a:bodyPr anchor="t" rtlCol="false" tIns="0" lIns="0" bIns="0" rIns="0">
            <a:spAutoFit/>
          </a:bodyPr>
          <a:lstStyle/>
          <a:p>
            <a:pPr algn="l">
              <a:lnSpc>
                <a:spcPts val="2405"/>
              </a:lnSpc>
            </a:pPr>
            <a:r>
              <a:rPr lang="en-US" sz="1850" spc="-9">
                <a:solidFill>
                  <a:srgbClr val="FFFFFF"/>
                </a:solidFill>
                <a:latin typeface="HK Grotesk"/>
                <a:ea typeface="HK Grotesk"/>
                <a:cs typeface="HK Grotesk"/>
                <a:sym typeface="HK Grotesk"/>
              </a:rPr>
              <a:t>En un sistema que recibe registros de eventos en tiempo real y quiere mantenerlos ordenados por tiempo o por otro campo:</a:t>
            </a:r>
          </a:p>
          <a:p>
            <a:pPr algn="l" marL="0" indent="0" lvl="0">
              <a:lnSpc>
                <a:spcPts val="2405"/>
              </a:lnSpc>
              <a:spcBef>
                <a:spcPct val="0"/>
              </a:spcBef>
            </a:pPr>
            <a:r>
              <a:rPr lang="en-US" sz="1850" spc="-9">
                <a:solidFill>
                  <a:srgbClr val="FFFFFF"/>
                </a:solidFill>
                <a:latin typeface="HK Grotesk"/>
                <a:ea typeface="HK Grotesk"/>
                <a:cs typeface="HK Grotesk"/>
                <a:sym typeface="HK Grotesk"/>
              </a:rPr>
              <a:t>Se podría usar un BST para insertar cada evento y luego extraerlos en orden cuando sea necesario.</a:t>
            </a:r>
          </a:p>
        </p:txBody>
      </p:sp>
      <p:sp>
        <p:nvSpPr>
          <p:cNvPr name="TextBox 23" id="23"/>
          <p:cNvSpPr txBox="true"/>
          <p:nvPr/>
        </p:nvSpPr>
        <p:spPr>
          <a:xfrm rot="0">
            <a:off x="5744645" y="3375320"/>
            <a:ext cx="3399960" cy="1203810"/>
          </a:xfrm>
          <a:prstGeom prst="rect">
            <a:avLst/>
          </a:prstGeom>
        </p:spPr>
        <p:txBody>
          <a:bodyPr anchor="t" rtlCol="false" tIns="0" lIns="0" bIns="0" rIns="0">
            <a:spAutoFit/>
          </a:bodyPr>
          <a:lstStyle/>
          <a:p>
            <a:pPr algn="l" marL="0" indent="0" lvl="0">
              <a:lnSpc>
                <a:spcPts val="2405"/>
              </a:lnSpc>
              <a:spcBef>
                <a:spcPct val="0"/>
              </a:spcBef>
            </a:pPr>
            <a:r>
              <a:rPr lang="en-US" sz="1850" spc="-9">
                <a:solidFill>
                  <a:srgbClr val="FFFFFF"/>
                </a:solidFill>
                <a:latin typeface="HK Grotesk"/>
                <a:ea typeface="HK Grotesk"/>
                <a:cs typeface="HK Grotesk"/>
                <a:sym typeface="HK Grotesk"/>
              </a:rPr>
              <a:t>En bases de datos u otros sistemas de índices en memoria, los árboles de búsqueda ya se usan para mantener orden. </a:t>
            </a:r>
          </a:p>
        </p:txBody>
      </p:sp>
      <p:sp>
        <p:nvSpPr>
          <p:cNvPr name="TextBox 24" id="24"/>
          <p:cNvSpPr txBox="true"/>
          <p:nvPr/>
        </p:nvSpPr>
        <p:spPr>
          <a:xfrm rot="0">
            <a:off x="9925461" y="3375320"/>
            <a:ext cx="2910163" cy="1803179"/>
          </a:xfrm>
          <a:prstGeom prst="rect">
            <a:avLst/>
          </a:prstGeom>
        </p:spPr>
        <p:txBody>
          <a:bodyPr anchor="t" rtlCol="false" tIns="0" lIns="0" bIns="0" rIns="0">
            <a:spAutoFit/>
          </a:bodyPr>
          <a:lstStyle/>
          <a:p>
            <a:pPr algn="l" marL="0" indent="0" lvl="0">
              <a:lnSpc>
                <a:spcPts val="2405"/>
              </a:lnSpc>
              <a:spcBef>
                <a:spcPct val="0"/>
              </a:spcBef>
            </a:pPr>
            <a:r>
              <a:rPr lang="en-US" sz="1850" spc="-9">
                <a:solidFill>
                  <a:srgbClr val="FFFFFF"/>
                </a:solidFill>
                <a:latin typeface="HK Grotesk"/>
                <a:ea typeface="HK Grotesk"/>
                <a:cs typeface="HK Grotesk"/>
                <a:sym typeface="HK Grotesk"/>
              </a:rPr>
              <a:t>En renderización de gráficos o procesamiento de escenas, puede haber colecciones de elementos que llegan dinámicamente y deben procesarse en orden.</a:t>
            </a:r>
          </a:p>
        </p:txBody>
      </p:sp>
      <p:sp>
        <p:nvSpPr>
          <p:cNvPr name="TextBox 25" id="25"/>
          <p:cNvSpPr txBox="true"/>
          <p:nvPr/>
        </p:nvSpPr>
        <p:spPr>
          <a:xfrm rot="0">
            <a:off x="13616011" y="3363568"/>
            <a:ext cx="2792175" cy="2402549"/>
          </a:xfrm>
          <a:prstGeom prst="rect">
            <a:avLst/>
          </a:prstGeom>
        </p:spPr>
        <p:txBody>
          <a:bodyPr anchor="t" rtlCol="false" tIns="0" lIns="0" bIns="0" rIns="0">
            <a:spAutoFit/>
          </a:bodyPr>
          <a:lstStyle/>
          <a:p>
            <a:pPr algn="l" marL="0" indent="0" lvl="0">
              <a:lnSpc>
                <a:spcPts val="2405"/>
              </a:lnSpc>
              <a:spcBef>
                <a:spcPct val="0"/>
              </a:spcBef>
            </a:pPr>
            <a:r>
              <a:rPr lang="en-US" sz="1850" spc="-9">
                <a:solidFill>
                  <a:srgbClr val="FFFFFF"/>
                </a:solidFill>
                <a:latin typeface="HK Grotesk"/>
                <a:ea typeface="HK Grotesk"/>
                <a:cs typeface="HK Grotesk"/>
                <a:sym typeface="HK Grotesk"/>
              </a:rPr>
              <a:t>En estructuras de listas enlazadas: la página de Rosetta Code menciona que Tree Sort puede considerarse “la forma más rápida para ordenar una lista enlazada” en ciertos casos.</a:t>
            </a:r>
          </a:p>
        </p:txBody>
      </p:sp>
      <p:sp>
        <p:nvSpPr>
          <p:cNvPr name="AutoShape 26" id="26"/>
          <p:cNvSpPr/>
          <p:nvPr/>
        </p:nvSpPr>
        <p:spPr>
          <a:xfrm>
            <a:off x="999245" y="2126679"/>
            <a:ext cx="9075697" cy="14288"/>
          </a:xfrm>
          <a:prstGeom prst="line">
            <a:avLst/>
          </a:prstGeom>
          <a:ln cap="flat" w="28575">
            <a:gradFill>
              <a:gsLst>
                <a:gs pos="0">
                  <a:srgbClr val="000000">
                    <a:alpha val="100000"/>
                  </a:srgbClr>
                </a:gs>
                <a:gs pos="50000">
                  <a:srgbClr val="082D2F">
                    <a:alpha val="100000"/>
                  </a:srgbClr>
                </a:gs>
                <a:gs pos="100000">
                  <a:srgbClr val="28949C">
                    <a:alpha val="100000"/>
                  </a:srgbClr>
                </a:gs>
              </a:gsLst>
              <a:path path="circle">
                <a:fillToRect l="50000" r="50000" t="50000" b="50000"/>
              </a:path>
            </a:gradFill>
            <a:prstDash val="solid"/>
            <a:headEnd type="none" len="sm" w="sm"/>
            <a:tailEnd type="none" len="sm" w="sm"/>
          </a:ln>
        </p:spPr>
      </p:sp>
    </p:spTree>
  </p:cSld>
  <p:clrMapOvr>
    <a:masterClrMapping/>
  </p:clrMapOvr>
</p:sld>
</file>

<file path=ppt/slides/slide1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0" y="0"/>
            <a:ext cx="8028682" cy="10287000"/>
            <a:chOff x="0" y="0"/>
            <a:chExt cx="2114550" cy="2709333"/>
          </a:xfrm>
        </p:grpSpPr>
        <p:sp>
          <p:nvSpPr>
            <p:cNvPr name="Freeform 3" id="3"/>
            <p:cNvSpPr/>
            <p:nvPr/>
          </p:nvSpPr>
          <p:spPr>
            <a:xfrm flipH="false" flipV="false" rot="0">
              <a:off x="0" y="0"/>
              <a:ext cx="2114550" cy="2709333"/>
            </a:xfrm>
            <a:custGeom>
              <a:avLst/>
              <a:gdLst/>
              <a:ahLst/>
              <a:cxnLst/>
              <a:rect r="r" b="b" t="t" l="l"/>
              <a:pathLst>
                <a:path h="2709333" w="2114550">
                  <a:moveTo>
                    <a:pt x="0" y="0"/>
                  </a:moveTo>
                  <a:lnTo>
                    <a:pt x="2114550" y="0"/>
                  </a:lnTo>
                  <a:lnTo>
                    <a:pt x="2114550"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2114550"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8555211" y="1194188"/>
            <a:ext cx="9056398" cy="8325485"/>
          </a:xfrm>
          <a:prstGeom prst="rect">
            <a:avLst/>
          </a:prstGeom>
        </p:spPr>
        <p:txBody>
          <a:bodyPr anchor="t" rtlCol="false" tIns="0" lIns="0" bIns="0" rIns="0">
            <a:spAutoFit/>
          </a:bodyPr>
          <a:lstStyle/>
          <a:p>
            <a:pPr algn="l">
              <a:lnSpc>
                <a:spcPts val="2859"/>
              </a:lnSpc>
            </a:pPr>
          </a:p>
          <a:p>
            <a:pPr algn="l" marL="474979" indent="-237490" lvl="1">
              <a:lnSpc>
                <a:spcPts val="2859"/>
              </a:lnSpc>
              <a:buFont typeface="Arial"/>
              <a:buChar char="•"/>
            </a:pPr>
            <a:r>
              <a:rPr lang="en-US" sz="2199" spc="-10">
                <a:solidFill>
                  <a:srgbClr val="343434"/>
                </a:solidFill>
                <a:latin typeface="HK Grotesk"/>
                <a:ea typeface="HK Grotesk"/>
                <a:cs typeface="HK Grotesk"/>
                <a:sym typeface="HK Grotesk"/>
              </a:rPr>
              <a:t>Se usa cuando</a:t>
            </a:r>
            <a:r>
              <a:rPr lang="en-US" sz="2199" spc="-10">
                <a:solidFill>
                  <a:srgbClr val="343434"/>
                </a:solidFill>
                <a:latin typeface="HK Grotesk"/>
                <a:ea typeface="HK Grotesk"/>
                <a:cs typeface="HK Grotesk"/>
                <a:sym typeface="HK Grotesk"/>
              </a:rPr>
              <a:t>:</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Los datos llegan o se generan incrementalmente y se necesita una estructura que permita inserciones ordenadas + recuperación en orden.</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Si se</a:t>
            </a:r>
            <a:r>
              <a:rPr lang="en-US" sz="2199" spc="-10">
                <a:solidFill>
                  <a:srgbClr val="343434"/>
                </a:solidFill>
                <a:latin typeface="HK Grotesk"/>
                <a:ea typeface="HK Grotesk"/>
                <a:cs typeface="HK Grotesk"/>
                <a:sym typeface="HK Grotesk"/>
              </a:rPr>
              <a:t> tiene una estructura de BST usada en el sistema, y el ordenamiento es un requerimiento natural de esa estructura.</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El tamaño de los datos es moderado, de modo que el overhead de árbol no dominen.</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Se usa </a:t>
            </a:r>
            <a:r>
              <a:rPr lang="en-US" sz="2199" spc="-10">
                <a:solidFill>
                  <a:srgbClr val="343434"/>
                </a:solidFill>
                <a:latin typeface="HK Grotesk"/>
                <a:ea typeface="HK Grotesk"/>
                <a:cs typeface="HK Grotesk"/>
                <a:sym typeface="HK Grotesk"/>
              </a:rPr>
              <a:t>un árbol auto-balanceado para asegurar que el peor caso no se degrade.</a:t>
            </a:r>
          </a:p>
          <a:p>
            <a:pPr algn="l" marL="474979" indent="-237490" lvl="1">
              <a:lnSpc>
                <a:spcPts val="2859"/>
              </a:lnSpc>
              <a:buFont typeface="Arial"/>
              <a:buChar char="•"/>
            </a:pPr>
            <a:r>
              <a:rPr lang="en-US" sz="2199" spc="-10">
                <a:solidFill>
                  <a:srgbClr val="343434"/>
                </a:solidFill>
                <a:latin typeface="HK Grotesk"/>
                <a:ea typeface="HK Grotesk"/>
                <a:cs typeface="HK Grotesk"/>
                <a:sym typeface="HK Grotesk"/>
              </a:rPr>
              <a:t>Se evita </a:t>
            </a:r>
            <a:r>
              <a:rPr lang="en-US" sz="2199" spc="-10">
                <a:solidFill>
                  <a:srgbClr val="343434"/>
                </a:solidFill>
                <a:latin typeface="HK Grotesk"/>
                <a:ea typeface="HK Grotesk"/>
                <a:cs typeface="HK Grotesk"/>
                <a:sym typeface="HK Grotesk"/>
              </a:rPr>
              <a:t>cuando:</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Tienen todos los datos de antemano y lo que más importa es eficiencia pura de ordenamiento.</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El espacio adicional y el overhead de punteros/nodos es una preocupación crítica.</a:t>
            </a:r>
          </a:p>
          <a:p>
            <a:pPr algn="l" marL="949959" indent="-316653" lvl="2">
              <a:lnSpc>
                <a:spcPts val="2859"/>
              </a:lnSpc>
              <a:buFont typeface="Arial"/>
              <a:buChar char="⚬"/>
            </a:pPr>
            <a:r>
              <a:rPr lang="en-US" sz="2199" spc="-10">
                <a:solidFill>
                  <a:srgbClr val="343434"/>
                </a:solidFill>
                <a:latin typeface="HK Grotesk"/>
                <a:ea typeface="HK Grotesk"/>
                <a:cs typeface="HK Grotesk"/>
                <a:sym typeface="HK Grotesk"/>
              </a:rPr>
              <a:t>No puedes garantizar el balance del árbol o el patrón de inserción tiende a degenerar (por ejemplo, datos ya ordenados).</a:t>
            </a:r>
          </a:p>
          <a:p>
            <a:pPr algn="l" marL="474979" indent="-237490" lvl="1">
              <a:lnSpc>
                <a:spcPts val="2859"/>
              </a:lnSpc>
              <a:buFont typeface="Arial"/>
              <a:buChar char="•"/>
            </a:pPr>
            <a:r>
              <a:rPr lang="en-US" sz="2199" spc="-10">
                <a:solidFill>
                  <a:srgbClr val="343434"/>
                </a:solidFill>
                <a:latin typeface="HK Grotesk"/>
                <a:ea typeface="HK Grotesk"/>
                <a:cs typeface="HK Grotesk"/>
                <a:sym typeface="HK Grotesk"/>
              </a:rPr>
              <a:t>Como regla práctica: si necesitamos ordenar “una vez” un gran archivo entonces Tree Sort no es la mejor elección, pero si se necesita mantener un flujo de datos ordenados con inserciones frecuentes, se considera Tree Sort o estructuras basadas en BST.</a:t>
            </a:r>
          </a:p>
          <a:p>
            <a:pPr algn="l" marL="0" indent="0" lvl="0">
              <a:lnSpc>
                <a:spcPts val="2859"/>
              </a:lnSpc>
              <a:spcBef>
                <a:spcPct val="0"/>
              </a:spcBef>
            </a:pPr>
          </a:p>
        </p:txBody>
      </p:sp>
      <p:sp>
        <p:nvSpPr>
          <p:cNvPr name="TextBox 6" id="6"/>
          <p:cNvSpPr txBox="true"/>
          <p:nvPr/>
        </p:nvSpPr>
        <p:spPr>
          <a:xfrm rot="0">
            <a:off x="1240565" y="665106"/>
            <a:ext cx="5716761" cy="746238"/>
          </a:xfrm>
          <a:prstGeom prst="rect">
            <a:avLst/>
          </a:prstGeom>
        </p:spPr>
        <p:txBody>
          <a:bodyPr anchor="t" rtlCol="false" tIns="0" lIns="0" bIns="0" rIns="0">
            <a:spAutoFit/>
          </a:bodyPr>
          <a:lstStyle/>
          <a:p>
            <a:pPr algn="l">
              <a:lnSpc>
                <a:spcPts val="5742"/>
              </a:lnSpc>
            </a:pPr>
            <a:r>
              <a:rPr lang="en-US" sz="5081">
                <a:solidFill>
                  <a:srgbClr val="FFFFFF"/>
                </a:solidFill>
                <a:latin typeface="Archivo Black"/>
                <a:ea typeface="Archivo Black"/>
                <a:cs typeface="Archivo Black"/>
                <a:sym typeface="Archivo Black"/>
              </a:rPr>
              <a:t>6. Conclusiones</a:t>
            </a:r>
          </a:p>
        </p:txBody>
      </p:sp>
      <p:sp>
        <p:nvSpPr>
          <p:cNvPr name="TextBox 7" id="7"/>
          <p:cNvSpPr txBox="true"/>
          <p:nvPr/>
        </p:nvSpPr>
        <p:spPr>
          <a:xfrm rot="0">
            <a:off x="648547" y="1716812"/>
            <a:ext cx="6900797" cy="6959600"/>
          </a:xfrm>
          <a:prstGeom prst="rect">
            <a:avLst/>
          </a:prstGeom>
        </p:spPr>
        <p:txBody>
          <a:bodyPr anchor="t" rtlCol="false" tIns="0" lIns="0" bIns="0" rIns="0">
            <a:spAutoFit/>
          </a:bodyPr>
          <a:lstStyle/>
          <a:p>
            <a:pPr algn="l">
              <a:lnSpc>
                <a:spcPts val="3249"/>
              </a:lnSpc>
            </a:pPr>
            <a:r>
              <a:rPr lang="en-US" sz="2499" spc="-12">
                <a:solidFill>
                  <a:srgbClr val="FFFFFF"/>
                </a:solidFill>
                <a:latin typeface="HK Grotesk"/>
                <a:ea typeface="HK Grotesk"/>
                <a:cs typeface="HK Grotesk"/>
                <a:sym typeface="HK Grotesk"/>
              </a:rPr>
              <a:t>Tree sort es útil cuando se necesitan insertar elementos dinámicamente y mantener un orden, o cuando ya se usa una estructura de árbol para otras funciones y se le puede dar el uso de ordenamiento al mismo árbol, pero no </a:t>
            </a:r>
            <a:r>
              <a:rPr lang="en-US" sz="2499" spc="-12">
                <a:solidFill>
                  <a:srgbClr val="FFFFFF"/>
                </a:solidFill>
                <a:latin typeface="HK Grotesk"/>
                <a:ea typeface="HK Grotesk"/>
                <a:cs typeface="HK Grotesk"/>
                <a:sym typeface="HK Grotesk"/>
              </a:rPr>
              <a:t>es tan útil cuando el escenario se trata de solo ordenar rápidamente los datos para ellos se usan otros algoritmos como (quicksort, mergesort, heapsort), su eficiencia depende de que el árbol se mantenga balanceado. Si no se controla el balanceo, se puede caer en O(n²). Por tanto, su “riesgo” es mayor que el de algoritmos más maduros para ordenamiento por lotes.</a:t>
            </a:r>
          </a:p>
          <a:p>
            <a:pPr algn="l">
              <a:lnSpc>
                <a:spcPts val="3249"/>
              </a:lnSpc>
            </a:pPr>
            <a:r>
              <a:rPr lang="en-US" sz="2499" spc="-12">
                <a:solidFill>
                  <a:srgbClr val="FFFFFF"/>
                </a:solidFill>
                <a:latin typeface="HK Grotesk"/>
                <a:ea typeface="HK Grotesk"/>
                <a:cs typeface="HK Grotesk"/>
                <a:sym typeface="HK Grotesk"/>
              </a:rPr>
              <a:t>Su ventaja de “online” lo hace destacar en escenarios dinámicos, pero ese beneficio no siempre existe en escenarios estáticos.</a:t>
            </a:r>
          </a:p>
          <a:p>
            <a:pPr algn="l" marL="0" indent="0" lvl="0">
              <a:lnSpc>
                <a:spcPts val="3249"/>
              </a:lnSpc>
              <a:spcBef>
                <a:spcPct val="0"/>
              </a:spcBef>
            </a:pPr>
          </a:p>
        </p:txBody>
      </p:sp>
      <p:sp>
        <p:nvSpPr>
          <p:cNvPr name="TextBox 8" id="8"/>
          <p:cNvSpPr txBox="true"/>
          <p:nvPr/>
        </p:nvSpPr>
        <p:spPr>
          <a:xfrm rot="0">
            <a:off x="8334395" y="665106"/>
            <a:ext cx="10131250" cy="557657"/>
          </a:xfrm>
          <a:prstGeom prst="rect">
            <a:avLst/>
          </a:prstGeom>
        </p:spPr>
        <p:txBody>
          <a:bodyPr anchor="t" rtlCol="false" tIns="0" lIns="0" bIns="0" rIns="0">
            <a:spAutoFit/>
          </a:bodyPr>
          <a:lstStyle/>
          <a:p>
            <a:pPr algn="l">
              <a:lnSpc>
                <a:spcPts val="4294"/>
              </a:lnSpc>
            </a:pPr>
            <a:r>
              <a:rPr lang="en-US" sz="3800">
                <a:solidFill>
                  <a:srgbClr val="000000"/>
                </a:solidFill>
                <a:latin typeface="Archivo Black"/>
                <a:ea typeface="Archivo Black"/>
                <a:cs typeface="Archivo Black"/>
                <a:sym typeface="Archivo Black"/>
              </a:rPr>
              <a:t>Recomendaciones de cuándo usarlo</a:t>
            </a:r>
          </a:p>
        </p:txBody>
      </p:sp>
    </p:spTree>
  </p:cSld>
  <p:clrMapOvr>
    <a:masterClrMapping/>
  </p:clrMapOvr>
</p:sld>
</file>

<file path=ppt/slides/slide1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grpSp>
        <p:nvGrpSpPr>
          <p:cNvPr name="Group 2" id="2"/>
          <p:cNvGrpSpPr/>
          <p:nvPr/>
        </p:nvGrpSpPr>
        <p:grpSpPr>
          <a:xfrm rot="0">
            <a:off x="-288405" y="0"/>
            <a:ext cx="18864809" cy="10287000"/>
            <a:chOff x="0" y="0"/>
            <a:chExt cx="4968509" cy="2709333"/>
          </a:xfrm>
        </p:grpSpPr>
        <p:sp>
          <p:nvSpPr>
            <p:cNvPr name="Freeform 3" id="3"/>
            <p:cNvSpPr/>
            <p:nvPr/>
          </p:nvSpPr>
          <p:spPr>
            <a:xfrm flipH="false" flipV="false" rot="0">
              <a:off x="0" y="0"/>
              <a:ext cx="4968510" cy="2709333"/>
            </a:xfrm>
            <a:custGeom>
              <a:avLst/>
              <a:gdLst/>
              <a:ahLst/>
              <a:cxnLst/>
              <a:rect r="r" b="b" t="t" l="l"/>
              <a:pathLst>
                <a:path h="2709333" w="4968510">
                  <a:moveTo>
                    <a:pt x="0" y="0"/>
                  </a:moveTo>
                  <a:lnTo>
                    <a:pt x="4968510" y="0"/>
                  </a:lnTo>
                  <a:lnTo>
                    <a:pt x="4968510" y="2709333"/>
                  </a:lnTo>
                  <a:lnTo>
                    <a:pt x="0" y="2709333"/>
                  </a:lnTo>
                  <a:close/>
                </a:path>
              </a:pathLst>
            </a:custGeom>
            <a:gradFill rotWithShape="true">
              <a:gsLst>
                <a:gs pos="0">
                  <a:srgbClr val="65CED1">
                    <a:alpha val="100000"/>
                  </a:srgbClr>
                </a:gs>
                <a:gs pos="100000">
                  <a:srgbClr val="000000">
                    <a:alpha val="100000"/>
                  </a:srgbClr>
                </a:gs>
              </a:gsLst>
              <a:lin ang="2700000"/>
            </a:gradFill>
            <a:ln cap="sq">
              <a:noFill/>
              <a:prstDash val="solid"/>
              <a:miter/>
            </a:ln>
          </p:spPr>
        </p:sp>
        <p:sp>
          <p:nvSpPr>
            <p:cNvPr name="TextBox 4" id="4"/>
            <p:cNvSpPr txBox="true"/>
            <p:nvPr/>
          </p:nvSpPr>
          <p:spPr>
            <a:xfrm>
              <a:off x="0" y="-57150"/>
              <a:ext cx="4968509" cy="2766483"/>
            </a:xfrm>
            <a:prstGeom prst="rect">
              <a:avLst/>
            </a:prstGeom>
          </p:spPr>
          <p:txBody>
            <a:bodyPr anchor="ctr" rtlCol="false" tIns="50800" lIns="50800" bIns="50800" rIns="50800"/>
            <a:lstStyle/>
            <a:p>
              <a:pPr algn="ctr" marL="0" indent="0" lvl="0">
                <a:lnSpc>
                  <a:spcPts val="3447"/>
                </a:lnSpc>
                <a:spcBef>
                  <a:spcPct val="0"/>
                </a:spcBef>
              </a:pPr>
            </a:p>
          </p:txBody>
        </p:sp>
      </p:grpSp>
      <p:sp>
        <p:nvSpPr>
          <p:cNvPr name="TextBox 5" id="5"/>
          <p:cNvSpPr txBox="true"/>
          <p:nvPr/>
        </p:nvSpPr>
        <p:spPr>
          <a:xfrm rot="0">
            <a:off x="2986764" y="3011365"/>
            <a:ext cx="900317" cy="507365"/>
          </a:xfrm>
          <a:prstGeom prst="rect">
            <a:avLst/>
          </a:prstGeom>
        </p:spPr>
        <p:txBody>
          <a:bodyPr anchor="t" rtlCol="false" tIns="0" lIns="0" bIns="0" rIns="0">
            <a:spAutoFit/>
          </a:bodyPr>
          <a:lstStyle/>
          <a:p>
            <a:pPr algn="l">
              <a:lnSpc>
                <a:spcPts val="3955"/>
              </a:lnSpc>
            </a:pPr>
            <a:r>
              <a:rPr lang="en-US" sz="3500">
                <a:solidFill>
                  <a:srgbClr val="FFFFFF"/>
                </a:solidFill>
                <a:latin typeface="HK Grotesk"/>
                <a:ea typeface="HK Grotesk"/>
                <a:cs typeface="HK Grotesk"/>
                <a:sym typeface="HK Grotesk"/>
              </a:rPr>
              <a:t>01</a:t>
            </a:r>
          </a:p>
        </p:txBody>
      </p:sp>
      <p:sp>
        <p:nvSpPr>
          <p:cNvPr name="TextBox 6" id="6"/>
          <p:cNvSpPr txBox="true"/>
          <p:nvPr/>
        </p:nvSpPr>
        <p:spPr>
          <a:xfrm rot="0">
            <a:off x="4634460" y="2973265"/>
            <a:ext cx="13941945" cy="327025"/>
          </a:xfrm>
          <a:prstGeom prst="rect">
            <a:avLst/>
          </a:prstGeom>
        </p:spPr>
        <p:txBody>
          <a:bodyPr anchor="t" rtlCol="false" tIns="0" lIns="0" bIns="0" rIns="0">
            <a:spAutoFit/>
          </a:bodyPr>
          <a:lstStyle/>
          <a:p>
            <a:pPr algn="l" marL="0" indent="0" lvl="0">
              <a:lnSpc>
                <a:spcPts val="2600"/>
              </a:lnSpc>
              <a:spcBef>
                <a:spcPct val="0"/>
              </a:spcBef>
            </a:pPr>
            <a:r>
              <a:rPr lang="en-US" sz="2000" spc="-10">
                <a:solidFill>
                  <a:srgbClr val="FFFFFF"/>
                </a:solidFill>
                <a:latin typeface="HK Grotesk"/>
                <a:ea typeface="HK Grotesk"/>
                <a:cs typeface="HK Grotesk"/>
                <a:sym typeface="HK Grotesk"/>
              </a:rPr>
              <a:t>https://www.tutorchase.com/answers/a-level/computer-science/how-does-the-tree-sort-algorithm-work?utm_source</a:t>
            </a:r>
          </a:p>
        </p:txBody>
      </p:sp>
      <p:sp>
        <p:nvSpPr>
          <p:cNvPr name="TextBox 7" id="7"/>
          <p:cNvSpPr txBox="true"/>
          <p:nvPr/>
        </p:nvSpPr>
        <p:spPr>
          <a:xfrm rot="0">
            <a:off x="1028700" y="1867594"/>
            <a:ext cx="5716761" cy="801370"/>
          </a:xfrm>
          <a:prstGeom prst="rect">
            <a:avLst/>
          </a:prstGeom>
        </p:spPr>
        <p:txBody>
          <a:bodyPr anchor="t" rtlCol="false" tIns="0" lIns="0" bIns="0" rIns="0">
            <a:spAutoFit/>
          </a:bodyPr>
          <a:lstStyle/>
          <a:p>
            <a:pPr algn="l">
              <a:lnSpc>
                <a:spcPts val="6214"/>
              </a:lnSpc>
            </a:pPr>
            <a:r>
              <a:rPr lang="en-US" sz="5499">
                <a:solidFill>
                  <a:srgbClr val="FFFFFF"/>
                </a:solidFill>
                <a:latin typeface="Archivo Black"/>
                <a:ea typeface="Archivo Black"/>
                <a:cs typeface="Archivo Black"/>
                <a:sym typeface="Archivo Black"/>
              </a:rPr>
              <a:t>Referencias</a:t>
            </a:r>
          </a:p>
        </p:txBody>
      </p:sp>
      <p:sp>
        <p:nvSpPr>
          <p:cNvPr name="TextBox 8" id="8"/>
          <p:cNvSpPr txBox="true"/>
          <p:nvPr/>
        </p:nvSpPr>
        <p:spPr>
          <a:xfrm rot="0">
            <a:off x="2986764" y="3718755"/>
            <a:ext cx="900317" cy="507365"/>
          </a:xfrm>
          <a:prstGeom prst="rect">
            <a:avLst/>
          </a:prstGeom>
        </p:spPr>
        <p:txBody>
          <a:bodyPr anchor="t" rtlCol="false" tIns="0" lIns="0" bIns="0" rIns="0">
            <a:spAutoFit/>
          </a:bodyPr>
          <a:lstStyle/>
          <a:p>
            <a:pPr algn="l">
              <a:lnSpc>
                <a:spcPts val="3955"/>
              </a:lnSpc>
            </a:pPr>
            <a:r>
              <a:rPr lang="en-US" sz="3500">
                <a:solidFill>
                  <a:srgbClr val="FFFFFF"/>
                </a:solidFill>
                <a:latin typeface="HK Grotesk"/>
                <a:ea typeface="HK Grotesk"/>
                <a:cs typeface="HK Grotesk"/>
                <a:sym typeface="HK Grotesk"/>
              </a:rPr>
              <a:t>02</a:t>
            </a:r>
          </a:p>
        </p:txBody>
      </p:sp>
      <p:sp>
        <p:nvSpPr>
          <p:cNvPr name="TextBox 9" id="9"/>
          <p:cNvSpPr txBox="true"/>
          <p:nvPr/>
        </p:nvSpPr>
        <p:spPr>
          <a:xfrm rot="0">
            <a:off x="5560630" y="3680655"/>
            <a:ext cx="11160778" cy="327025"/>
          </a:xfrm>
          <a:prstGeom prst="rect">
            <a:avLst/>
          </a:prstGeom>
        </p:spPr>
        <p:txBody>
          <a:bodyPr anchor="t" rtlCol="false" tIns="0" lIns="0" bIns="0" rIns="0">
            <a:spAutoFit/>
          </a:bodyPr>
          <a:lstStyle/>
          <a:p>
            <a:pPr algn="l" marL="0" indent="0" lvl="0">
              <a:lnSpc>
                <a:spcPts val="2600"/>
              </a:lnSpc>
              <a:spcBef>
                <a:spcPct val="0"/>
              </a:spcBef>
            </a:pPr>
            <a:r>
              <a:rPr lang="en-US" sz="2000" spc="-10">
                <a:solidFill>
                  <a:srgbClr val="FFFFFF"/>
                </a:solidFill>
                <a:latin typeface="HK Grotesk"/>
                <a:ea typeface="HK Grotesk"/>
                <a:cs typeface="HK Grotesk"/>
                <a:sym typeface="HK Grotesk"/>
              </a:rPr>
              <a:t>https://rosettacode.org/wiki/Sorting_algorithms/Tree_sort_on_a_linked_list?utm_source</a:t>
            </a:r>
          </a:p>
        </p:txBody>
      </p:sp>
      <p:sp>
        <p:nvSpPr>
          <p:cNvPr name="TextBox 10" id="10"/>
          <p:cNvSpPr txBox="true"/>
          <p:nvPr/>
        </p:nvSpPr>
        <p:spPr>
          <a:xfrm rot="0">
            <a:off x="2986764" y="4378520"/>
            <a:ext cx="900317" cy="507365"/>
          </a:xfrm>
          <a:prstGeom prst="rect">
            <a:avLst/>
          </a:prstGeom>
        </p:spPr>
        <p:txBody>
          <a:bodyPr anchor="t" rtlCol="false" tIns="0" lIns="0" bIns="0" rIns="0">
            <a:spAutoFit/>
          </a:bodyPr>
          <a:lstStyle/>
          <a:p>
            <a:pPr algn="l">
              <a:lnSpc>
                <a:spcPts val="3955"/>
              </a:lnSpc>
            </a:pPr>
            <a:r>
              <a:rPr lang="en-US" sz="3500">
                <a:solidFill>
                  <a:srgbClr val="FFFFFF"/>
                </a:solidFill>
                <a:latin typeface="HK Grotesk"/>
                <a:ea typeface="HK Grotesk"/>
                <a:cs typeface="HK Grotesk"/>
                <a:sym typeface="HK Grotesk"/>
              </a:rPr>
              <a:t>03</a:t>
            </a:r>
          </a:p>
        </p:txBody>
      </p:sp>
      <p:sp>
        <p:nvSpPr>
          <p:cNvPr name="TextBox 11" id="11"/>
          <p:cNvSpPr txBox="true"/>
          <p:nvPr/>
        </p:nvSpPr>
        <p:spPr>
          <a:xfrm rot="0">
            <a:off x="5560630" y="4340420"/>
            <a:ext cx="11160778" cy="327025"/>
          </a:xfrm>
          <a:prstGeom prst="rect">
            <a:avLst/>
          </a:prstGeom>
        </p:spPr>
        <p:txBody>
          <a:bodyPr anchor="t" rtlCol="false" tIns="0" lIns="0" bIns="0" rIns="0">
            <a:spAutoFit/>
          </a:bodyPr>
          <a:lstStyle/>
          <a:p>
            <a:pPr algn="l" marL="0" indent="0" lvl="0">
              <a:lnSpc>
                <a:spcPts val="2600"/>
              </a:lnSpc>
              <a:spcBef>
                <a:spcPct val="0"/>
              </a:spcBef>
            </a:pPr>
            <a:r>
              <a:rPr lang="en-US" sz="2000" spc="-10">
                <a:solidFill>
                  <a:srgbClr val="FFFFFF"/>
                </a:solidFill>
                <a:latin typeface="HK Grotesk"/>
                <a:ea typeface="HK Grotesk"/>
                <a:cs typeface="HK Grotesk"/>
                <a:sym typeface="HK Grotesk"/>
              </a:rPr>
              <a:t>https://www.baeldung.com/cs/sorting-binary-tree?utm_source</a:t>
            </a:r>
          </a:p>
        </p:txBody>
      </p:sp>
      <p:sp>
        <p:nvSpPr>
          <p:cNvPr name="TextBox 12" id="12"/>
          <p:cNvSpPr txBox="true"/>
          <p:nvPr/>
        </p:nvSpPr>
        <p:spPr>
          <a:xfrm rot="0">
            <a:off x="2986764" y="4990660"/>
            <a:ext cx="900317" cy="507365"/>
          </a:xfrm>
          <a:prstGeom prst="rect">
            <a:avLst/>
          </a:prstGeom>
        </p:spPr>
        <p:txBody>
          <a:bodyPr anchor="t" rtlCol="false" tIns="0" lIns="0" bIns="0" rIns="0">
            <a:spAutoFit/>
          </a:bodyPr>
          <a:lstStyle/>
          <a:p>
            <a:pPr algn="l">
              <a:lnSpc>
                <a:spcPts val="3955"/>
              </a:lnSpc>
            </a:pPr>
            <a:r>
              <a:rPr lang="en-US" sz="3500">
                <a:solidFill>
                  <a:srgbClr val="FFFFFF"/>
                </a:solidFill>
                <a:latin typeface="HK Grotesk"/>
                <a:ea typeface="HK Grotesk"/>
                <a:cs typeface="HK Grotesk"/>
                <a:sym typeface="HK Grotesk"/>
              </a:rPr>
              <a:t>04</a:t>
            </a:r>
          </a:p>
        </p:txBody>
      </p:sp>
      <p:sp>
        <p:nvSpPr>
          <p:cNvPr name="TextBox 13" id="13"/>
          <p:cNvSpPr txBox="true"/>
          <p:nvPr/>
        </p:nvSpPr>
        <p:spPr>
          <a:xfrm rot="0">
            <a:off x="5560630" y="4952560"/>
            <a:ext cx="11160778" cy="327025"/>
          </a:xfrm>
          <a:prstGeom prst="rect">
            <a:avLst/>
          </a:prstGeom>
        </p:spPr>
        <p:txBody>
          <a:bodyPr anchor="t" rtlCol="false" tIns="0" lIns="0" bIns="0" rIns="0">
            <a:spAutoFit/>
          </a:bodyPr>
          <a:lstStyle/>
          <a:p>
            <a:pPr algn="l" marL="0" indent="0" lvl="0">
              <a:lnSpc>
                <a:spcPts val="2600"/>
              </a:lnSpc>
              <a:spcBef>
                <a:spcPct val="0"/>
              </a:spcBef>
            </a:pPr>
            <a:r>
              <a:rPr lang="en-US" sz="2000" spc="-10">
                <a:solidFill>
                  <a:srgbClr val="FFFFFF"/>
                </a:solidFill>
                <a:latin typeface="HK Grotesk"/>
                <a:ea typeface="HK Grotesk"/>
                <a:cs typeface="HK Grotesk"/>
                <a:sym typeface="HK Grotesk"/>
              </a:rPr>
              <a:t>https://www.educative.io/blog/what-is-tree-sort?utm_source</a:t>
            </a:r>
          </a:p>
        </p:txBody>
      </p:sp>
      <p:sp>
        <p:nvSpPr>
          <p:cNvPr name="TextBox 14" id="14"/>
          <p:cNvSpPr txBox="true"/>
          <p:nvPr/>
        </p:nvSpPr>
        <p:spPr>
          <a:xfrm rot="0">
            <a:off x="2986764" y="5698050"/>
            <a:ext cx="900317" cy="507365"/>
          </a:xfrm>
          <a:prstGeom prst="rect">
            <a:avLst/>
          </a:prstGeom>
        </p:spPr>
        <p:txBody>
          <a:bodyPr anchor="t" rtlCol="false" tIns="0" lIns="0" bIns="0" rIns="0">
            <a:spAutoFit/>
          </a:bodyPr>
          <a:lstStyle/>
          <a:p>
            <a:pPr algn="l">
              <a:lnSpc>
                <a:spcPts val="3955"/>
              </a:lnSpc>
            </a:pPr>
            <a:r>
              <a:rPr lang="en-US" sz="3500">
                <a:solidFill>
                  <a:srgbClr val="FFFFFF"/>
                </a:solidFill>
                <a:latin typeface="HK Grotesk"/>
                <a:ea typeface="HK Grotesk"/>
                <a:cs typeface="HK Grotesk"/>
                <a:sym typeface="HK Grotesk"/>
              </a:rPr>
              <a:t>05</a:t>
            </a:r>
          </a:p>
        </p:txBody>
      </p:sp>
      <p:sp>
        <p:nvSpPr>
          <p:cNvPr name="TextBox 15" id="15"/>
          <p:cNvSpPr txBox="true"/>
          <p:nvPr/>
        </p:nvSpPr>
        <p:spPr>
          <a:xfrm rot="0">
            <a:off x="5560630" y="5656165"/>
            <a:ext cx="11160778" cy="327025"/>
          </a:xfrm>
          <a:prstGeom prst="rect">
            <a:avLst/>
          </a:prstGeom>
        </p:spPr>
        <p:txBody>
          <a:bodyPr anchor="t" rtlCol="false" tIns="0" lIns="0" bIns="0" rIns="0">
            <a:spAutoFit/>
          </a:bodyPr>
          <a:lstStyle/>
          <a:p>
            <a:pPr algn="l" marL="0" indent="0" lvl="0">
              <a:lnSpc>
                <a:spcPts val="2600"/>
              </a:lnSpc>
              <a:spcBef>
                <a:spcPct val="0"/>
              </a:spcBef>
            </a:pPr>
            <a:r>
              <a:rPr lang="en-US" sz="2000" spc="-10">
                <a:solidFill>
                  <a:srgbClr val="FFFFFF"/>
                </a:solidFill>
                <a:latin typeface="HK Grotesk"/>
                <a:ea typeface="HK Grotesk"/>
                <a:cs typeface="HK Grotesk"/>
                <a:sym typeface="HK Grotesk"/>
              </a:rPr>
              <a:t>https://www.geeksforgeeks.org/dsa/tree-sort/</a:t>
            </a:r>
          </a:p>
        </p:txBody>
      </p:sp>
      <p:sp>
        <p:nvSpPr>
          <p:cNvPr name="TextBox 16" id="16"/>
          <p:cNvSpPr txBox="true"/>
          <p:nvPr/>
        </p:nvSpPr>
        <p:spPr>
          <a:xfrm rot="0">
            <a:off x="2986764" y="6357815"/>
            <a:ext cx="900317" cy="507365"/>
          </a:xfrm>
          <a:prstGeom prst="rect">
            <a:avLst/>
          </a:prstGeom>
        </p:spPr>
        <p:txBody>
          <a:bodyPr anchor="t" rtlCol="false" tIns="0" lIns="0" bIns="0" rIns="0">
            <a:spAutoFit/>
          </a:bodyPr>
          <a:lstStyle/>
          <a:p>
            <a:pPr algn="l">
              <a:lnSpc>
                <a:spcPts val="3955"/>
              </a:lnSpc>
            </a:pPr>
            <a:r>
              <a:rPr lang="en-US" sz="3500">
                <a:solidFill>
                  <a:srgbClr val="FFFFFF"/>
                </a:solidFill>
                <a:latin typeface="HK Grotesk"/>
                <a:ea typeface="HK Grotesk"/>
                <a:cs typeface="HK Grotesk"/>
                <a:sym typeface="HK Grotesk"/>
              </a:rPr>
              <a:t>06</a:t>
            </a:r>
          </a:p>
        </p:txBody>
      </p:sp>
      <p:sp>
        <p:nvSpPr>
          <p:cNvPr name="TextBox 17" id="17"/>
          <p:cNvSpPr txBox="true"/>
          <p:nvPr/>
        </p:nvSpPr>
        <p:spPr>
          <a:xfrm rot="0">
            <a:off x="5560630" y="6319715"/>
            <a:ext cx="11160778" cy="327025"/>
          </a:xfrm>
          <a:prstGeom prst="rect">
            <a:avLst/>
          </a:prstGeom>
        </p:spPr>
        <p:txBody>
          <a:bodyPr anchor="t" rtlCol="false" tIns="0" lIns="0" bIns="0" rIns="0">
            <a:spAutoFit/>
          </a:bodyPr>
          <a:lstStyle/>
          <a:p>
            <a:pPr algn="l" marL="0" indent="0" lvl="0">
              <a:lnSpc>
                <a:spcPts val="2600"/>
              </a:lnSpc>
              <a:spcBef>
                <a:spcPct val="0"/>
              </a:spcBef>
            </a:pPr>
            <a:r>
              <a:rPr lang="en-US" sz="2000" spc="-10">
                <a:solidFill>
                  <a:srgbClr val="FFFFFF"/>
                </a:solidFill>
                <a:latin typeface="HK Grotesk"/>
                <a:ea typeface="HK Grotesk"/>
                <a:cs typeface="HK Grotesk"/>
                <a:sym typeface="HK Grotesk"/>
              </a:rPr>
              <a:t>https://en.wikipedia.org/wiki/Tree_sort?utm_source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DAG2MbBIfHc</dc:identifier>
  <dcterms:modified xsi:type="dcterms:W3CDTF">2011-08-01T06:04:30Z</dcterms:modified>
  <cp:revision>1</cp:revision>
  <dc:title>Dark Green White Gradient Technology Keynote Presentation</dc:title>
</cp:coreProperties>
</file>